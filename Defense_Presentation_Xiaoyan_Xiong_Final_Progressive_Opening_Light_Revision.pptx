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morning, and thank you for being here. My name is Xiaoyan Xiong.</a:t>
            </a:r>
          </a:p>
          <a:p>
            <a:r>
              <a:t>Today I will present my thesis, A Hierarchical Time-Aware Transformer for Flow-Level Network Intrusion Detection.</a:t>
            </a:r>
          </a:p>
          <a:p>
            <a:r>
              <a:t>The aim of my research is to improve flow-level network intrusion detection.</a:t>
            </a:r>
          </a:p>
          <a:p>
            <a:r>
              <a:t>I study two kinds of information.</a:t>
            </a:r>
            <a:r>
              <a:rPr lang="en-US"/>
              <a:t> </a:t>
            </a:r>
            <a:r>
              <a:t>The first is the packet details inside each flow.</a:t>
            </a:r>
            <a:r>
              <a:rPr lang="en-US"/>
              <a:t> </a:t>
            </a:r>
            <a:r>
              <a:t>The second is the history of earlier related flows.</a:t>
            </a:r>
            <a:r>
              <a:rPr lang="en-US"/>
              <a:t> </a:t>
            </a:r>
            <a:r>
              <a:t>I want to see whether using both can help the detector make better decisions.</a:t>
            </a:r>
          </a:p>
          <a:p>
            <a:r>
              <a:t>First, I will introduce the basic networking concepts used in this thesis.</a:t>
            </a:r>
            <a:r>
              <a:rPr lang="en-US"/>
              <a:t> </a:t>
            </a:r>
            <a:r>
              <a:t>Then, I will explain the model and evaluation.</a:t>
            </a:r>
            <a:r>
              <a:rPr lang="en-US"/>
              <a:t> </a:t>
            </a:r>
            <a:r>
              <a:t>Finally, I will present the main results and limitations.</a:t>
            </a:r>
          </a:p>
          <a:p>
            <a:r>
              <a:t>Before discussing the research problem, I will define three basic terms: packet, packet sequence, and flow.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will start with a packet.</a:t>
            </a:r>
            <a:r>
              <a:rPr lang="en-US"/>
              <a:t> </a:t>
            </a:r>
            <a:r>
              <a:t>A packet is one small unit sent through a network.</a:t>
            </a:r>
            <a:r>
              <a:rPr lang="en-US"/>
              <a:t> </a:t>
            </a:r>
            <a:r>
              <a:t>It contains information such as source, destination, protocol, length, direction, and control flags.</a:t>
            </a:r>
            <a:r>
              <a:rPr lang="en-US"/>
              <a:t> </a:t>
            </a:r>
            <a:r>
              <a:t>One packet shows only a small part of a communication.</a:t>
            </a:r>
          </a:p>
          <a:p>
            <a:r>
              <a:t>A packet sequence puts related packets in their original order.</a:t>
            </a:r>
            <a:r>
              <a:rPr lang="en-US"/>
              <a:t> </a:t>
            </a:r>
            <a:r>
              <a:t>It shows how the communication develops, including direction changes, bursts, and different time gaps.</a:t>
            </a:r>
          </a:p>
          <a:p>
            <a:r>
              <a:t>A flow is a group of related packets in one network conversation.</a:t>
            </a:r>
            <a:r>
              <a:rPr lang="en-US"/>
              <a:t> </a:t>
            </a:r>
            <a:r>
              <a:t>In this thesis, a flow is bidirectional, so it can contain packets in both directions.</a:t>
            </a:r>
            <a:r>
              <a:rPr lang="en-US"/>
              <a:t> </a:t>
            </a:r>
            <a:r>
              <a:t>Flow statistics summarise the whole conversation using values such as duration, packet counts, and byte rates.</a:t>
            </a:r>
          </a:p>
          <a:p>
            <a:r>
              <a:t>These three terms describe increasing levels of network traffic.</a:t>
            </a:r>
            <a:r>
              <a:rPr lang="en-US"/>
              <a:t> </a:t>
            </a:r>
            <a:r>
              <a:t>A packet is one unit.</a:t>
            </a:r>
            <a:r>
              <a:rPr lang="en-US"/>
              <a:t> </a:t>
            </a:r>
            <a:r>
              <a:t>A packet sequence shows how the communication develops.</a:t>
            </a:r>
            <a:r>
              <a:rPr lang="en-US"/>
              <a:t> </a:t>
            </a:r>
            <a:r>
              <a:t>A flow gives a compact summary.</a:t>
            </a:r>
            <a:r>
              <a:rPr lang="en-US"/>
              <a:t>  </a:t>
            </a:r>
            <a:r>
              <a:t>My thesis keeps both the packet sequence and the flow-level information.</a:t>
            </a:r>
          </a:p>
          <a:p>
            <a:r>
              <a:t>Now that these terms are clear, I can explain the detection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network intrusion detection system monitors traffic and looks for suspicious activity.</a:t>
            </a:r>
            <a:r>
              <a:rPr lang="en-US"/>
              <a:t> </a:t>
            </a:r>
            <a:r>
              <a:t>Tools such as Suricata use signatures to detect known attacks.</a:t>
            </a:r>
            <a:r>
              <a:rPr lang="en-US"/>
              <a:t> </a:t>
            </a:r>
            <a:r>
              <a:t>Learning-based systems try to learn more patterns from data.</a:t>
            </a:r>
          </a:p>
          <a:p>
            <a:r>
              <a:t>The main challenge is how to represent the traffic.</a:t>
            </a:r>
            <a:r>
              <a:rPr lang="en-US"/>
              <a:t>  </a:t>
            </a:r>
            <a:r>
              <a:t>Raw packet sequences keep detailed packet order and timing.</a:t>
            </a:r>
            <a:r>
              <a:rPr lang="en-US"/>
              <a:t> </a:t>
            </a:r>
            <a:r>
              <a:t>They can show short bursts or unusual direction changes.</a:t>
            </a:r>
            <a:r>
              <a:rPr lang="en-US"/>
              <a:t> </a:t>
            </a:r>
            <a:r>
              <a:t>However, they are large and have different lengths, so they are harder to process.</a:t>
            </a:r>
          </a:p>
          <a:p>
            <a:r>
              <a:t>Flow statistics are more compact and have a fixed size.</a:t>
            </a:r>
            <a:r>
              <a:rPr lang="en-US"/>
              <a:t> </a:t>
            </a:r>
            <a:r>
              <a:t>They are easier to store and model.</a:t>
            </a:r>
            <a:r>
              <a:rPr lang="en-US"/>
              <a:t> </a:t>
            </a:r>
            <a:r>
              <a:t>However, they may lose packet order and detailed timing information.</a:t>
            </a:r>
          </a:p>
          <a:p>
            <a:r>
              <a:t>There is another problem.</a:t>
            </a:r>
            <a:r>
              <a:rPr lang="en-US"/>
              <a:t> </a:t>
            </a:r>
            <a:r>
              <a:t>Many detectors classify each flow by itself.</a:t>
            </a:r>
            <a:r>
              <a:rPr lang="en-US"/>
              <a:t> </a:t>
            </a:r>
            <a:r>
              <a:t>This is simple, but it ignores relationships between flows.</a:t>
            </a:r>
            <a:r>
              <a:rPr lang="en-US"/>
              <a:t> </a:t>
            </a:r>
            <a:r>
              <a:t>One flow may look normal, but several related flows together may show suspicious behaviour more clearly.</a:t>
            </a:r>
          </a:p>
          <a:p>
            <a:r>
              <a:t>So, this thesis focuses on two types of information loss: information inside a flow and information between flows.</a:t>
            </a:r>
          </a:p>
          <a:p>
            <a:r>
              <a:t>The next slide turns these two problems into two research questions.</a:t>
            </a:r>
          </a:p>
          <a:p>
            <a:endParaRPr lang="zh-CN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thesis asks two research questions at two levels.</a:t>
            </a:r>
            <a:r>
              <a:rPr lang="en-US"/>
              <a:t> </a:t>
            </a:r>
            <a:endParaRPr lang="en-US"/>
          </a:p>
          <a:p>
            <a:r>
              <a:t>The first question is about one flow.</a:t>
            </a:r>
            <a:r>
              <a:rPr lang="en-US"/>
              <a:t> </a:t>
            </a:r>
            <a:r>
              <a:t>Can time-aware packet-sequence modelling create a better flow representation?</a:t>
            </a:r>
          </a:p>
          <a:p>
            <a:r>
              <a:t>The second question is about multiple flows.</a:t>
            </a:r>
            <a:r>
              <a:rPr lang="en-US"/>
              <a:t> </a:t>
            </a:r>
            <a:r>
              <a:t>Can earlier related flows help improve detection?</a:t>
            </a:r>
          </a:p>
          <a:p>
            <a:r>
              <a:t>These two questions define the two-stage model.</a:t>
            </a:r>
          </a:p>
          <a:p>
            <a:r>
              <a:rPr i="1"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Stage 1 turns an ordered packet sequence into one flow representation.</a:t>
            </a:r>
            <a:endParaRPr i="1"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t>Stage 2 adds earlier cross-flow context before making the final prediction.</a:t>
            </a:r>
            <a:endParaRPr i="1"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t>The thesis has four main contributions: an aligned data extraction pipeline, time-aware packet encoding, target-query attention, and chronological evaluation on both internal and external data.</a:t>
            </a:r>
            <a:endParaRPr i="1"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t>Before I explain the model, I first need to show how the data were created.</a:t>
            </a:r>
            <a:endParaRPr i="1"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data come</a:t>
            </a:r>
            <a:r>
              <a:rPr lang="en-US"/>
              <a:t>s</a:t>
            </a:r>
            <a:r>
              <a:t> from an enterprise packet capture of 8.62 gigabytes.</a:t>
            </a:r>
          </a:p>
          <a:p>
            <a:r>
              <a:t>I replayed the capture through Suricata with a custom output module.</a:t>
            </a:r>
            <a:r>
              <a:rPr lang="en-US"/>
              <a:t> </a:t>
            </a:r>
            <a:r>
              <a:t>This produced aligned packet records and flow records.</a:t>
            </a:r>
          </a:p>
          <a:p>
            <a:r>
              <a:t>After preprocessing, the dataset contains 11.75 million packet rows and 421,898 flows.</a:t>
            </a:r>
          </a:p>
          <a:p>
            <a:r>
              <a:t>Only 3.945 percent of the flows are class 1, so the dataset is highly imbalanced.</a:t>
            </a:r>
          </a:p>
          <a:p>
            <a:r>
              <a:t>I sort all flows by start time.</a:t>
            </a:r>
            <a:r>
              <a:rPr lang="en-US"/>
              <a:t> </a:t>
            </a:r>
            <a:r>
              <a:t>The first 70 percent are used for training, the next 10 percent for validation, and the last 20 percent for testing.</a:t>
            </a:r>
          </a:p>
          <a:p>
            <a:r>
              <a:t>All data-dependent preprocessing is fitted only on the training set.</a:t>
            </a:r>
            <a:r>
              <a:rPr lang="en-US"/>
              <a:t> </a:t>
            </a:r>
            <a:r>
              <a:t>This helps reduce information leakage from future traffic.</a:t>
            </a:r>
          </a:p>
          <a:p>
            <a:r>
              <a:t>One important limitation is the labels.</a:t>
            </a:r>
            <a:r>
              <a:rPr lang="en-US"/>
              <a:t> </a:t>
            </a:r>
            <a:r>
              <a:t>They come from Suricata alerts.</a:t>
            </a:r>
            <a:r>
              <a:rPr lang="en-US"/>
              <a:t> </a:t>
            </a:r>
            <a:r>
              <a:t>A flow is labelled as class 1 if at least one packet triggers an alert.</a:t>
            </a:r>
          </a:p>
          <a:p>
            <a:r>
              <a:t>So, these are weak labels, not independently verified attack ground truth.</a:t>
            </a:r>
          </a:p>
          <a:p>
            <a:r>
              <a:t>With the data ready, I can now introduce the full model.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figure shows the full two-stage model.</a:t>
            </a:r>
          </a:p>
          <a:p>
            <a:r>
              <a:t>On the left is Stage 1.</a:t>
            </a:r>
            <a:r>
              <a:rPr lang="en-US"/>
              <a:t> </a:t>
            </a:r>
            <a:r>
              <a:t>A packet sequence enters the model, and each packet becomes one token.</a:t>
            </a:r>
            <a:r>
              <a:rPr lang="en-US"/>
              <a:t> </a:t>
            </a:r>
            <a:r>
              <a:t>The time-aware Transformer then produces one fixed-length embedding for the whole flow.</a:t>
            </a:r>
            <a:r>
              <a:rPr lang="en-US"/>
              <a:t> </a:t>
            </a:r>
            <a:r>
              <a:t>This embedding describes how the flow develops.</a:t>
            </a:r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rPr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On the right is Stage 2.</a:t>
            </a:r>
            <a:r>
              <a:rPr lang="en-US"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 </a:t>
            </a:r>
            <a:r>
              <a:t>Here, the flow embeddings form a new sequence.</a:t>
            </a:r>
            <a:r>
              <a:rPr lang="en-US"/>
              <a:t> </a:t>
            </a:r>
            <a:r>
              <a:rPr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For each target flow, the model selects earlier related flows and combines this history with the target before making the final prediction.</a:t>
            </a:r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rPr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The two stages are trained separately.</a:t>
            </a:r>
            <a:r>
              <a:rPr lang="en-US"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 </a:t>
            </a:r>
            <a:r>
              <a:t>Stage 1 focuses on information inside one flow, while Stage 2 focuses on relationships between flows.</a:t>
            </a:r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t>This is not an end-to-end design, but it makes the experiments easier to understand.</a:t>
            </a:r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rPr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I can first test Stage 1 and then test whether cross-flow context brings extra improvement.</a:t>
            </a:r>
          </a:p>
          <a:p>
            <a:r>
              <a:t>The two-stage structure is now clear.</a:t>
            </a:r>
            <a:r>
              <a:rPr lang="en-US"/>
              <a:t> </a:t>
            </a:r>
            <a:r>
              <a:t>I will first look more closely at Stage 1.</a:t>
            </a:r>
            <a:r>
              <a:rPr lang="en-US"/>
              <a:t>    L</a:t>
            </a:r>
            <a:r>
              <a:t>et us see how Stage 1 uses packet order and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cs typeface="Arial" panose="020B0604020202090204" pitchFamily="34" charset="0"/>
              </a:rPr>
              <a:t>Stage 1 uses two signals for this: packet position and cumulative time.</a:t>
            </a:r>
            <a:r>
              <a:rPr lang="en-US">
                <a:cs typeface="Arial" panose="020B0604020202090204" pitchFamily="34" charset="0"/>
              </a:rPr>
              <a:t> </a:t>
            </a:r>
            <a:r>
              <a:rPr>
                <a:cs typeface="Arial" panose="020B0604020202090204" pitchFamily="34" charset="0"/>
              </a:rPr>
              <a:t>Each flow contains up to 128 packets.</a:t>
            </a:r>
            <a:endParaRPr>
              <a:cs typeface="Arial" panose="020B0604020202090204" pitchFamily="34" charset="0"/>
            </a:endParaRPr>
          </a:p>
          <a:p>
            <a:r>
              <a:rPr>
                <a:cs typeface="Arial" panose="020B0604020202090204" pitchFamily="34" charset="0"/>
              </a:rPr>
              <a:t>Packet position tells us where a packet </a:t>
            </a:r>
            <a:r>
              <a:rPr lang="en-US">
                <a:cs typeface="Arial" panose="020B0604020202090204" pitchFamily="34" charset="0"/>
              </a:rPr>
              <a:t>is </a:t>
            </a:r>
            <a:r>
              <a:rPr>
                <a:cs typeface="Arial" panose="020B0604020202090204" pitchFamily="34" charset="0"/>
              </a:rPr>
              <a:t>in the sequence.</a:t>
            </a:r>
            <a:endParaRPr>
              <a:cs typeface="Arial" panose="020B0604020202090204" pitchFamily="34" charset="0"/>
            </a:endParaRPr>
          </a:p>
          <a:p>
            <a:r>
              <a:rPr>
                <a:cs typeface="Arial" panose="020B0604020202090204" pitchFamily="34" charset="0"/>
              </a:rPr>
              <a:t>Cumulative time tells us how much real time has passed.</a:t>
            </a:r>
            <a:endParaRPr>
              <a:cs typeface="Arial" panose="020B0604020202090204" pitchFamily="34" charset="0"/>
            </a:endParaRPr>
          </a:p>
          <a:p>
            <a:r>
              <a:rPr>
                <a:cs typeface="Arial" panose="020B0604020202090204" pitchFamily="34" charset="0"/>
              </a:rPr>
              <a:t>So, position describes the order, while cumulative time describes the pace of the communication.</a:t>
            </a:r>
            <a:endParaRPr>
              <a:cs typeface="Arial" panose="020B0604020202090204" pitchFamily="34" charset="0"/>
            </a:endParaRPr>
          </a:p>
          <a:p>
            <a:r>
              <a:rPr>
                <a:cs typeface="Arial" panose="020B0604020202090204" pitchFamily="34" charset="0"/>
              </a:rPr>
              <a:t>I combine these two signals in a time-aware sinusoidal encoding.</a:t>
            </a:r>
            <a:endParaRPr>
              <a:cs typeface="Arial" panose="020B0604020202090204" pitchFamily="34" charset="0"/>
            </a:endParaRPr>
          </a:p>
          <a:p>
            <a:r>
              <a:rPr>
                <a:cs typeface="Arial" panose="020B0604020202090204" pitchFamily="34" charset="0"/>
              </a:rPr>
              <a:t>I also compare four settings: both position and time, position only, time only, and no encoding.</a:t>
            </a:r>
            <a:endParaRPr>
              <a:cs typeface="Arial" panose="020B0604020202090204" pitchFamily="34" charset="0"/>
            </a:endParaRPr>
          </a:p>
          <a:p>
            <a:r>
              <a:rPr>
                <a:cs typeface="Arial" panose="020B0604020202090204" pitchFamily="34" charset="0"/>
              </a:rPr>
              <a:t>This helps me see whether order and timing provide different useful information.</a:t>
            </a:r>
            <a:endParaRPr>
              <a:cs typeface="Arial" panose="020B0604020202090204" pitchFamily="34" charset="0"/>
            </a:endParaRPr>
          </a:p>
          <a:p>
            <a:r>
              <a:rPr>
                <a:cs typeface="Arial" panose="020B0604020202090204" pitchFamily="34" charset="0"/>
              </a:rPr>
              <a:t>The next slide shows </a:t>
            </a:r>
            <a:r>
              <a:rPr lang="en-US">
                <a:cs typeface="Arial" panose="020B0604020202090204" pitchFamily="34" charset="0"/>
              </a:rPr>
              <a:t>t</a:t>
            </a:r>
            <a:r>
              <a:rPr>
                <a:cs typeface="Arial" panose="020B0604020202090204" pitchFamily="34" charset="0"/>
              </a:rPr>
              <a:t>he complete Stage 1 pipeline.</a:t>
            </a:r>
            <a:endParaRPr>
              <a:cs typeface="Arial" panose="020B0604020202090204" pitchFamily="34" charset="0"/>
            </a:endParaRPr>
          </a:p>
          <a:p>
            <a:endParaRPr>
              <a:cs typeface="Arial" panose="020B060402020209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1 has six main steps.</a:t>
            </a:r>
            <a:r>
              <a:rPr lang="en-US"/>
              <a:t> </a:t>
            </a:r>
            <a:r>
              <a:t>I will follow the blue side of the figure from top to bottom.</a:t>
            </a:r>
          </a:p>
          <a:p>
            <a:r>
              <a:t>First, the selected packet features are projected into 128 dimensions.</a:t>
            </a:r>
          </a:p>
          <a:p>
            <a:r>
              <a:t>Second, I add packet position and cumulative-time encoding.</a:t>
            </a:r>
          </a:p>
          <a:p>
            <a:r>
              <a:t>Third, a separate network encodes the flow statistics.</a:t>
            </a:r>
            <a:r>
              <a:rPr lang="en-US"/>
              <a:t> </a:t>
            </a:r>
            <a:r>
              <a:t>It uses them to make a small, bounded correction to the packet tokens.</a:t>
            </a:r>
          </a:p>
          <a:p>
            <a:r>
              <a:t>Fourth, a Transformer processes the packet tokens.</a:t>
            </a:r>
            <a:r>
              <a:rPr lang="en-US"/>
              <a:t> </a:t>
            </a:r>
            <a:r>
              <a:t>Padding is ignored, and each packet can attend to the other packets in the same flow.</a:t>
            </a:r>
          </a:p>
          <a:p>
            <a:r>
              <a:t>Fifth, I combine attention pooling, mean pooling, and max pooling.</a:t>
            </a:r>
            <a:r>
              <a:rPr lang="en-US"/>
              <a:t> </a:t>
            </a:r>
            <a:r>
              <a:t>These methods capture different information from the sequence.</a:t>
            </a:r>
          </a:p>
          <a:p>
            <a:r>
              <a:t>Finally, Stage 1 produces one fixed</a:t>
            </a:r>
            <a:r>
              <a:rPr lang="en-US"/>
              <a:t>-lenght</a:t>
            </a:r>
            <a:r>
              <a:t> embedding for each flow, no matter how many packets the flow contains.</a:t>
            </a:r>
          </a:p>
          <a:p>
            <a:r>
              <a:t>Stage 2 uses these flow embeddings instead of going back to the raw packets.</a:t>
            </a:r>
          </a:p>
          <a:p>
            <a:r>
              <a:t>I will now explain how Stage 2 builds cross-flow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2 takes the flow embeddings from Stage 1.</a:t>
            </a:r>
          </a:p>
          <a:p>
            <a:r>
              <a:t>For each target flow, it selects some earlier </a:t>
            </a:r>
            <a:r>
              <a:rPr lang="en-US"/>
              <a:t>related </a:t>
            </a:r>
            <a:r>
              <a:t>flows as </a:t>
            </a:r>
            <a:r>
              <a:rPr lang="en-US"/>
              <a:t>context</a:t>
            </a:r>
            <a:r>
              <a:t>, ordered by start time.</a:t>
            </a:r>
          </a:p>
          <a:p>
            <a:r>
              <a:t>I test four types of context.</a:t>
            </a:r>
            <a:r>
              <a:rPr lang="en-US"/>
              <a:t> </a:t>
            </a:r>
            <a:r>
              <a:t>Source-host uses earlier flows with the same source.</a:t>
            </a:r>
            <a:r>
              <a:rPr lang="en-US"/>
              <a:t> </a:t>
            </a:r>
            <a:r>
              <a:t>Destination-host uses the same destination.</a:t>
            </a:r>
            <a:r>
              <a:rPr lang="en-US"/>
              <a:t> </a:t>
            </a:r>
            <a:r>
              <a:t>Endpoint matches either endpoint.</a:t>
            </a:r>
            <a:r>
              <a:rPr lang="en-US"/>
              <a:t> </a:t>
            </a:r>
            <a:r>
              <a:t>Time-only simply uses recent flows</a:t>
            </a:r>
            <a:r>
              <a:rPr lang="en-US"/>
              <a:t> </a:t>
            </a:r>
            <a:r>
              <a:rPr>
                <a:sym typeface="+mn-ea"/>
              </a:rPr>
              <a:t>without an endpoint relation.</a:t>
            </a:r>
          </a:p>
          <a:p>
            <a:r>
              <a:t>The current flow is the query, and the earlier flows provide the context.</a:t>
            </a:r>
            <a:r>
              <a:rPr lang="en-US"/>
              <a:t> </a:t>
            </a:r>
            <a:r>
              <a:t>A learned gate controls how much this history changes the current flow representation.</a:t>
            </a:r>
          </a:p>
          <a:p>
            <a:r>
              <a:t>The model does not use future flows or historical labels, and padding is ignored.</a:t>
            </a:r>
          </a:p>
          <a:p>
            <a:r>
              <a:t>One limitation is that the order is based on flow start time.</a:t>
            </a:r>
            <a:r>
              <a:rPr lang="en-US"/>
              <a:t> </a:t>
            </a:r>
            <a:r>
              <a:t>An earlier flow may still be running when the target flow starts.</a:t>
            </a:r>
            <a:r>
              <a:rPr lang="en-US"/>
              <a:t> </a:t>
            </a:r>
            <a:r>
              <a:t>So, the setting is start-time ordered, but it is not strict completion-time streaming.</a:t>
            </a:r>
          </a:p>
          <a:p>
            <a:r>
              <a:t>Now that both stages are clear, I will explain how I evaluate them.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Because the dataset is extremely imbalanced, accuracy can be misleading.</a:t>
            </a:r>
            <a:r>
              <a:rPr lang="en-US"/>
              <a:t> </a:t>
            </a:r>
            <a:r>
              <a:t>For example, if the model predicts every flow as negative, it can still get about 96.1 percent accuracy, but it detects no positive flows.</a:t>
            </a:r>
          </a:p>
          <a:p>
            <a:r>
              <a:t>So, I focus on metrics that better reflect</a:t>
            </a:r>
            <a:r>
              <a:rPr lang="en-US"/>
              <a:t>/consider</a:t>
            </a:r>
            <a:r>
              <a:t> both classes.</a:t>
            </a:r>
          </a:p>
          <a:p>
            <a:r>
              <a:t>Macro-F1 gives equal importance to both classes.</a:t>
            </a:r>
            <a:r>
              <a:rPr lang="en-US"/>
              <a:t>  </a:t>
            </a:r>
            <a:r>
              <a:t>Class-1 F1 shows the balance between precision and recall for the positive class.</a:t>
            </a:r>
            <a:r>
              <a:rPr lang="en-US"/>
              <a:t> </a:t>
            </a:r>
            <a:r>
              <a:t>False-positive rate shows how often normal flows are incorrectly flagged.</a:t>
            </a:r>
            <a:r>
              <a:rPr lang="en-US"/>
              <a:t> </a:t>
            </a:r>
            <a:r>
              <a:t>FP and FN counts show the actual number of mistakes.</a:t>
            </a:r>
          </a:p>
          <a:p>
            <a:r>
              <a:t>I also report average precision, or AP.</a:t>
            </a:r>
            <a:r>
              <a:rPr lang="en-US"/>
              <a:t> </a:t>
            </a:r>
            <a:r>
              <a:t>In the thesis, I label this measure as PR-AUC.</a:t>
            </a:r>
          </a:p>
          <a:p>
            <a:r>
              <a:t>With these metrics defined, I can now present the results.</a:t>
            </a:r>
          </a:p>
          <a:p>
            <a:r>
              <a:t>I will start with packet position and timing in Stage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chart compares different Stage 1 models and encoding </a:t>
            </a:r>
            <a:r>
              <a:rPr lang="en-US"/>
              <a:t>varients </a:t>
            </a:r>
            <a:r>
              <a:t>on the same test set.</a:t>
            </a:r>
          </a:p>
          <a:p>
            <a:r>
              <a:t>The main observation is that the Transformer with both position and time gives the best result.Its macro-F1 is 0.888, and its PR-AUC is 0.856.</a:t>
            </a:r>
          </a:p>
          <a:p>
            <a:r>
              <a:t>Time only performs better than position only, but using both together gives the best performance.The flow-statistics MLP is clearly weaker.</a:t>
            </a:r>
          </a:p>
          <a:p>
            <a:r>
              <a:t>This </a:t>
            </a:r>
            <a:r>
              <a:rPr lang="en-US"/>
              <a:t>results shows</a:t>
            </a:r>
            <a:r>
              <a:t> that packet order and time provide different useful information.</a:t>
            </a:r>
          </a:p>
          <a:p>
            <a:r>
              <a:t>Order tells the model what happened first, while time tells it how fast it happened.</a:t>
            </a:r>
          </a:p>
          <a:p>
            <a:r>
              <a:t>Next, I will show how flow statistics are combined with the packet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ablation compares three ways to use flow statistics in Stage 1.</a:t>
            </a:r>
          </a:p>
          <a:p>
            <a:r>
              <a:t>Scheme A repeats the flow-statistics vector at every packet position.</a:t>
            </a:r>
            <a:r>
              <a:rPr lang="en-US"/>
              <a:t> </a:t>
            </a:r>
            <a:r>
              <a:t>Scheme B uses only packet information.</a:t>
            </a:r>
            <a:r>
              <a:rPr lang="en-US"/>
              <a:t> </a:t>
            </a:r>
            <a:r>
              <a:t>Scheme C is the proposed design.</a:t>
            </a:r>
            <a:r>
              <a:rPr lang="en-US"/>
              <a:t> </a:t>
            </a:r>
            <a:r>
              <a:t>It encodes the flow statistics once and uses them to make a small, bounded correction to the packet tokens.</a:t>
            </a:r>
          </a:p>
          <a:p>
            <a:r>
              <a:t>The main observation is that Scheme C gives the best result.</a:t>
            </a:r>
            <a:r>
              <a:rPr lang="en-US"/>
              <a:t> </a:t>
            </a:r>
            <a:r>
              <a:t>Its macro-F1 is 0.895, and its PR-AUC is 0.876.</a:t>
            </a:r>
            <a:r>
              <a:rPr lang="en-US"/>
              <a:t> </a:t>
            </a:r>
            <a:r>
              <a:t>It also reduces both FP and FN compared with Scheme B.</a:t>
            </a:r>
          </a:p>
          <a:p>
            <a:r>
              <a:rPr>
                <a:sym typeface="+mn-ea"/>
              </a:rPr>
              <a:t>The result suggests</a:t>
            </a:r>
            <a:r>
              <a:t> that flow statistics still provide useful information.</a:t>
            </a:r>
            <a:r>
              <a:rPr lang="en-US"/>
              <a:t> It also shows that </a:t>
            </a:r>
            <a:r>
              <a:rPr>
                <a:sym typeface="+mn-ea"/>
              </a:rPr>
              <a:t>separate and bounded conditioning</a:t>
            </a:r>
            <a:r>
              <a:rPr lang="en-US"/>
              <a:t> works better than simple repetition.</a:t>
            </a:r>
          </a:p>
          <a:p>
            <a:r>
              <a:t>One limitation is that the model sizes are not perfectly matched across the three schemes.</a:t>
            </a:r>
          </a:p>
          <a:p>
            <a:r>
              <a:t>So, Scheme C performs best overall, but </a:t>
            </a:r>
            <a:r>
              <a:rPr lang="en-US"/>
              <a:t>I </a:t>
            </a:r>
            <a:r>
              <a:t>cannot tell which part of the design contributes most to the improvement.</a:t>
            </a:r>
          </a:p>
          <a:p>
            <a:r>
              <a:t>Now I will move to Stage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compares four ways to choose the Stage 2 context.</a:t>
            </a:r>
            <a:r>
              <a:rPr lang="en-US"/>
              <a:t> </a:t>
            </a:r>
            <a:r>
              <a:t>Only the relation policy changes.</a:t>
            </a:r>
          </a:p>
          <a:p>
            <a:r>
              <a:t>The two charts show that source-host context gives the best overall balance.</a:t>
            </a:r>
            <a:r>
              <a:rPr lang="en-US"/>
              <a:t> </a:t>
            </a:r>
            <a:r>
              <a:t>Its macro-F1 is 0.92</a:t>
            </a:r>
            <a:r>
              <a:rPr lang="en-US"/>
              <a:t>8</a:t>
            </a:r>
            <a:r>
              <a:t>, and its PR-AUC is 0.934.Its class-1 recall is 0.85, and it also has </a:t>
            </a:r>
            <a:r>
              <a:rPr lang="en-US"/>
              <a:t> </a:t>
            </a:r>
            <a:r>
              <a:t>the lowest false-positive rate, at 0.54 percent.</a:t>
            </a:r>
          </a:p>
          <a:p>
            <a:r>
              <a:t>Endpoint context gives a higher class-1 recall, but it also creates more false positives.</a:t>
            </a:r>
            <a:r>
              <a:rPr lang="en-US"/>
              <a:t> </a:t>
            </a:r>
            <a:r>
              <a:t>So, its overall balance is not as good.</a:t>
            </a:r>
          </a:p>
          <a:p>
            <a:r>
              <a:t>One possible reason is that repeated flows from the same source can form a clearer pattern.</a:t>
            </a:r>
          </a:p>
          <a:p>
            <a:r>
              <a:t>However, this is only a possible explanation.</a:t>
            </a:r>
            <a:r>
              <a:rPr lang="en-US"/>
              <a:t> </a:t>
            </a:r>
            <a:r>
              <a:t>The binary labels cannot tell us the exact behaviour behind the improvement.</a:t>
            </a:r>
          </a:p>
          <a:p>
            <a:r>
              <a:t>Based on this result, I use source-host context in the next experiment.</a:t>
            </a:r>
          </a:p>
          <a:p>
            <a:r>
              <a:t>The next slide compares different Stage 2 model architectures.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models on this slide use the same Stage 1 embeddings and the same source-host context.</a:t>
            </a:r>
          </a:p>
          <a:p>
            <a:r>
              <a:t>The main difference is how they use the history.</a:t>
            </a:r>
          </a:p>
          <a:p>
            <a:r>
              <a:rPr>
                <a:sym typeface="+mn-ea"/>
              </a:rPr>
              <a:t>From the two charts, the proposed target-query model gives the best overall result. Its macro-F1 is 0.92</a:t>
            </a:r>
            <a:r>
              <a:rPr lang="en-US">
                <a:sym typeface="+mn-ea"/>
              </a:rPr>
              <a:t>8</a:t>
            </a:r>
            <a:r>
              <a:rPr>
                <a:sym typeface="+mn-ea"/>
              </a:rPr>
              <a:t>, class-1 F1 is 0.861, and PR-AUC is 0.93</a:t>
            </a:r>
            <a:r>
              <a:rPr lang="en-US">
                <a:sym typeface="+mn-ea"/>
              </a:rPr>
              <a:t>4</a:t>
            </a:r>
            <a:r>
              <a:rPr>
                <a:sym typeface="+mn-ea"/>
              </a:rPr>
              <a:t>.</a:t>
            </a:r>
            <a:endParaRPr>
              <a:sym typeface="+mn-ea"/>
            </a:endParaRPr>
          </a:p>
          <a:p>
            <a:r>
              <a:rPr lang="en-US">
                <a:sym typeface="+mn-ea"/>
              </a:rPr>
              <a:t>look at the right side chart, </a:t>
            </a:r>
            <a:r>
              <a:rPr>
                <a:sym typeface="+mn-ea"/>
              </a:rPr>
              <a:t>the proposed model</a:t>
            </a:r>
            <a:r>
              <a:rPr>
                <a:sym typeface="+mn-ea"/>
              </a:rPr>
              <a:t> </a:t>
            </a:r>
            <a:r>
              <a:rPr lang="en-US">
                <a:sym typeface="+mn-ea"/>
              </a:rPr>
              <a:t>also gets </a:t>
            </a:r>
            <a:r>
              <a:rPr>
                <a:sym typeface="+mn-ea"/>
              </a:rPr>
              <a:t>the lowest FP and FN.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So, the improvement is not a trade-off between the two types of error. </a:t>
            </a:r>
          </a:p>
          <a:p>
            <a:r>
              <a:t>One limitation is that the model sizes are not perfectly matched.</a:t>
            </a:r>
          </a:p>
          <a:p>
            <a:r>
              <a:t>So, the proposed model performs best overall. However, </a:t>
            </a:r>
            <a:r>
              <a:rPr lang="en-US"/>
              <a:t>I </a:t>
            </a:r>
            <a:r>
              <a:t>cannot tell how much of the improvement comes from target-query attention.</a:t>
            </a:r>
          </a:p>
          <a:p>
            <a:r>
              <a:t>Next, I will test the model on external data.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Internal results are not enough to show generalisation, so I also test the model on two external datasets.</a:t>
            </a:r>
          </a:p>
          <a:p>
            <a:r>
              <a:t>The first is </a:t>
            </a:r>
            <a:r>
              <a:rPr lang="en-US"/>
              <a:t>a public dataset </a:t>
            </a:r>
            <a:r>
              <a:t>CICIDS2017</a:t>
            </a:r>
            <a:r>
              <a:rPr lang="en-US"/>
              <a:t> </a:t>
            </a:r>
            <a:r>
              <a:rPr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Wednesday</a:t>
            </a:r>
            <a:r>
              <a:rPr lang="en-US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working-hours</a:t>
            </a:r>
            <a:r>
              <a:t>.</a:t>
            </a:r>
            <a:r>
              <a:rPr lang="en-US"/>
              <a:t> </a:t>
            </a:r>
            <a:r>
              <a:t>I use five time windows. Each window contains 20,000 flows.</a:t>
            </a:r>
            <a:r>
              <a:rPr lang="en-US"/>
              <a:t> </a:t>
            </a:r>
            <a:r>
              <a:t>The macro-F1 ranges from 0.85 to 0.92, and the pooled macro-F1 is 0.8966.</a:t>
            </a:r>
          </a:p>
          <a:p>
            <a:r>
              <a:t>The second dataset comes from </a:t>
            </a:r>
            <a:r>
              <a:rPr lang="en-US"/>
              <a:t>the same </a:t>
            </a:r>
            <a:r>
              <a:t>company</a:t>
            </a:r>
            <a:r>
              <a:rPr lang="en-US"/>
              <a:t> but different</a:t>
            </a:r>
            <a:r>
              <a:t> server.</a:t>
            </a:r>
            <a:r>
              <a:rPr lang="en-US"/>
              <a:t> </a:t>
            </a:r>
            <a:r>
              <a:t>It contains 38,513 flows</a:t>
            </a:r>
            <a:r>
              <a:rPr lang="zh-CN">
                <a:ea typeface="宋体" charset="0"/>
              </a:rPr>
              <a:t>（about thirty-eight thousand flows）</a:t>
            </a:r>
            <a:r>
              <a:t>, with 3.</a:t>
            </a:r>
            <a:r>
              <a:rPr lang="en-US"/>
              <a:t>3</a:t>
            </a:r>
            <a:r>
              <a:t> percent positive samples.</a:t>
            </a:r>
            <a:r>
              <a:rPr lang="en-US"/>
              <a:t> </a:t>
            </a:r>
            <a:r>
              <a:t>On this dataset, the model reaches a macro-F1 of 0.9026 and a PR-AUC of 0.8771.</a:t>
            </a:r>
          </a:p>
          <a:p>
            <a:r>
              <a:t>These results show useful transfer to other data</a:t>
            </a:r>
            <a:r>
              <a:rPr lang="en-US"/>
              <a:t>set</a:t>
            </a:r>
            <a:r>
              <a:t>, but performance is not fully stable across different time windows.</a:t>
            </a:r>
          </a:p>
          <a:p>
            <a:r>
              <a:t>So, the external results are promising, but they do not prove universal generalisation.</a:t>
            </a:r>
          </a:p>
          <a:p>
            <a:r>
              <a:t>On the next slide, I will summarise the main conclusions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results support four main conclusions.</a:t>
            </a:r>
          </a:p>
          <a:p>
            <a:r>
              <a:t>First, packet order and elapsed time provide different useful information.</a:t>
            </a:r>
            <a:r>
              <a:rPr lang="en-US"/>
              <a:t> </a:t>
            </a:r>
            <a:r>
              <a:t>Second, flow statistics still help.</a:t>
            </a:r>
            <a:r>
              <a:rPr lang="en-US"/>
              <a:t> </a:t>
            </a:r>
            <a:r>
              <a:t>Third, selective source-host context improves the tested detector.</a:t>
            </a:r>
            <a:r>
              <a:rPr lang="en-US"/>
              <a:t> </a:t>
            </a:r>
            <a:r>
              <a:t>Finally, the model also works on external data, although performance changes across datasets and time windows.</a:t>
            </a:r>
          </a:p>
          <a:p>
            <a:r>
              <a:t>There are also important limitations.</a:t>
            </a:r>
          </a:p>
          <a:p>
            <a:r>
              <a:t>As noted earlier, the labels come from Suricata alerts, not independently verified attack ground truth.</a:t>
            </a:r>
            <a:r>
              <a:rPr lang="en-US"/>
              <a:t> </a:t>
            </a:r>
            <a:r>
              <a:t>The experiments use only one random seed, so variation across seeds is not measured.</a:t>
            </a:r>
            <a:r>
              <a:rPr lang="en-US"/>
              <a:t> </a:t>
            </a:r>
            <a:r>
              <a:t>The model sizes are not perfectly matched in every comparison.Stage 2 uses start-time order, not strict completion-time streaming.</a:t>
            </a:r>
            <a:r>
              <a:rPr lang="en-US"/>
              <a:t> </a:t>
            </a:r>
            <a:r>
              <a:t>The reported latency is only for the model, not the full system.</a:t>
            </a:r>
            <a:r>
              <a:rPr lang="en-US"/>
              <a:t> </a:t>
            </a:r>
            <a:r>
              <a:t>The external evaluation uses only two data sources</a:t>
            </a:r>
            <a:r>
              <a:rPr lang="en-US"/>
              <a:t>, </a:t>
            </a:r>
            <a:r>
              <a:rPr lang="en-US" altLang="zh-CN">
                <a:ea typeface="宋体" charset="0"/>
              </a:rPr>
              <a:t>it</a:t>
            </a:r>
            <a:r>
              <a:rPr>
                <a:sym typeface="+mn-ea"/>
              </a:rPr>
              <a:t> cannot cover all network environments or attack types.</a:t>
            </a:r>
          </a:p>
          <a:p>
            <a:r>
              <a:t>I will finish by returning to the main idea of the thesis.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main message is simple.</a:t>
            </a:r>
            <a:r>
              <a:rPr lang="en-US"/>
              <a:t> </a:t>
            </a:r>
            <a:r>
              <a:t>Network traffic is hierarchical, so the detector should respect that hierarchy.</a:t>
            </a:r>
          </a:p>
          <a:p>
            <a:r>
              <a:t>Stage 1 asks how one flow develops.</a:t>
            </a:r>
            <a:r>
              <a:rPr lang="en-US"/>
              <a:t> </a:t>
            </a:r>
            <a:r>
              <a:t>It combines packet order, elapsed time, and flow statistics.</a:t>
            </a:r>
          </a:p>
          <a:p>
            <a:r>
              <a:t>Stage 2 asks whether earlier related flows can change the meaning of the target flow.It uses start-time-ordered context before the final prediction.</a:t>
            </a:r>
          </a:p>
          <a:p>
            <a:r>
              <a:t>In the evaluated setting, both stages add useful information.</a:t>
            </a:r>
            <a:r>
              <a:rPr lang="en-US"/>
              <a:t> </a:t>
            </a:r>
            <a:r>
              <a:rPr>
                <a:sym typeface="+mn-ea"/>
              </a:rPr>
              <a:t>Stage 1 improves the flow representation.</a:t>
            </a:r>
            <a:r>
              <a:rPr lang="en-US">
                <a:sym typeface="+mn-ea"/>
              </a:rPr>
              <a:t> </a:t>
            </a:r>
            <a:r>
              <a:rPr>
                <a:latin typeface="Arial Italic" panose="020B0604020202090204"/>
                <a:ea typeface="Arial Italic" panose="020B0604020202090204"/>
                <a:cs typeface="Arial Italic" panose="020B0604020202090204"/>
                <a:sym typeface="+mn-ea"/>
              </a:rPr>
              <a:t>Stage 2 then improves the final detector.</a:t>
            </a:r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t>The results are promising, but they are based only on the data tested in this study.</a:t>
            </a:r>
          </a:p>
          <a:p/>
          <a:p>
            <a:r>
              <a:rPr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Thank you very much for listening.</a:t>
            </a:r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r>
              <a:rPr>
                <a:latin typeface="Arial Italic" panose="020B0604020202090204"/>
                <a:ea typeface="Arial Italic" panose="020B0604020202090204"/>
                <a:cs typeface="Arial Italic" panose="020B0604020202090204"/>
              </a:rPr>
              <a:t>I am happy to answer your questions.</a:t>
            </a:r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  <a:p>
            <a:endParaRPr>
              <a:latin typeface="Arial Italic" panose="020B0604020202090204"/>
              <a:ea typeface="Arial Italic" panose="020B0604020202090204"/>
              <a:cs typeface="Arial Italic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400050" y="4000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MSc Thesis Defense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00050" y="1428750"/>
            <a:ext cx="8858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2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Hierarchical Time-Aware</a:t>
            </a:r>
            <a:endParaRPr sz="42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42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 for Flow-Level</a:t>
            </a:r>
            <a:endParaRPr sz="42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42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Network Intrusion Detection</a:t>
            </a:r>
            <a:endParaRPr sz="42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495300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Xiaoyan Xiong  |  Supervisor: Le Viet Duc</a:t>
            </a:r>
            <a:endParaRPr sz="18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Packets are units; flows are network conversations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9479" y="1095375"/>
            <a:ext cx="5923518" cy="333375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45720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</a:t>
            </a:r>
            <a:endParaRPr sz="187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495300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One transmitted unit with header metadata and a data length.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333875" y="45720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 SEQUENCE</a:t>
            </a:r>
            <a:endParaRPr sz="1875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333875" y="4953000"/>
            <a:ext cx="333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Ordered packets reveal direction, bursts, and unequal time gaps.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334375" y="45720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FLOW</a:t>
            </a:r>
            <a:endParaRPr sz="187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334375" y="4953000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Related packets grouped by endpoints and protocol; statistics summarize the whole conversation.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523875" y="5857875"/>
            <a:ext cx="11001375" cy="419100"/>
          </a:xfrm>
          <a:prstGeom prst="roundRect">
            <a:avLst>
              <a:gd name="adj" fmla="val 18182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66750" y="5895975"/>
            <a:ext cx="1071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 thesis keeps both views: packet dynamics inside each flow, plus flow statistics and cross-flow context.</a:t>
            </a:r>
            <a:endParaRPr sz="15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Network intrusion detection must balance detail and scalability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71500" y="1714500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Raw packets</a:t>
            </a:r>
            <a:endParaRPr sz="202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71500" y="2238375"/>
            <a:ext cx="2476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Fine-grained order and timing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High volume and variable length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rrow: Right 4"/>
          <p:cNvSpPr>
            <a:spLocks noGrp="1"/>
          </p:cNvSpPr>
          <p:nvPr/>
        </p:nvSpPr>
        <p:spPr>
          <a:xfrm>
            <a:off x="3143250" y="2381250"/>
            <a:ext cx="857250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333875" y="17145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Flow statistics</a:t>
            </a:r>
            <a:endParaRPr sz="2025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333875" y="2238375"/>
            <a:ext cx="2714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Compact and efficient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But packet dynamics disappear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: Right 7"/>
          <p:cNvSpPr>
            <a:spLocks noGrp="1"/>
          </p:cNvSpPr>
          <p:nvPr/>
        </p:nvSpPr>
        <p:spPr>
          <a:xfrm>
            <a:off x="7239000" y="2381250"/>
            <a:ext cx="857250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429625" y="17145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Independent decisions</a:t>
            </a:r>
            <a:endParaRPr sz="202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429625" y="2238375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Easy to deploy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But related behaviour is ignored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571500" y="4095750"/>
            <a:ext cx="10668000" cy="1047750"/>
          </a:xfrm>
          <a:prstGeom prst="roundRect">
            <a:avLst>
              <a:gd name="adj" fmla="val 7273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42767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gap</a:t>
            </a:r>
            <a:endParaRPr sz="172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57250" y="46386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Most systems model packet dynamics or cross-flow context — rarely both in one controlled hierarchy.</a:t>
            </a:r>
            <a:endParaRPr sz="202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thesis asks two questions at two traffic levels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: Rounded Corners 2"/>
          <p:cNvSpPr>
            <a:spLocks noGrp="1"/>
          </p:cNvSpPr>
          <p:nvPr/>
        </p:nvSpPr>
        <p:spPr>
          <a:xfrm>
            <a:off x="400050" y="1238250"/>
            <a:ext cx="5381625" cy="1809750"/>
          </a:xfrm>
          <a:prstGeom prst="roundRect">
            <a:avLst>
              <a:gd name="adj" fmla="val 4211"/>
            </a:avLst>
          </a:prstGeom>
          <a:solidFill>
            <a:srgbClr val="EAF6FC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66750" y="14287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RQ1 — INTRA-FLOW</a:t>
            </a:r>
            <a:endParaRPr sz="187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1857375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Does time-aware packet-sequence modelling produce more informative flow representations than flow statistics alone?</a:t>
            </a:r>
            <a:endParaRPr sz="172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6019800" y="1238250"/>
            <a:ext cx="5772150" cy="1809750"/>
          </a:xfrm>
          <a:prstGeom prst="roundRect">
            <a:avLst>
              <a:gd name="adj" fmla="val 4211"/>
            </a:avLst>
          </a:prstGeom>
          <a:solidFill>
            <a:srgbClr val="E8F5EE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305550" y="14287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RQ2 — CROSS-FLOW</a:t>
            </a:r>
            <a:endParaRPr sz="187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305550" y="1857375"/>
            <a:ext cx="5048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Does incorporating cross-flow context improve flow-level intrusion detection compared with independent per-flow classification?</a:t>
            </a:r>
            <a:endParaRPr sz="172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00050" y="34766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logic</a:t>
            </a:r>
            <a:endParaRPr sz="21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0050" y="390525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Packets → Stage 1 flow representation → Stage 2 start-time-ordered context → final prediction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0050" y="4572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Four contributions</a:t>
            </a:r>
            <a:endParaRPr sz="19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00050" y="5000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6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23900" y="5000625"/>
            <a:ext cx="10725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Aligned extraction and leakage-controlled preprocessing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00050" y="5372100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6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5372100"/>
            <a:ext cx="10725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Position + cumulative-time packet encoding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00050" y="574357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6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23900" y="5743575"/>
            <a:ext cx="10725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Bounded flow conditioning and target-query attention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00050" y="6115050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6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23900" y="6115050"/>
            <a:ext cx="10725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Chronological internal and external evaluation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Rectangle 25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dataset is large, chronological, and strongly imbalanced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71500" y="13811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8.62 GB</a:t>
            </a:r>
            <a:endParaRPr sz="36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71500" y="2047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enterprise PCAP</a:t>
            </a:r>
            <a:endParaRPr sz="16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3667125" y="13811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11.75 M</a:t>
            </a:r>
            <a:endParaRPr sz="36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667125" y="2047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 records</a:t>
            </a:r>
            <a:endParaRPr sz="16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762750" y="13811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421,898</a:t>
            </a:r>
            <a:endParaRPr sz="3600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762750" y="2047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flow records</a:t>
            </a:r>
            <a:endParaRPr sz="16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525000" y="13811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3.945%</a:t>
            </a:r>
            <a:endParaRPr sz="3600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525000" y="204787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class-1 prevalence</a:t>
            </a:r>
            <a:endParaRPr sz="16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428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23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PCAP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Arrow: Right 12"/>
          <p:cNvSpPr>
            <a:spLocks noGrp="1"/>
          </p:cNvSpPr>
          <p:nvPr/>
        </p:nvSpPr>
        <p:spPr>
          <a:xfrm>
            <a:off x="2143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: Rounded Corners 13"/>
          <p:cNvSpPr>
            <a:spLocks noGrp="1"/>
          </p:cNvSpPr>
          <p:nvPr/>
        </p:nvSpPr>
        <p:spPr>
          <a:xfrm>
            <a:off x="2714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809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Suricata +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custom logger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Arrow: Right 15"/>
          <p:cNvSpPr>
            <a:spLocks noGrp="1"/>
          </p:cNvSpPr>
          <p:nvPr/>
        </p:nvSpPr>
        <p:spPr>
          <a:xfrm>
            <a:off x="4429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Rectangle: Rounded Corners 16"/>
          <p:cNvSpPr>
            <a:spLocks noGrp="1"/>
          </p:cNvSpPr>
          <p:nvPr/>
        </p:nvSpPr>
        <p:spPr>
          <a:xfrm>
            <a:off x="5000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095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aligned packet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 flow CSVs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Arrow: Right 18"/>
          <p:cNvSpPr>
            <a:spLocks noGrp="1"/>
          </p:cNvSpPr>
          <p:nvPr/>
        </p:nvSpPr>
        <p:spPr>
          <a:xfrm>
            <a:off x="6715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: Rounded Corners 19"/>
          <p:cNvSpPr>
            <a:spLocks noGrp="1"/>
          </p:cNvSpPr>
          <p:nvPr/>
        </p:nvSpPr>
        <p:spPr>
          <a:xfrm>
            <a:off x="7286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381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70 / 10 / 20%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chronological split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Arrow: Right 21"/>
          <p:cNvSpPr>
            <a:spLocks noGrp="1"/>
          </p:cNvSpPr>
          <p:nvPr/>
        </p:nvSpPr>
        <p:spPr>
          <a:xfrm>
            <a:off x="9001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Rectangle: Rounded Corners 22"/>
          <p:cNvSpPr>
            <a:spLocks noGrp="1"/>
          </p:cNvSpPr>
          <p:nvPr/>
        </p:nvSpPr>
        <p:spPr>
          <a:xfrm>
            <a:off x="9572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667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 tensors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71500" y="53340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Weak labels: class 1 means at least one Suricata alert in the flow.</a:t>
            </a:r>
            <a:endParaRPr sz="18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model preserves two levels of traffic structure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508489"/>
            <a:ext cx="11144250" cy="393627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62000" y="57150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 learns how a flow develops. Stage 2 asks whether earlier related flows change its meaning.</a:t>
            </a:r>
            <a:endParaRPr sz="18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 encodes packet order and elapsed time separately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19125" y="147637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 position</a:t>
            </a:r>
            <a:endParaRPr sz="19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9125" y="19050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Where does the packet occur?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19125" y="2428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1     2     3     4     5</a:t>
            </a:r>
            <a:endParaRPr sz="21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476750" y="14763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Cumulative time</a:t>
            </a:r>
            <a:endParaRPr sz="1950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476750" y="19050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much time has elapsed?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476750" y="24288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 μs   8 μs   13 μs        2.1 s</a:t>
            </a:r>
            <a:endParaRPr sz="2025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Arrow: Right 8"/>
          <p:cNvSpPr>
            <a:spLocks noGrp="1"/>
          </p:cNvSpPr>
          <p:nvPr/>
        </p:nvSpPr>
        <p:spPr>
          <a:xfrm>
            <a:off x="8382000" y="2428875"/>
            <a:ext cx="80962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9429750" y="1857375"/>
            <a:ext cx="2143125" cy="1333500"/>
          </a:xfrm>
          <a:prstGeom prst="roundRect">
            <a:avLst>
              <a:gd name="adj" fmla="val 5714"/>
            </a:avLst>
          </a:prstGeom>
          <a:solidFill>
            <a:srgbClr val="EAF6FC"/>
          </a:solidFill>
          <a:ln w="9525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620250" y="2000250"/>
            <a:ext cx="176212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Time-aware</a:t>
            </a:r>
            <a:endParaRPr sz="18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sinusoidal</a:t>
            </a:r>
            <a:endParaRPr sz="18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encoding</a:t>
            </a:r>
            <a:endParaRPr sz="18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19125" y="3810000"/>
            <a:ext cx="10953750" cy="1333500"/>
          </a:xfrm>
          <a:prstGeom prst="roundRect">
            <a:avLst>
              <a:gd name="adj" fmla="val 571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04875" y="40481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both?</a:t>
            </a:r>
            <a:endParaRPr sz="187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04875" y="4476750"/>
            <a:ext cx="1009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Identical packet order can represent a burst or a slow interaction. Position and elapsed time provide complementary evidence.</a:t>
            </a:r>
            <a:endParaRPr sz="19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1: </a:t>
            </a: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Intra-flow embedding learning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865505"/>
            <a:ext cx="6534150" cy="466725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867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 output</a:t>
            </a:r>
            <a:endParaRPr sz="16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333625" y="58674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One fixed 128-dimensional embedding per flow</a:t>
            </a:r>
            <a:endParaRPr sz="16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477000" y="58674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design</a:t>
            </a:r>
            <a:endParaRPr sz="1650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905750" y="58674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Flow statistics condition packet tokens through a bounded residual.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2: Start-time-ordered inter-flow modelling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: Rounded Corners 2"/>
          <p:cNvSpPr>
            <a:spLocks noGrp="1"/>
          </p:cNvSpPr>
          <p:nvPr/>
        </p:nvSpPr>
        <p:spPr>
          <a:xfrm>
            <a:off x="619125" y="1809750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95325" y="1905000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z(t-4)</a:t>
            </a:r>
            <a:endParaRPr sz="16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: Rounded Corners 4"/>
          <p:cNvSpPr>
            <a:spLocks noGrp="1"/>
          </p:cNvSpPr>
          <p:nvPr/>
        </p:nvSpPr>
        <p:spPr>
          <a:xfrm>
            <a:off x="2143125" y="1809750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219325" y="1905000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z(t-3)</a:t>
            </a:r>
            <a:endParaRPr sz="16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3667125" y="1809750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743325" y="1905000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z(t-2)</a:t>
            </a:r>
            <a:endParaRPr sz="16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5191125" y="1809750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267325" y="1905000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z(t-1)</a:t>
            </a:r>
            <a:endParaRPr sz="16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Arrow: Right 10"/>
          <p:cNvSpPr>
            <a:spLocks noGrp="1"/>
          </p:cNvSpPr>
          <p:nvPr/>
        </p:nvSpPr>
        <p:spPr>
          <a:xfrm>
            <a:off x="6477000" y="1952625"/>
            <a:ext cx="762000" cy="323850"/>
          </a:xfrm>
          <a:prstGeom prst="rightArrow">
            <a:avLst/>
          </a:prstGeom>
          <a:solidFill>
            <a:srgbClr val="149B6D"/>
          </a:solidFill>
          <a:ln w="0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7524750" y="1571625"/>
            <a:ext cx="1905000" cy="1047750"/>
          </a:xfrm>
          <a:prstGeom prst="roundRect">
            <a:avLst>
              <a:gd name="adj" fmla="val 7273"/>
            </a:avLst>
          </a:prstGeom>
          <a:solidFill>
            <a:srgbClr val="FFF1D6"/>
          </a:solidFill>
          <a:ln w="9525">
            <a:solidFill>
              <a:srgbClr val="E9A00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762875" y="1714500"/>
            <a:ext cx="1428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target z(t)</a:t>
            </a:r>
            <a:endParaRPr sz="18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8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= query</a:t>
            </a:r>
            <a:endParaRPr sz="18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: Right 13"/>
          <p:cNvSpPr>
            <a:spLocks noGrp="1"/>
          </p:cNvSpPr>
          <p:nvPr/>
        </p:nvSpPr>
        <p:spPr>
          <a:xfrm>
            <a:off x="9620250" y="1952625"/>
            <a:ext cx="762000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Rectangle: Rounded Corners 14"/>
          <p:cNvSpPr>
            <a:spLocks noGrp="1"/>
          </p:cNvSpPr>
          <p:nvPr/>
        </p:nvSpPr>
        <p:spPr>
          <a:xfrm>
            <a:off x="10572750" y="1666875"/>
            <a:ext cx="1095375" cy="857250"/>
          </a:xfrm>
          <a:prstGeom prst="roundRect">
            <a:avLst>
              <a:gd name="adj" fmla="val 8889"/>
            </a:avLst>
          </a:prstGeom>
          <a:solidFill>
            <a:srgbClr val="EAF6FC"/>
          </a:solidFill>
          <a:ln w="9525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10715625" y="1790700"/>
            <a:ext cx="809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final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logits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19125" y="319087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 policies</a:t>
            </a:r>
            <a:endParaRPr sz="187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19125" y="366712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Source host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19125" y="39624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</a:t>
            </a:r>
            <a:r>
              <a: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t>source</a:t>
            </a:r>
            <a:endParaRPr sz="13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3333750" y="3667125"/>
            <a:ext cx="220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Destination host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333750" y="39624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 destination</a:t>
            </a:r>
            <a:endParaRPr sz="13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19125" y="43338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Endpoint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19125" y="4629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either endpoint</a:t>
            </a:r>
            <a:endParaRPr sz="13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333750" y="43338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Time only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3333750" y="4629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global recency</a:t>
            </a:r>
            <a:endParaRPr sz="135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Rectangle: Rounded Corners 25"/>
          <p:cNvSpPr>
            <a:spLocks noGrp="1"/>
          </p:cNvSpPr>
          <p:nvPr/>
        </p:nvSpPr>
        <p:spPr>
          <a:xfrm>
            <a:off x="6477000" y="3286125"/>
            <a:ext cx="5143500" cy="142875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762750" y="3476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Eligibility and masking</a:t>
            </a:r>
            <a:endParaRPr sz="172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6762750" y="3876675"/>
            <a:ext cx="447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earlier in stable start-time order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no future embeddings or historical labels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left padding excluded by the context mask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Rectangle: Rounded Corners 28"/>
          <p:cNvSpPr>
            <a:spLocks noGrp="1"/>
          </p:cNvSpPr>
          <p:nvPr/>
        </p:nvSpPr>
        <p:spPr>
          <a:xfrm>
            <a:off x="6477000" y="4953000"/>
            <a:ext cx="5143500" cy="838200"/>
          </a:xfrm>
          <a:prstGeom prst="roundRect">
            <a:avLst>
              <a:gd name="adj" fmla="val 9091"/>
            </a:avLst>
          </a:prstGeom>
          <a:solidFill>
            <a:srgbClr val="FFF6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715125" y="5114925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Scope: start-time ordered, but not yet strict flow-completion-time streaming.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 focuses on class balance and operational errors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: Rounded Corners 2"/>
          <p:cNvSpPr>
            <a:spLocks noGrp="1"/>
          </p:cNvSpPr>
          <p:nvPr/>
        </p:nvSpPr>
        <p:spPr>
          <a:xfrm>
            <a:off x="523875" y="156210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EAF6FC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62000" y="17240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Macro-F1</a:t>
            </a:r>
            <a:endParaRPr sz="187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212407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Equal weight to class 0 and class 1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6238875" y="156210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477000" y="1724025"/>
            <a:ext cx="319976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Average precision (AP)</a:t>
            </a:r>
            <a:endParaRPr sz="16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77000" y="212407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Reported as PR-AUC in this thesis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523875" y="339471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62000" y="355663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Class-1 F1</a:t>
            </a:r>
            <a:endParaRPr sz="18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62000" y="395668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Precision–recall balance at one threshold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238875" y="339471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477000" y="355663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FPR, FP, and FN</a:t>
            </a:r>
            <a:endParaRPr sz="18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477000" y="395668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False-alert rate and absolute errors</a:t>
            </a:r>
            <a:endParaRPr sz="150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523875" y="5368290"/>
            <a:ext cx="11144250" cy="419100"/>
          </a:xfrm>
          <a:prstGeom prst="roundRect">
            <a:avLst>
              <a:gd name="adj" fmla="val 18182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66750" y="540639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Accuracy is secondary: an always-negative rule would score about 96.1% on the raw data and detect no positive flow.</a:t>
            </a:r>
            <a:endParaRPr sz="15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 results: Position + time works best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5740" y="1047750"/>
            <a:ext cx="6880519" cy="476250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9055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Position + time</a:t>
            </a:r>
            <a:endParaRPr sz="16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619375" y="59055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Macro-F1 0.8882  |  PR-AUC 0.8564 </a:t>
            </a:r>
            <a:endParaRPr sz="15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604760" y="5905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vs. flow MLP</a:t>
            </a:r>
            <a:endParaRPr sz="1500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262110" y="5909945"/>
            <a:ext cx="2501265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+0.112 macro-F1</a:t>
            </a:r>
            <a:endParaRPr sz="142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1: Flow-statistics conditioning works best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21" y="1095375"/>
            <a:ext cx="10700157" cy="4619625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619125" y="5857875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Scheme A</a:t>
            </a:r>
            <a:endParaRPr sz="1500" b="1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666875" y="585787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repeat flow statistics</a:t>
            </a:r>
            <a:endParaRPr sz="1425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620135" y="586994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Scheme B</a:t>
            </a:r>
            <a:endParaRPr sz="1500" b="1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667885" y="5869940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 only</a:t>
            </a:r>
            <a:endParaRPr sz="1425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0145" y="5869940"/>
            <a:ext cx="13804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Scheme C</a:t>
            </a:r>
            <a:endParaRPr sz="157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525385" y="5869940"/>
            <a:ext cx="442023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macro-F1 0.8954 | PR-AUC 0.8763 | 267 FP | 293 FN</a:t>
            </a:r>
            <a:endParaRPr sz="13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2: Source-host </a:t>
            </a: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context</a:t>
            </a: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gives the best balance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24" y="1047750"/>
            <a:ext cx="11043952" cy="476250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905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Source host</a:t>
            </a:r>
            <a:endParaRPr sz="1650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238375" y="59055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macro-F1 0.9275  |  PR-AUC 0.9345  |  class-1 recall 0.8503  |  FPR 0.5429%</a:t>
            </a:r>
            <a:endParaRPr sz="15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2: Target-query attention reduces FP and FN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126" y="1047750"/>
            <a:ext cx="10705749" cy="476250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905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Proposed model</a:t>
            </a:r>
            <a:endParaRPr sz="165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524125" y="59055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macro-F1 0.9275  |  class-1 F1 0.8610  |  PR-AUC 0.9345</a:t>
            </a:r>
            <a:endParaRPr sz="150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858250" y="5905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vs. vanilla Transformer</a:t>
            </a:r>
            <a:endParaRPr sz="1425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763250" y="5905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−177 FP, −117 FN</a:t>
            </a:r>
            <a:endParaRPr sz="127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External evaluation: Transfer varies across windows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13335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CICIDS2017 Wednesday: five non-overlapping 20,000-flow windows</a:t>
            </a:r>
            <a:endParaRPr sz="172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239000" y="13335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Company cross-server</a:t>
            </a:r>
            <a:endParaRPr sz="187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239000" y="19050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38,513 flows</a:t>
            </a:r>
            <a:endParaRPr sz="15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39000" y="23812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3.285%</a:t>
            </a:r>
            <a:endParaRPr sz="3600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239250" y="24606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positive prevalence</a:t>
            </a:r>
            <a:endParaRPr sz="150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239000" y="3286125"/>
            <a:ext cx="2000250" cy="4533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0.9026</a:t>
            </a:r>
            <a:endParaRPr sz="3600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239250" y="32861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macro-F1</a:t>
            </a:r>
            <a:endParaRPr sz="150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239000" y="4191000"/>
            <a:ext cx="1809750" cy="523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0.8771</a:t>
            </a:r>
            <a:endParaRPr sz="36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239250" y="4343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PR-AUC</a:t>
            </a:r>
            <a:endParaRPr sz="1500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7000875" y="5095875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239000" y="5162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5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Interpretation</a:t>
            </a:r>
            <a:endParaRPr sz="157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239000" y="546735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4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Useful transfer, but performance varies across time and environments.</a:t>
            </a:r>
            <a:endParaRPr sz="1425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2" name="Table 29"/>
          <p:cNvGraphicFramePr/>
          <p:nvPr/>
        </p:nvGraphicFramePr>
        <p:xfrm>
          <a:off x="523875" y="2000250"/>
          <a:ext cx="6191250" cy="3714753"/>
        </p:xfrm>
        <a:graphic>
          <a:graphicData uri="http://schemas.openxmlformats.org/drawingml/2006/table">
            <a:tbl>
              <a:tblPr firstRow="1" bandRow="1"/>
              <a:tblGrid>
                <a:gridCol w="1381125"/>
                <a:gridCol w="1571625"/>
                <a:gridCol w="1571625"/>
                <a:gridCol w="1666875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Window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Positive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Macro-F1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PR-AUC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w01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18.195%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0.9125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0.9088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w02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13.515%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0.9226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0.9123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16.480%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0.8536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0.8906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w07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13.340%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0.8640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0.8419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w08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15.235%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0.9220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0.9397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Pooled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15.353%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0.8966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—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evidence supports gains within a limited scope</a:t>
            </a:r>
            <a:endParaRPr sz="28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</a:t>
            </a:r>
            <a:endParaRPr sz="975" b="0">
              <a:solidFill>
                <a:srgbClr val="5E667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1381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the evidence supports</a:t>
            </a:r>
            <a:endParaRPr sz="202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952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47725" y="1952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Packet order and elapsed time are complementary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23875" y="2524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47725" y="2524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Flow statistics still add information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23875" y="3095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47725" y="3095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Selective source-host context improves the tested detector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23875" y="3667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47725" y="3667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External performance remains useful but variable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477000" y="1381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E9A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it does not yet establish</a:t>
            </a:r>
            <a:endParaRPr sz="2025" b="1">
              <a:solidFill>
                <a:srgbClr val="E9A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477000" y="1952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800850" y="1952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Independently verified attack ground truth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77000" y="2524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800850" y="2524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>
                <a:sym typeface="+mn-ea"/>
              </a:rPr>
              <a:t>Statistical significance across random seeds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477000" y="3095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800850" y="3095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>
                <a:sym typeface="+mn-ea"/>
              </a:rPr>
              <a:t>Strict availability based on flow completion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477000" y="3667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800850" y="3667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Universal transfer across networks and attack families</a:t>
            </a:r>
            <a:endParaRPr sz="1650" b="0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00050" y="4000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Takeaway</a:t>
            </a:r>
            <a:endParaRPr sz="1800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00050" y="1571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Network traffic is hierarchical.</a:t>
            </a:r>
            <a:endParaRPr sz="43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43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detector should be too.</a:t>
            </a:r>
            <a:endParaRPr sz="43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40957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1677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1: how the flow develops</a:t>
            </a:r>
            <a:endParaRPr sz="2025" b="1">
              <a:solidFill>
                <a:srgbClr val="1677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459105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149B6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2: how earlier related flows can change its meaning</a:t>
            </a:r>
            <a:endParaRPr sz="2025" b="1">
              <a:solidFill>
                <a:srgbClr val="149B6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566737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1131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Questions?</a:t>
            </a:r>
            <a:endParaRPr sz="2550" b="1">
              <a:solidFill>
                <a:srgbClr val="11131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5055</Words>
  <Application>WPS 表格</Application>
  <PresentationFormat>Converted Presentation</PresentationFormat>
  <Paragraphs>407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Arial</vt:lpstr>
      <vt:lpstr>Arial Italic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Arial Italic</vt:lpstr>
      <vt:lpstr>Arial Bold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Xiaoyan Xiong</cp:lastModifiedBy>
  <cp:revision>9</cp:revision>
  <dcterms:created xsi:type="dcterms:W3CDTF">2026-08-22T17:32:45Z</dcterms:created>
  <dcterms:modified xsi:type="dcterms:W3CDTF">2026-08-22T17:32:45Z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7BF76E9B4633CEB6D54F886A5E7CE1EB_42</vt:lpwstr>
  </property>
  <property fmtid="{D5CDD505-2E9C-101B-9397-08002B2CF9AE}" pid="3" name="KSOProductBuildVer">
    <vt:lpwstr>2052-6.10.1.8873</vt:lpwstr>
  </property>
</Properties>
</file>