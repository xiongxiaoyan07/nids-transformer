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9144000"/>
  <p:custDataLst>
    <p:tags r:id="rId25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gs" Target="tags/tag13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Good morning, and thank you for being here. My name is Xiaoyan Xiong.</a:t>
            </a:r>
          </a:p>
          <a:p>
            <a:r>
              <a:t>Today I will present my thesis, A Hierarchical Time-Aware Transformer for Flow-Level Network Intrusion Detection.</a:t>
            </a:r>
          </a:p>
          <a:p>
            <a:r>
              <a:t>The </a:t>
            </a:r>
            <a:r>
              <a:rPr b="1"/>
              <a:t>aim </a:t>
            </a:r>
            <a:r>
              <a:t>of my research is to improve flow-level network intrusion detection.</a:t>
            </a:r>
          </a:p>
          <a:p>
            <a:r>
              <a:t>I study </a:t>
            </a:r>
            <a:r>
              <a:rPr b="1"/>
              <a:t>two kinds </a:t>
            </a:r>
            <a:r>
              <a:t>of information. The first is the </a:t>
            </a:r>
            <a:r>
              <a:rPr b="1"/>
              <a:t>packet details inside each flow</a:t>
            </a:r>
            <a:r>
              <a:t>.</a:t>
            </a:r>
            <a:r>
              <a:t> The second is </a:t>
            </a:r>
            <a:r>
              <a:rPr b="1"/>
              <a:t>the history of earlier related flows</a:t>
            </a:r>
            <a:r>
              <a:t>.</a:t>
            </a:r>
            <a:r>
              <a:t> </a:t>
            </a:r>
            <a:r>
              <a:t>I want to see whether using both can help the detector make better decisions.</a:t>
            </a:r>
          </a:p>
          <a:p>
            <a:r>
              <a:t>First, I will introduce the </a:t>
            </a:r>
            <a:r>
              <a:rPr b="1"/>
              <a:t>basic networking concepts used in this thesis</a:t>
            </a:r>
            <a:r>
              <a:t>. Then, I will explain the </a:t>
            </a:r>
            <a:r>
              <a:rPr b="1"/>
              <a:t>model </a:t>
            </a:r>
            <a:r>
              <a:t>and </a:t>
            </a:r>
            <a:r>
              <a:rPr b="1"/>
              <a:t>evaluation</a:t>
            </a:r>
            <a:r>
              <a:t>.</a:t>
            </a:r>
            <a:r>
              <a:t> Finally, I will present the main </a:t>
            </a:r>
            <a:r>
              <a:rPr b="1"/>
              <a:t>results and limitations.</a:t>
            </a:r>
          </a:p>
          <a:p>
            <a:r>
              <a:t>Before discussing the research problem, I will define three basic terms: packet, packet sequence, and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/>
              <a:t>A packet</a:t>
            </a:r>
            <a:r>
              <a:t> is one small unit sent through a network.</a:t>
            </a:r>
            <a:r>
              <a:t> </a:t>
            </a:r>
            <a:r>
              <a:t>It contains information such as source, destination, protocol, length, direction, and control flags.</a:t>
            </a:r>
            <a:r>
              <a:t> </a:t>
            </a:r>
            <a:r>
              <a:t>One packet shows only a small part of a communication.</a:t>
            </a:r>
          </a:p>
          <a:p>
            <a:r>
              <a:rPr b="1"/>
              <a:t>A packet sequence </a:t>
            </a:r>
            <a:r>
              <a:t>puts related packets in their original order. It shows </a:t>
            </a:r>
            <a:r>
              <a:rPr b="1"/>
              <a:t>how the communication develops,</a:t>
            </a:r>
            <a:r>
              <a:t> including </a:t>
            </a:r>
            <a:r>
              <a:rPr b="1"/>
              <a:t>direction changes, bursts, and different time gaps</a:t>
            </a:r>
            <a:r>
              <a:t>.</a:t>
            </a:r>
          </a:p>
          <a:p>
            <a:r>
              <a:rPr b="1"/>
              <a:t>A flow </a:t>
            </a:r>
            <a:r>
              <a:t>is a group of related packets </a:t>
            </a:r>
            <a:r>
              <a:rPr b="1"/>
              <a:t>in one network conversation</a:t>
            </a:r>
            <a:r>
              <a:t>.</a:t>
            </a:r>
            <a:r>
              <a:t> In this thesis, a flow is bidirectional, so it can contain packets in both directions. </a:t>
            </a:r>
            <a:r>
              <a:rPr b="1"/>
              <a:t>Flow statistics</a:t>
            </a:r>
            <a:r>
              <a:t> summarise the whole conversation using values such as </a:t>
            </a:r>
            <a:r>
              <a:rPr b="1"/>
              <a:t>duration, packet counts, and byte rates.</a:t>
            </a:r>
          </a:p>
          <a:p>
            <a:r>
              <a:t>My thesis keeps both the packet sequence and the flow-level information.</a:t>
            </a:r>
          </a:p>
          <a:p>
            <a:r>
              <a:t>Now that these terms are clear, I can explain the detection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network intrusion detection system </a:t>
            </a:r>
            <a:r>
              <a:rPr b="1"/>
              <a:t>monitors </a:t>
            </a:r>
            <a:r>
              <a:t>traffic and looks for suspicious activity.</a:t>
            </a:r>
            <a:r>
              <a:t> </a:t>
            </a:r>
            <a:r>
              <a:t>Tools such as Suricata use signatures to detect known attacks.</a:t>
            </a:r>
            <a:r>
              <a:t> </a:t>
            </a:r>
            <a:r>
              <a:t>Learning-based systems try to learn more patterns from data.</a:t>
            </a:r>
          </a:p>
          <a:p>
            <a:r>
              <a:t>The main </a:t>
            </a:r>
            <a:r>
              <a:rPr b="1"/>
              <a:t>challenge </a:t>
            </a:r>
            <a:r>
              <a:t>is</a:t>
            </a:r>
            <a:r>
              <a:rPr b="1"/>
              <a:t> how to represent the traffic</a:t>
            </a:r>
            <a:r>
              <a:t>.  </a:t>
            </a:r>
          </a:p>
          <a:p>
            <a:r>
              <a:rPr b="1"/>
              <a:t>Raw packet sequences</a:t>
            </a:r>
            <a:r>
              <a:t> keep detailed packet order and timing.</a:t>
            </a:r>
            <a:r>
              <a:t> They can show </a:t>
            </a:r>
            <a:r>
              <a:rPr b="1"/>
              <a:t>short bursts or unusual direction changes</a:t>
            </a:r>
            <a:r>
              <a:t>.</a:t>
            </a:r>
            <a:r>
              <a:t> </a:t>
            </a:r>
            <a:r>
              <a:t>However, they are large and have different lengths, so they are harder to process.</a:t>
            </a:r>
          </a:p>
          <a:p>
            <a:r>
              <a:rPr b="1"/>
              <a:t>Flow statistics</a:t>
            </a:r>
            <a:r>
              <a:t> are more compact and have a fixed size.</a:t>
            </a:r>
            <a:r>
              <a:t> They are easier to store and model.</a:t>
            </a:r>
            <a:r>
              <a:t> However, they may </a:t>
            </a:r>
            <a:r>
              <a:rPr b="1"/>
              <a:t>lose </a:t>
            </a:r>
            <a:r>
              <a:t>packet order and detailed timing information.</a:t>
            </a:r>
          </a:p>
          <a:p>
            <a:r>
              <a:t>There is another </a:t>
            </a:r>
            <a:r>
              <a:rPr b="1"/>
              <a:t>problem</a:t>
            </a:r>
            <a:r>
              <a:t>.</a:t>
            </a:r>
            <a:r>
              <a:t> Many detectors classify each flow by itself. This is simple, but it </a:t>
            </a:r>
            <a:r>
              <a:rPr b="1"/>
              <a:t>ignores </a:t>
            </a:r>
            <a:r>
              <a:t>relationships between flows. </a:t>
            </a:r>
            <a:r>
              <a:rPr b="1"/>
              <a:t>One flow may look normal, but several related flows together may show suspicious behaviour more clearly.</a:t>
            </a:r>
            <a:endParaRPr b="1"/>
          </a:p>
          <a:p>
            <a:r>
              <a:t>So, this thesis focuses on two types of information loss: information inside a flow and information between flows.</a:t>
            </a:r>
          </a:p>
          <a:p>
            <a:r>
              <a:t>The next slide turns these two problems into two research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thesis asks two research questions at two levels. </a:t>
            </a:r>
          </a:p>
          <a:p>
            <a:r>
              <a:t>The first question is about one flow. Can time-aware packet-sequence modelling create a better flow representation?</a:t>
            </a:r>
          </a:p>
          <a:p>
            <a:r>
              <a:t>The second question is about multiple flows. Can earlier related flows help improve detection?</a:t>
            </a:r>
          </a:p>
          <a:p>
            <a:r>
              <a:t>These two questions </a:t>
            </a:r>
            <a:r>
              <a:rPr b="1"/>
              <a:t>define </a:t>
            </a:r>
            <a:r>
              <a:t>the two-stage model.</a:t>
            </a:r>
          </a:p>
          <a:p>
            <a:r>
              <a:rPr>
                <a:latin typeface="Arial Italic"/>
                <a:ea typeface="Arial Italic"/>
                <a:cs typeface="Arial Italic"/>
              </a:rPr>
              <a:t>Stage 1 turns an ordered packet sequence into one flow representation.</a:t>
            </a:r>
            <a:endParaRPr>
              <a:latin typeface="Arial Italic"/>
              <a:ea typeface="Arial Italic"/>
              <a:cs typeface="Arial Italic"/>
            </a:endParaRPr>
          </a:p>
          <a:p>
            <a:r>
              <a:t>Stage 2 adds earlier cross-flow context before making the final prediction.</a:t>
            </a:r>
            <a:endParaRPr>
              <a:latin typeface="Arial Italic"/>
              <a:ea typeface="Arial Italic"/>
              <a:cs typeface="Arial Italic"/>
            </a:endParaRPr>
          </a:p>
          <a:p>
            <a:r>
              <a:t>Before I explain the model, I first need to show how the data were created.</a:t>
            </a:r>
            <a:endParaRPr>
              <a:latin typeface="Arial Italic"/>
              <a:ea typeface="Arial Italic"/>
              <a:cs typeface="Arial Itali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data come</a:t>
            </a:r>
            <a:r>
              <a:t>s</a:t>
            </a:r>
            <a:r>
              <a:t> from an enterprise packet capture of 8.62 gigabytes.</a:t>
            </a:r>
          </a:p>
          <a:p>
            <a:r>
              <a:t>I replayed the </a:t>
            </a:r>
            <a:r>
              <a:rPr lang="en-US"/>
              <a:t>PCAP files </a:t>
            </a:r>
            <a:r>
              <a:t>through Suricata with a</a:t>
            </a:r>
            <a:r>
              <a:rPr b="1"/>
              <a:t> custom output module.</a:t>
            </a:r>
            <a:r>
              <a:t> </a:t>
            </a:r>
            <a:r>
              <a:t>This produced aligned packet records and flow records.</a:t>
            </a:r>
          </a:p>
          <a:p>
            <a:r>
              <a:t>After preprocessing, the dataset contains 11.75 million packet rows and 421,898 flows.</a:t>
            </a:r>
            <a:r>
              <a:t> Only 3.945 percent of the flows are class 1, so the dataset is highly </a:t>
            </a:r>
            <a:r>
              <a:rPr b="1"/>
              <a:t>imbalanced</a:t>
            </a:r>
            <a:r>
              <a:t>.</a:t>
            </a:r>
          </a:p>
          <a:p>
            <a:r>
              <a:t>I </a:t>
            </a:r>
            <a:r>
              <a:rPr b="1"/>
              <a:t>sort </a:t>
            </a:r>
            <a:r>
              <a:t>all flows by start time.</a:t>
            </a:r>
            <a:r>
              <a:t> </a:t>
            </a:r>
            <a:r>
              <a:t>The first 70 percent are used for training, the next 10 percent for validation, and the last 20 percent for testing.</a:t>
            </a:r>
          </a:p>
          <a:p>
            <a:r>
              <a:t>All data preprocessing is fitted only on the training set.</a:t>
            </a:r>
            <a:r>
              <a:t> </a:t>
            </a:r>
            <a:r>
              <a:t>This helps reduce information leakage from future traffic.</a:t>
            </a:r>
          </a:p>
          <a:p>
            <a:r>
              <a:t>One important </a:t>
            </a:r>
            <a:r>
              <a:rPr b="1"/>
              <a:t>limitation </a:t>
            </a:r>
            <a:r>
              <a:t>is the labels.</a:t>
            </a:r>
            <a:r>
              <a:t> </a:t>
            </a:r>
            <a:r>
              <a:t>They come from Suricata alerts.</a:t>
            </a:r>
            <a:r>
              <a:t> </a:t>
            </a:r>
            <a:r>
              <a:t>A flow is labelled as class 1 if at least one packet triggers an alert.</a:t>
            </a:r>
          </a:p>
          <a:p>
            <a:r>
              <a:t>So, these are weak labels, not independently verified attack ground truth.</a:t>
            </a:r>
          </a:p>
          <a:p>
            <a:r>
              <a:t>With the data ready, I can now introduce the full model.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figure shows the full two-stage model</a:t>
            </a:r>
            <a:r>
              <a:rPr lang="en-US"/>
              <a:t> structure</a:t>
            </a:r>
            <a:r>
              <a:t>.</a:t>
            </a:r>
          </a:p>
          <a:p>
            <a:r>
              <a:t>On the left is Stage 1. A packet sequence </a:t>
            </a:r>
            <a:r>
              <a:rPr b="1"/>
              <a:t>enters </a:t>
            </a:r>
            <a:r>
              <a:t>the model, and each packet </a:t>
            </a:r>
            <a:r>
              <a:rPr b="1"/>
              <a:t>becomes </a:t>
            </a:r>
            <a:r>
              <a:t>one token.</a:t>
            </a:r>
            <a:r>
              <a:t> The time-aware Transformer then </a:t>
            </a:r>
            <a:r>
              <a:rPr b="1"/>
              <a:t>produces </a:t>
            </a:r>
            <a:r>
              <a:t>one fixed-length embedding for the whole flow.</a:t>
            </a:r>
            <a:r>
              <a:t> </a:t>
            </a:r>
            <a:r>
              <a:t>This embedding describes how the flow develops.</a:t>
            </a:r>
            <a:endParaRPr>
              <a:latin typeface="Arial Italic"/>
              <a:ea typeface="Arial Italic"/>
              <a:cs typeface="Arial Italic"/>
            </a:endParaRPr>
          </a:p>
          <a:p>
            <a:r>
              <a:rPr>
                <a:latin typeface="Arial Italic"/>
                <a:ea typeface="Arial Italic"/>
                <a:cs typeface="Arial Italic"/>
              </a:rPr>
              <a:t>On the right is Stage 2. </a:t>
            </a:r>
            <a:r>
              <a:t>Here, the flow embeddings </a:t>
            </a:r>
            <a:r>
              <a:rPr b="1"/>
              <a:t>form </a:t>
            </a:r>
            <a:r>
              <a:t>a new sequence. </a:t>
            </a:r>
            <a:r>
              <a:rPr>
                <a:latin typeface="Arial Italic"/>
                <a:ea typeface="Arial Italic"/>
                <a:cs typeface="Arial Italic"/>
              </a:rPr>
              <a:t>For each target flow, It </a:t>
            </a:r>
            <a:r>
              <a:rPr b="1">
                <a:latin typeface="Arial Italic"/>
                <a:ea typeface="Arial Italic"/>
                <a:cs typeface="Arial Italic"/>
              </a:rPr>
              <a:t>combines </a:t>
            </a:r>
            <a:r>
              <a:rPr>
                <a:latin typeface="Arial Italic"/>
                <a:ea typeface="Arial Italic"/>
                <a:cs typeface="Arial Italic"/>
              </a:rPr>
              <a:t>the</a:t>
            </a:r>
            <a:r>
              <a:rPr b="1">
                <a:latin typeface="Arial Italic"/>
                <a:ea typeface="Arial Italic"/>
                <a:cs typeface="Arial Italic"/>
              </a:rPr>
              <a:t> target flow with earlier related flows</a:t>
            </a:r>
            <a:r>
              <a:rPr lang="en-US">
                <a:latin typeface="Arial Italic"/>
                <a:ea typeface="Arial Italic"/>
                <a:cs typeface="Arial Italic"/>
              </a:rPr>
              <a:t> </a:t>
            </a:r>
            <a:r>
              <a:rPr>
                <a:latin typeface="Arial Italic"/>
                <a:ea typeface="Arial Italic"/>
                <a:cs typeface="Arial Italic"/>
              </a:rPr>
              <a:t>before the final prediction.</a:t>
            </a:r>
            <a:endParaRPr>
              <a:latin typeface="Arial Italic"/>
              <a:ea typeface="Arial Italic"/>
              <a:cs typeface="Arial Italic"/>
            </a:endParaRPr>
          </a:p>
          <a:p>
            <a:r>
              <a:rPr>
                <a:latin typeface="Arial Italic"/>
                <a:ea typeface="Arial Italic"/>
                <a:cs typeface="Arial Italic"/>
              </a:rPr>
              <a:t>The two stages are trained </a:t>
            </a:r>
            <a:r>
              <a:rPr b="1">
                <a:latin typeface="Arial Italic"/>
                <a:ea typeface="Arial Italic"/>
                <a:cs typeface="Arial Italic"/>
              </a:rPr>
              <a:t>separately</a:t>
            </a:r>
            <a:r>
              <a:rPr>
                <a:latin typeface="Arial Italic"/>
                <a:ea typeface="Arial Italic"/>
                <a:cs typeface="Arial Italic"/>
              </a:rPr>
              <a:t>. </a:t>
            </a:r>
            <a:r>
              <a:t>Stage 1 focuses on </a:t>
            </a:r>
            <a:r>
              <a:rPr b="1"/>
              <a:t>information inside one flow</a:t>
            </a:r>
            <a:r>
              <a:t>, while Stage 2 focuses on </a:t>
            </a:r>
            <a:r>
              <a:rPr b="1"/>
              <a:t>relationships between flows</a:t>
            </a:r>
            <a:r>
              <a:t>.</a:t>
            </a:r>
            <a:endParaRPr>
              <a:latin typeface="Arial Italic"/>
              <a:ea typeface="Arial Italic"/>
              <a:cs typeface="Arial Italic"/>
            </a:endParaRPr>
          </a:p>
          <a:p>
            <a:r>
              <a:t>This is not an end-to-end design, but it </a:t>
            </a:r>
            <a:r>
              <a:rPr b="1"/>
              <a:t>makes the experiments easier to understand.</a:t>
            </a:r>
            <a:endParaRPr b="1">
              <a:latin typeface="Arial Italic"/>
              <a:ea typeface="Arial Italic"/>
              <a:cs typeface="Arial Italic"/>
            </a:endParaRPr>
          </a:p>
          <a:p>
            <a:r>
              <a:rPr>
                <a:latin typeface="Arial Italic"/>
                <a:ea typeface="Arial Italic"/>
                <a:cs typeface="Arial Italic"/>
              </a:rPr>
              <a:t>I can first test Stage 1 and then test whether cross-flow context brings extra improvement.</a:t>
            </a:r>
            <a:endParaRPr>
              <a:latin typeface="Arial Italic"/>
              <a:ea typeface="Arial Italic"/>
              <a:cs typeface="Arial Italic"/>
            </a:endParaRPr>
          </a:p>
          <a:p>
            <a:r>
              <a:t>The two-stage structure is now clear. I will first look more closely at Stage 1.   Let</a:t>
            </a:r>
            <a:r>
              <a:rPr lang="en-US"/>
              <a:t>’</a:t>
            </a:r>
            <a:r>
              <a:t>s see how Stage 1 </a:t>
            </a:r>
            <a:r>
              <a:rPr b="1"/>
              <a:t>uses </a:t>
            </a:r>
            <a:r>
              <a:t>packet order and timing.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Stage 1 uses two</a:t>
            </a:r>
            <a:r>
              <a:rPr lang="en-US"/>
              <a:t> </a:t>
            </a:r>
            <a:r>
              <a:rPr lang="en-US" b="1"/>
              <a:t>temporal</a:t>
            </a:r>
            <a:r>
              <a:rPr b="1"/>
              <a:t> </a:t>
            </a:r>
            <a:r>
              <a:t>signals.</a:t>
            </a:r>
          </a:p>
          <a:p>
            <a:r>
              <a:rPr lang="en-US"/>
              <a:t>The first signal is </a:t>
            </a:r>
            <a:r>
              <a:t>Packet </a:t>
            </a:r>
            <a:r>
              <a:rPr b="1"/>
              <a:t>position</a:t>
            </a:r>
            <a:r>
              <a:rPr lang="en-US"/>
              <a:t>. It</a:t>
            </a:r>
            <a:r>
              <a:t> tells </a:t>
            </a:r>
            <a:r>
              <a:rPr b="1"/>
              <a:t>where </a:t>
            </a:r>
            <a:r>
              <a:t>a packet </a:t>
            </a:r>
            <a:r>
              <a:t>is </a:t>
            </a:r>
            <a:r>
              <a:t>in the sequence.</a:t>
            </a:r>
          </a:p>
          <a:p>
            <a:r>
              <a:rPr lang="en-US"/>
              <a:t>The second signal is </a:t>
            </a:r>
            <a:r>
              <a:t>Cumulative </a:t>
            </a:r>
            <a:r>
              <a:rPr b="1"/>
              <a:t>time</a:t>
            </a:r>
            <a:r>
              <a:rPr lang="en-US"/>
              <a:t>. It</a:t>
            </a:r>
            <a:r>
              <a:t> tells </a:t>
            </a:r>
            <a:r>
              <a:rPr b="1"/>
              <a:t>how </a:t>
            </a:r>
            <a:r>
              <a:t>much real time has passed.</a:t>
            </a:r>
          </a:p>
          <a:p>
            <a:r>
              <a:rPr lang="en-US"/>
              <a:t>These signals describe different information. </a:t>
            </a:r>
            <a:r>
              <a:t>position </a:t>
            </a:r>
            <a:r>
              <a:rPr b="1"/>
              <a:t>describes </a:t>
            </a:r>
            <a:r>
              <a:t>the </a:t>
            </a:r>
            <a:r>
              <a:rPr b="1"/>
              <a:t>order</a:t>
            </a:r>
            <a:r>
              <a:t>, cumulative time </a:t>
            </a:r>
            <a:r>
              <a:rPr b="1"/>
              <a:t>describes </a:t>
            </a:r>
            <a:r>
              <a:t>the </a:t>
            </a:r>
            <a:r>
              <a:rPr b="1"/>
              <a:t>pace of the communication.</a:t>
            </a:r>
            <a:endParaRPr b="1"/>
          </a:p>
          <a:p>
            <a:r>
              <a:t>I </a:t>
            </a:r>
            <a:r>
              <a:rPr b="1"/>
              <a:t>combine </a:t>
            </a:r>
            <a:r>
              <a:t>these two signals in a time-aware sinusoidal encoding.</a:t>
            </a:r>
          </a:p>
          <a:p>
            <a:r>
              <a:t>I also compare four settings: both position and time, position only, time only, and no encoding.</a:t>
            </a:r>
            <a:r>
              <a:rPr lang="en-US"/>
              <a:t>  </a:t>
            </a:r>
            <a:r>
              <a:rPr i="1"/>
              <a:t>This helps me </a:t>
            </a:r>
            <a:r>
              <a:rPr lang="en-US" i="1"/>
              <a:t>to understand them more .   </a:t>
            </a:r>
            <a:endParaRPr lang="en-US" i="1"/>
          </a:p>
          <a:p>
            <a:r>
              <a:t>The next slide shows </a:t>
            </a:r>
            <a:r>
              <a:t>t</a:t>
            </a:r>
            <a:r>
              <a:t>he complete Stage 1 pipeline.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Stage 1 has six main steps.</a:t>
            </a:r>
            <a:r>
              <a:t> </a:t>
            </a:r>
            <a:r>
              <a:t>I will follow the blue side of the figure from top to bottom.</a:t>
            </a:r>
          </a:p>
          <a:p>
            <a:r>
              <a:t>First, the selected packet features are </a:t>
            </a:r>
            <a:r>
              <a:rPr b="1"/>
              <a:t>projected </a:t>
            </a:r>
            <a:r>
              <a:t>into 128 dimensions. </a:t>
            </a:r>
            <a:r>
              <a:rPr b="1"/>
              <a:t>Second</a:t>
            </a:r>
            <a:r>
              <a:t>, I </a:t>
            </a:r>
            <a:r>
              <a:rPr b="1"/>
              <a:t>add </a:t>
            </a:r>
            <a:r>
              <a:t>packet position and cumulative-time encoding.</a:t>
            </a:r>
          </a:p>
          <a:p>
            <a:r>
              <a:t>Third, a separate network </a:t>
            </a:r>
            <a:r>
              <a:rPr b="1"/>
              <a:t>encodes </a:t>
            </a:r>
            <a:r>
              <a:t>the flow statistics.</a:t>
            </a:r>
            <a:r>
              <a:t> </a:t>
            </a:r>
            <a:r>
              <a:t>It uses them to make a small, bounded correction to the packet tokens.</a:t>
            </a:r>
          </a:p>
          <a:p>
            <a:r>
              <a:t>Fourth, a Transformer </a:t>
            </a:r>
            <a:r>
              <a:rPr b="1"/>
              <a:t>processes </a:t>
            </a:r>
            <a:r>
              <a:t>the packet tokens. Padding is ignored, and </a:t>
            </a:r>
            <a:r>
              <a:rPr b="1"/>
              <a:t>each packet</a:t>
            </a:r>
            <a:r>
              <a:rPr lang="en-US" b="1"/>
              <a:t> token</a:t>
            </a:r>
            <a:r>
              <a:rPr b="1"/>
              <a:t> can attend to the other packet</a:t>
            </a:r>
            <a:r>
              <a:rPr lang="en-US" b="1"/>
              <a:t> token</a:t>
            </a:r>
            <a:r>
              <a:rPr b="1"/>
              <a:t> in the same flow</a:t>
            </a:r>
            <a:r>
              <a:t>.</a:t>
            </a:r>
          </a:p>
          <a:p>
            <a:r>
              <a:t>Fifth, I combine attention pooling, mean pooling, and max pooling.</a:t>
            </a:r>
            <a:r>
              <a:t> These </a:t>
            </a:r>
            <a:r>
              <a:rPr b="1"/>
              <a:t>methods capture different information from the sequence.</a:t>
            </a:r>
            <a:endParaRPr b="1"/>
          </a:p>
          <a:p>
            <a:r>
              <a:t>Finally, Stage 1 </a:t>
            </a:r>
            <a:r>
              <a:rPr b="1"/>
              <a:t>produces </a:t>
            </a:r>
            <a:r>
              <a:t>one fixed</a:t>
            </a:r>
            <a:r>
              <a:t>-lenght embedding for each flow,</a:t>
            </a:r>
            <a:r>
              <a:rPr b="1"/>
              <a:t> no matter how many packets the flow contains.</a:t>
            </a:r>
          </a:p>
          <a:p>
            <a:r>
              <a:t>Stage 2 uses these flow embeddings instead of going back to the raw packets.</a:t>
            </a:r>
          </a:p>
          <a:p>
            <a:r>
              <a:t>I will now explain how Stage 2 </a:t>
            </a:r>
            <a:r>
              <a:rPr lang="en-US"/>
              <a:t>pipeline</a:t>
            </a:r>
            <a: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Stage 2 takes the flow embeddings from Stage 1.</a:t>
            </a:r>
          </a:p>
          <a:p>
            <a:r>
              <a:rPr b="1"/>
              <a:t>For each target flow, it selects some earlier related </a:t>
            </a:r>
            <a:r>
              <a:rPr b="1"/>
              <a:t>flows as context</a:t>
            </a:r>
            <a:r>
              <a:rPr b="1"/>
              <a:t>, ordered by start time.</a:t>
            </a:r>
            <a:endParaRPr b="1"/>
          </a:p>
          <a:p>
            <a:r>
              <a:t>I test </a:t>
            </a:r>
            <a:r>
              <a:rPr b="1"/>
              <a:t>four </a:t>
            </a:r>
            <a:r>
              <a:t>types of context.</a:t>
            </a:r>
            <a:r>
              <a:t> </a:t>
            </a:r>
            <a:r>
              <a:t>Source-host uses earlier flows with the same source.</a:t>
            </a:r>
            <a:r>
              <a:t> </a:t>
            </a:r>
            <a:r>
              <a:t>Destination-host uses the same destination.</a:t>
            </a:r>
            <a:r>
              <a:t> </a:t>
            </a:r>
            <a:r>
              <a:t>Endpoint matches either endpoint.</a:t>
            </a:r>
            <a:r>
              <a:t> </a:t>
            </a:r>
            <a:r>
              <a:t>Time-only simply uses recent flows</a:t>
            </a:r>
            <a:r>
              <a:t> </a:t>
            </a:r>
            <a:r>
              <a:t>without an endpoint relation.</a:t>
            </a:r>
          </a:p>
          <a:p>
            <a:r>
              <a:rPr b="1"/>
              <a:t>The current flow is the query, and the earlier flows provide the context. A learned gate controls how much this </a:t>
            </a:r>
            <a:r>
              <a:rPr lang="en-US" b="1"/>
              <a:t>context </a:t>
            </a:r>
            <a:r>
              <a:rPr b="1"/>
              <a:t>changes the current flow representation.</a:t>
            </a:r>
            <a:endParaRPr b="1"/>
          </a:p>
          <a:p>
            <a:r>
              <a:t>The model does not use future flows or historical labels, and padding is ignored.</a:t>
            </a:r>
          </a:p>
          <a:p>
            <a:r>
              <a:rPr i="1"/>
              <a:t>One limitation is that the order is based on flow start time. </a:t>
            </a:r>
            <a:r>
              <a:rPr i="1"/>
              <a:t>An earlier flow may still be running when the target flow starts. </a:t>
            </a:r>
            <a:r>
              <a:rPr i="1"/>
              <a:t>So, the setting is start-time ordered, but it is not strict completion-time streaming.</a:t>
            </a:r>
            <a:endParaRPr i="1"/>
          </a:p>
          <a:p>
            <a:r>
              <a:t>Now that both stages are clear, I will explain how I evaluate them.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Because the dataset is extremely </a:t>
            </a:r>
            <a:r>
              <a:rPr b="1"/>
              <a:t>imbalanced</a:t>
            </a:r>
            <a:r>
              <a:t>,</a:t>
            </a:r>
            <a:r>
              <a:rPr b="1"/>
              <a:t> accuracy can be misleading</a:t>
            </a:r>
            <a:r>
              <a:t>. For example, </a:t>
            </a:r>
            <a:r>
              <a:rPr lang="en-US"/>
              <a:t>A model can predict every flow as negative and still get about 96 percent accuracy.</a:t>
            </a:r>
          </a:p>
          <a:p>
            <a:r>
              <a:t>So, I </a:t>
            </a:r>
            <a:r>
              <a:rPr b="1"/>
              <a:t>focus </a:t>
            </a:r>
            <a:r>
              <a:t>on metrics that </a:t>
            </a:r>
            <a:r>
              <a:rPr b="1"/>
              <a:t>better reflect</a:t>
            </a:r>
            <a:r>
              <a:t>/consider</a:t>
            </a:r>
            <a:r>
              <a:t> both classes.</a:t>
            </a:r>
          </a:p>
          <a:p>
            <a:r>
              <a:t>Macro-F1 </a:t>
            </a:r>
            <a:r>
              <a:rPr b="1"/>
              <a:t>gives </a:t>
            </a:r>
            <a:r>
              <a:t>equal importance to both classes.  Class-1 F1 </a:t>
            </a:r>
            <a:r>
              <a:rPr b="1"/>
              <a:t>shows </a:t>
            </a:r>
            <a:r>
              <a:t>the balance between precision and recall for the positive class. False-positive rate </a:t>
            </a:r>
            <a:r>
              <a:rPr b="1"/>
              <a:t>shows </a:t>
            </a:r>
            <a:r>
              <a:t>how often normal flows are incorrectly flagged.</a:t>
            </a:r>
            <a:r>
              <a:t> FP and FN counts </a:t>
            </a:r>
            <a:r>
              <a:rPr b="1"/>
              <a:t>show </a:t>
            </a:r>
            <a:r>
              <a:t>the actual number of mistakes.</a:t>
            </a:r>
          </a:p>
          <a:p>
            <a:r>
              <a:t>I also report average precision, or AP. In the thesis, I label this measure as PR-AUC.</a:t>
            </a:r>
            <a:r>
              <a:rPr lang="en-US"/>
              <a:t> </a:t>
            </a:r>
            <a:r>
              <a:rPr lang="en-US" b="1"/>
              <a:t>Strictly speaking they are ont extactly the same. However, both measure ranking performance across different thresholds</a:t>
            </a:r>
            <a:r>
              <a:rPr lang="en-US"/>
              <a:t>.</a:t>
            </a:r>
          </a:p>
          <a:p>
            <a:r>
              <a:t>With these metrics defined, I can now present the results.</a:t>
            </a:r>
          </a:p>
          <a:p>
            <a:r>
              <a:t>I will start with packet position and timing in Stage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chart </a:t>
            </a:r>
            <a:r>
              <a:rPr b="1"/>
              <a:t>compares </a:t>
            </a:r>
            <a:r>
              <a:t>different Stage 1 models and encoding </a:t>
            </a:r>
            <a:r>
              <a:t>varients </a:t>
            </a:r>
            <a:r>
              <a:t>on the same test set.</a:t>
            </a:r>
          </a:p>
          <a:p>
            <a:r>
              <a:t>The</a:t>
            </a:r>
            <a:r>
              <a:rPr b="1"/>
              <a:t> main observation</a:t>
            </a:r>
            <a:r>
              <a:t> is that the Transformer with both position and time </a:t>
            </a:r>
            <a:r>
              <a:rPr lang="en-US"/>
              <a:t>encoding </a:t>
            </a:r>
            <a:r>
              <a:rPr b="1"/>
              <a:t>gives the best result</a:t>
            </a:r>
            <a:r>
              <a:rPr lang="en-US"/>
              <a:t> </a:t>
            </a:r>
            <a:r>
              <a:t>.Its macro-F1 is 0.888, and its PR-AUC is 0.856.</a:t>
            </a:r>
          </a:p>
          <a:p>
            <a:r>
              <a:t>Time only </a:t>
            </a:r>
            <a:r>
              <a:rPr b="1"/>
              <a:t>performs </a:t>
            </a:r>
            <a:r>
              <a:t>better than position only, but using both </a:t>
            </a:r>
            <a:r>
              <a:rPr lang="en-US"/>
              <a:t>og them </a:t>
            </a:r>
            <a:r>
              <a:t>together </a:t>
            </a:r>
            <a:r>
              <a:rPr b="1"/>
              <a:t>gives </a:t>
            </a:r>
            <a:r>
              <a:t>the best performance.</a:t>
            </a:r>
          </a:p>
          <a:p>
            <a:r>
              <a:t>The flow-statistics MLP is clearly weaker.</a:t>
            </a:r>
          </a:p>
          <a:p>
            <a:r>
              <a:t>This results </a:t>
            </a:r>
            <a:r>
              <a:rPr b="1"/>
              <a:t>shows </a:t>
            </a:r>
            <a:r>
              <a:t>that packet order and time provide </a:t>
            </a:r>
            <a:r>
              <a:rPr lang="en-US"/>
              <a:t>complementary</a:t>
            </a:r>
            <a:r>
              <a:t> information.</a:t>
            </a:r>
            <a:r>
              <a:rPr lang="en-US"/>
              <a:t> </a:t>
            </a:r>
            <a:endParaRPr lang="en-US"/>
          </a:p>
          <a:p>
            <a:r>
              <a:rPr b="1"/>
              <a:t>Order tells the model what happened first, while time tells it how fast it happened.</a:t>
            </a:r>
            <a:endParaRPr b="1"/>
          </a:p>
          <a:p>
            <a:r>
              <a:t>Next, I will show how flow statistics are combined with the packet tokens.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</a:t>
            </a:r>
            <a:r>
              <a:rPr b="1"/>
              <a:t>ablation compares </a:t>
            </a:r>
            <a:r>
              <a:t>three ways </a:t>
            </a:r>
            <a:r>
              <a:rPr lang="en-US"/>
              <a:t>of</a:t>
            </a:r>
            <a:r>
              <a:t> use</a:t>
            </a:r>
            <a:r>
              <a:rPr lang="en-US"/>
              <a:t>ing</a:t>
            </a:r>
            <a:r>
              <a:t> flow statistics in Stage 1.</a:t>
            </a:r>
          </a:p>
          <a:p>
            <a:r>
              <a:t>Scheme A </a:t>
            </a:r>
            <a:r>
              <a:rPr b="1"/>
              <a:t>repeats </a:t>
            </a:r>
            <a:r>
              <a:t>the flow-statistics vector at every packet </a:t>
            </a:r>
            <a:r>
              <a:rPr lang="en-US"/>
              <a:t>token</a:t>
            </a:r>
            <a:r>
              <a:t>. Scheme B </a:t>
            </a:r>
            <a:r>
              <a:rPr b="1"/>
              <a:t>uses </a:t>
            </a:r>
            <a:r>
              <a:t>only packet information. Scheme C is </a:t>
            </a:r>
            <a:r>
              <a:rPr lang="en-US"/>
              <a:t>my </a:t>
            </a:r>
            <a:r>
              <a:t>proposed design. It </a:t>
            </a:r>
            <a:r>
              <a:rPr b="1"/>
              <a:t>encodes </a:t>
            </a:r>
            <a:r>
              <a:t>the flow statistics once and uses </a:t>
            </a:r>
            <a:r>
              <a:rPr lang="en-US"/>
              <a:t>it </a:t>
            </a:r>
            <a:r>
              <a:t>to make a small, bounded correction to the packet tokens.</a:t>
            </a:r>
          </a:p>
          <a:p>
            <a:r>
              <a:t>Scheme C </a:t>
            </a:r>
            <a:r>
              <a:rPr b="1"/>
              <a:t>provides </a:t>
            </a:r>
            <a:r>
              <a:t>the strongest overall balance. Its macro-F1 is 0.895, and its PR-AUC is 0.876. It also </a:t>
            </a:r>
            <a:r>
              <a:rPr b="1"/>
              <a:t>reduces </a:t>
            </a:r>
            <a:r>
              <a:t>both FP and FN compared with Scheme B.</a:t>
            </a:r>
          </a:p>
          <a:p>
            <a:r>
              <a:rPr b="1"/>
              <a:t>The result</a:t>
            </a:r>
            <a:r>
              <a:rPr lang="en-US" b="1"/>
              <a:t>s</a:t>
            </a:r>
            <a:r>
              <a:rPr b="1"/>
              <a:t> suggest that flow statistics </a:t>
            </a:r>
            <a:r>
              <a:rPr lang="en-US" b="1"/>
              <a:t>are </a:t>
            </a:r>
            <a:r>
              <a:rPr b="1"/>
              <a:t>useful. </a:t>
            </a:r>
            <a:r>
              <a:rPr lang="en-US" b="1"/>
              <a:t>In this experiment,</a:t>
            </a:r>
            <a:r>
              <a:rPr b="1"/>
              <a:t> bounded </a:t>
            </a:r>
            <a:r>
              <a:rPr lang="en-US" b="1"/>
              <a:t>correction performs </a:t>
            </a:r>
            <a:r>
              <a:rPr b="1"/>
              <a:t>better than simple repetition.</a:t>
            </a:r>
            <a:endParaRPr b="1"/>
          </a:p>
          <a:p>
            <a:r>
              <a:rPr lang="en-US"/>
              <a:t>T</a:t>
            </a:r>
            <a:r>
              <a:t>he model sizes are not perfectly matched across the three schemes. I cannot tell which part of the design contributes most to the improvement.</a:t>
            </a:r>
          </a:p>
          <a:p>
            <a:r>
              <a:t>Next, I will </a:t>
            </a:r>
            <a:r>
              <a:rPr lang="en-US"/>
              <a:t>examine sequence length and packet selection.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</a:t>
            </a:r>
            <a:r>
              <a:rPr b="1"/>
              <a:t>studies </a:t>
            </a:r>
            <a:r>
              <a:t>two practical choices in Stage 1.</a:t>
            </a:r>
          </a:p>
          <a:p>
            <a:r>
              <a:t>First, I compare </a:t>
            </a:r>
            <a:r>
              <a:rPr b="1"/>
              <a:t>sequence lengths </a:t>
            </a:r>
            <a:r>
              <a:t>from 8 to 256 packets. The </a:t>
            </a:r>
            <a:r>
              <a:rPr b="1"/>
              <a:t>best result appears </a:t>
            </a:r>
            <a:r>
              <a:t>at 128 packets. Using 256 packets</a:t>
            </a:r>
            <a:r>
              <a:rPr b="1"/>
              <a:t> adds </a:t>
            </a:r>
            <a:r>
              <a:rPr lang="en-US" b="1"/>
              <a:t>more</a:t>
            </a:r>
            <a:r>
              <a:rPr lang="en-US" b="1">
                <a:highlight>
                  <a:srgbClr val="FF0000"/>
                </a:highlight>
              </a:rPr>
              <a:t> </a:t>
            </a:r>
            <a:r>
              <a:rPr b="1">
                <a:highlight>
                  <a:srgbClr val="FF0000"/>
                </a:highlight>
              </a:rPr>
              <a:t>false positives</a:t>
            </a:r>
            <a:r>
              <a:rPr b="1"/>
              <a:t> and reduces both macro-F1 and PR-AUC</a:t>
            </a:r>
            <a:r>
              <a:t>. So, more packets do not always help.</a:t>
            </a:r>
          </a:p>
          <a:p>
            <a:r>
              <a:t>Next, I </a:t>
            </a:r>
            <a:r>
              <a:rPr b="1"/>
              <a:t>compare </a:t>
            </a:r>
            <a:r>
              <a:t>three packet selection methods. Head and head-tail </a:t>
            </a:r>
            <a:r>
              <a:rPr b="1"/>
              <a:t>give similar results</a:t>
            </a:r>
            <a:r>
              <a:t>. Random selection has </a:t>
            </a:r>
            <a:r>
              <a:rPr b="1">
                <a:highlight>
                  <a:srgbClr val="FF0000"/>
                </a:highlight>
              </a:rPr>
              <a:t>fewer false positives</a:t>
            </a:r>
            <a:r>
              <a:rPr b="1"/>
              <a:t>, but </a:t>
            </a:r>
            <a:r>
              <a:rPr b="1">
                <a:highlight>
                  <a:srgbClr val="FF0000"/>
                </a:highlight>
              </a:rPr>
              <a:t>misses more positive flows</a:t>
            </a:r>
            <a:r>
              <a:rPr b="1"/>
              <a:t>.</a:t>
            </a:r>
            <a:endParaRPr b="1"/>
          </a:p>
          <a:p>
            <a:r>
              <a:t>Therefore, I use 128 packets with head selection. It is simple, </a:t>
            </a:r>
            <a:r>
              <a:rPr b="1"/>
              <a:t>deterministic</a:t>
            </a:r>
            <a:r>
              <a:t>, and </a:t>
            </a:r>
            <a:r>
              <a:rPr b="1"/>
              <a:t>performs best on this dataset</a:t>
            </a:r>
            <a:r>
              <a:rPr lang="en-US" b="1"/>
              <a:t> </a:t>
            </a:r>
            <a:r>
              <a:rPr b="1">
                <a:sym typeface="+mn-ea"/>
              </a:rPr>
              <a:t>without waiting for the final packets of a flow.</a:t>
            </a:r>
            <a:endParaRPr b="1">
              <a:sym typeface="+mn-ea"/>
            </a:endParaRPr>
          </a:p>
          <a:p>
            <a:r>
              <a:rPr>
                <a:sym typeface="+mn-ea"/>
              </a:rPr>
              <a:t>128 packets is </a:t>
            </a:r>
            <a:r>
              <a:rPr lang="en-US">
                <a:sym typeface="+mn-ea"/>
              </a:rPr>
              <a:t>not </a:t>
            </a:r>
            <a:r>
              <a:rPr>
                <a:sym typeface="+mn-ea"/>
              </a:rPr>
              <a:t>universally optimal. It is the best</a:t>
            </a:r>
            <a:r>
              <a:rPr b="1">
                <a:sym typeface="+mn-ea"/>
              </a:rPr>
              <a:t> observed operating point for this capture</a:t>
            </a:r>
            <a:r>
              <a:rPr>
                <a:sym typeface="+mn-ea"/>
              </a:rPr>
              <a:t>, and simply adding more packets does not guarantee better detection.</a:t>
            </a:r>
          </a:p>
          <a:p>
            <a:r>
              <a:t>Now, I will move to the Stage 2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compares four ways to choose the Stage 2 context.</a:t>
            </a:r>
            <a:r>
              <a:t> Only the relation policy changes.</a:t>
            </a:r>
          </a:p>
          <a:p>
            <a:r>
              <a:rPr b="1"/>
              <a:t>Among the four relation policies, source-host context provides the </a:t>
            </a:r>
            <a:r>
              <a:rPr lang="en-US" b="1"/>
              <a:t>best </a:t>
            </a:r>
            <a:r>
              <a:rPr b="1"/>
              <a:t>overall balance. It combines the highest macro-F1 and PR-AUC with the lowest false-positive rate.</a:t>
            </a:r>
            <a:endParaRPr b="1"/>
          </a:p>
          <a:p>
            <a:r>
              <a:t>Endpoint context gives a higher class-1 recall, but it also creates more false positives.</a:t>
            </a:r>
            <a:r>
              <a:t> </a:t>
            </a:r>
            <a:r>
              <a:t>So, its overall balance is not as good.</a:t>
            </a:r>
          </a:p>
          <a:p>
            <a:r>
              <a:rPr b="1"/>
              <a:t>One possible reason</a:t>
            </a:r>
            <a:r>
              <a:t> is that repeated flows from the same source can </a:t>
            </a:r>
            <a:r>
              <a:rPr b="1"/>
              <a:t>form </a:t>
            </a:r>
            <a:r>
              <a:t>a clearer pattern.</a:t>
            </a:r>
          </a:p>
          <a:p>
            <a:r>
              <a:t>However, this is only a possible explanation.</a:t>
            </a:r>
            <a:r>
              <a:rPr b="1"/>
              <a:t> </a:t>
            </a:r>
            <a:r>
              <a:rPr b="1">
                <a:highlight>
                  <a:srgbClr val="FF0000"/>
                </a:highlight>
              </a:rPr>
              <a:t>The binary labels cannot tell us the exact behaviour behind the improvement.</a:t>
            </a:r>
            <a:endParaRPr b="1"/>
          </a:p>
          <a:p>
            <a:r>
              <a:t>Based on this result, I use source-host context in the next experiment.</a:t>
            </a:r>
          </a:p>
          <a:p>
            <a:r>
              <a:t>The next slide compares different Stage 2 model architectures.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models on this slide use the same Stage 1 embeddings and the same source-host context.</a:t>
            </a:r>
            <a:r>
              <a:rPr lang="en-US"/>
              <a:t> </a:t>
            </a:r>
            <a:endParaRPr lang="en-US"/>
          </a:p>
          <a:p>
            <a:r>
              <a:rPr b="1"/>
              <a:t>The main difference is how they use the history.</a:t>
            </a:r>
            <a:endParaRPr b="1"/>
          </a:p>
          <a:p>
            <a:r>
              <a:t>From the two charts, the proposed target-query model </a:t>
            </a:r>
            <a:r>
              <a:rPr lang="en-US" b="1"/>
              <a:t>performs best </a:t>
            </a:r>
            <a:r>
              <a:rPr lang="en-US"/>
              <a:t>in this comparison</a:t>
            </a:r>
            <a:r>
              <a:t>. It</a:t>
            </a:r>
            <a:r>
              <a:rPr lang="en-US"/>
              <a:t>s </a:t>
            </a:r>
            <a:r>
              <a:t>macro-F1</a:t>
            </a:r>
            <a:r>
              <a:rPr lang="en-US"/>
              <a:t> is 0.928,</a:t>
            </a:r>
            <a:r>
              <a:t> class-1 F1</a:t>
            </a:r>
            <a:r>
              <a:rPr lang="en-US"/>
              <a:t> is 0.861 </a:t>
            </a:r>
            <a:r>
              <a:t>and PR-AUC</a:t>
            </a:r>
            <a:r>
              <a:rPr lang="en-US"/>
              <a:t> is 0.934</a:t>
            </a:r>
            <a:r>
              <a:t>.</a:t>
            </a:r>
          </a:p>
          <a:p>
            <a:r>
              <a:rPr lang="en-US"/>
              <a:t>L</a:t>
            </a:r>
            <a:r>
              <a:t>ook at the</a:t>
            </a:r>
            <a:r>
              <a:rPr lang="en-US"/>
              <a:t> chart on the</a:t>
            </a:r>
            <a:r>
              <a:t> right side</a:t>
            </a:r>
            <a:r>
              <a:rPr lang="en-US"/>
              <a:t>,</a:t>
            </a:r>
            <a:r>
              <a:t> the proposed model also </a:t>
            </a:r>
            <a:r>
              <a:rPr b="1"/>
              <a:t>gets </a:t>
            </a:r>
            <a:r>
              <a:t>the </a:t>
            </a:r>
            <a:r>
              <a:rPr b="1"/>
              <a:t>lowest</a:t>
            </a:r>
            <a:r>
              <a:rPr lang="en-US" b="1"/>
              <a:t> </a:t>
            </a:r>
            <a:r>
              <a:t>false-positive and false-negative counts.</a:t>
            </a:r>
            <a:r>
              <a:rPr lang="en-US"/>
              <a:t> </a:t>
            </a:r>
            <a:endParaRPr lang="en-US"/>
          </a:p>
          <a:p>
            <a:r>
              <a:rPr lang="en-US" b="1"/>
              <a:t>This means</a:t>
            </a:r>
            <a:r>
              <a:rPr b="1"/>
              <a:t> the improvement </a:t>
            </a:r>
            <a:r>
              <a:rPr lang="en-US" b="1"/>
              <a:t>does</a:t>
            </a:r>
            <a:r>
              <a:rPr b="1"/>
              <a:t> not a trade-off between the two types of error. </a:t>
            </a:r>
          </a:p>
          <a:p>
            <a:r>
              <a:rPr b="1"/>
              <a:t>One limitation is that the model sizes are not perfectly matched.</a:t>
            </a:r>
            <a:r>
              <a:rPr lang="en-US" b="1"/>
              <a:t> so</a:t>
            </a:r>
            <a:r>
              <a:rPr b="1"/>
              <a:t>, I cannot tell </a:t>
            </a:r>
            <a:r>
              <a:rPr b="1">
                <a:highlight>
                  <a:srgbClr val="FF0000"/>
                </a:highlight>
              </a:rPr>
              <a:t>how much of the improvement comes from target-query attention</a:t>
            </a:r>
            <a:r>
              <a:rPr b="1"/>
              <a:t>.</a:t>
            </a:r>
            <a:endParaRPr b="1"/>
          </a:p>
          <a:p>
            <a:r>
              <a:t>Next, I will test the model on external data.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Internal results are not enough, so I also test the model on two external datasets.</a:t>
            </a:r>
          </a:p>
          <a:p>
            <a:r>
              <a:t>The first is </a:t>
            </a:r>
            <a:r>
              <a:t>a public dataset </a:t>
            </a:r>
            <a:r>
              <a:t>CICIDS2017</a:t>
            </a:r>
            <a:r>
              <a:t> </a:t>
            </a:r>
            <a:r>
              <a:rPr b="1">
                <a:solidFill>
                  <a:srgbClr val="1677B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Wednesday</a:t>
            </a:r>
            <a:r>
              <a:rPr b="1">
                <a:solidFill>
                  <a:srgbClr val="1677B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working-hours</a:t>
            </a:r>
            <a:r>
              <a:t>.</a:t>
            </a:r>
            <a:r>
              <a:t> </a:t>
            </a:r>
            <a:r>
              <a:t>I use five time windows. Each window contains 20,000 flows.</a:t>
            </a:r>
            <a:r>
              <a:t> </a:t>
            </a:r>
            <a:r>
              <a:t>The macro-F1 ranges from 0.85 to 0.92, and the pooled macro-F1 is 0.8966.</a:t>
            </a:r>
          </a:p>
          <a:p>
            <a:r>
              <a:t>The second dataset comes from </a:t>
            </a:r>
            <a:r>
              <a:t>the same company</a:t>
            </a:r>
            <a:r>
              <a:t> but different server.</a:t>
            </a:r>
            <a:r>
              <a:t> It contains 38,513 flows</a:t>
            </a:r>
            <a:r>
              <a:t>（about thirty-eight）, with 3.</a:t>
            </a:r>
            <a:r>
              <a:t>3 percent positive samples.</a:t>
            </a:r>
            <a:r>
              <a:t> On this dataset, the model </a:t>
            </a:r>
            <a:r>
              <a:rPr b="1"/>
              <a:t>reaches </a:t>
            </a:r>
            <a:r>
              <a:t>a macro-F1 of 0.9026 and a PR-AUC of 0.8771.</a:t>
            </a:r>
          </a:p>
          <a:p>
            <a:r>
              <a:t>These results show </a:t>
            </a:r>
            <a:r>
              <a:rPr b="1"/>
              <a:t>useful transfer to other dataset</a:t>
            </a:r>
            <a:r>
              <a:rPr b="1"/>
              <a:t>, but performance is not fully stable across different time windows.</a:t>
            </a:r>
            <a:endParaRPr b="1"/>
          </a:p>
          <a:p>
            <a:r>
              <a:t>So, the external results are </a:t>
            </a:r>
            <a:r>
              <a:rPr b="1"/>
              <a:t>promising</a:t>
            </a:r>
            <a:r>
              <a:t>, but they do not prove </a:t>
            </a:r>
            <a:r>
              <a:rPr b="1"/>
              <a:t>universal generalisation</a:t>
            </a:r>
            <a:r>
              <a:t>.</a:t>
            </a:r>
          </a:p>
          <a:p>
            <a:r>
              <a:t>On the next slide, I will summarise the main conclusions and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sym typeface="+mn-ea"/>
              </a:rPr>
              <a:t>The results support four main conclusions.</a:t>
            </a:r>
            <a:endParaRPr>
              <a:sym typeface="+mn-ea"/>
            </a:endParaRPr>
          </a:p>
          <a:p>
            <a:r>
              <a:rPr b="1">
                <a:sym typeface="+mn-ea"/>
              </a:rPr>
              <a:t>First</a:t>
            </a:r>
            <a:r>
              <a:rPr>
                <a:sym typeface="+mn-ea"/>
              </a:rPr>
              <a:t>, packet order and elapsed time provide different useful information.</a:t>
            </a:r>
            <a:r>
              <a:rPr lang="en-US">
                <a:sym typeface="+mn-ea"/>
              </a:rPr>
              <a:t> </a:t>
            </a:r>
            <a:r>
              <a:rPr b="1">
                <a:sym typeface="+mn-ea"/>
              </a:rPr>
              <a:t>Second</a:t>
            </a:r>
            <a:r>
              <a:rPr>
                <a:sym typeface="+mn-ea"/>
              </a:rPr>
              <a:t>, flow statistics still help.</a:t>
            </a:r>
            <a:r>
              <a:rPr lang="en-US">
                <a:sym typeface="+mn-ea"/>
              </a:rPr>
              <a:t> </a:t>
            </a:r>
            <a:r>
              <a:rPr b="1">
                <a:sym typeface="+mn-ea"/>
              </a:rPr>
              <a:t>Third</a:t>
            </a:r>
            <a:r>
              <a:rPr>
                <a:sym typeface="+mn-ea"/>
              </a:rPr>
              <a:t>, selective source-host context improves the tested detector.</a:t>
            </a:r>
            <a:r>
              <a:rPr lang="en-US">
                <a:sym typeface="+mn-ea"/>
              </a:rPr>
              <a:t> </a:t>
            </a:r>
            <a:r>
              <a:rPr b="1">
                <a:sym typeface="+mn-ea"/>
              </a:rPr>
              <a:t>Finally</a:t>
            </a:r>
            <a:r>
              <a:rPr>
                <a:sym typeface="+mn-ea"/>
              </a:rPr>
              <a:t>, the model also works on external data, </a:t>
            </a:r>
            <a:r>
              <a:rPr b="1">
                <a:sym typeface="+mn-ea"/>
              </a:rPr>
              <a:t>although </a:t>
            </a:r>
            <a:r>
              <a:rPr>
                <a:sym typeface="+mn-ea"/>
              </a:rPr>
              <a:t>performance changes across datasets and time windows.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There are also important limitations.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As noted earlier, the labels come from Suricata alerts, not independently verified attack ground truth.</a:t>
            </a:r>
            <a:r>
              <a:rPr lang="en-US">
                <a:sym typeface="+mn-ea"/>
              </a:rPr>
              <a:t> </a:t>
            </a:r>
            <a:r>
              <a:rPr>
                <a:sym typeface="+mn-ea"/>
              </a:rPr>
              <a:t>The experiments use only one random seed, so variation across seeds is not measured.</a:t>
            </a:r>
            <a:r>
              <a:rPr lang="en-US">
                <a:sym typeface="+mn-ea"/>
              </a:rPr>
              <a:t> </a:t>
            </a:r>
            <a:r>
              <a:rPr>
                <a:sym typeface="+mn-ea"/>
              </a:rPr>
              <a:t>The model sizes are not perfectly matched in every comparison.Stage 2 uses start-time order, </a:t>
            </a:r>
            <a:r>
              <a:rPr b="1">
                <a:sym typeface="+mn-ea"/>
              </a:rPr>
              <a:t>not strict completion-time streaming.</a:t>
            </a:r>
            <a:r>
              <a:rPr lang="en-US">
                <a:sym typeface="+mn-ea"/>
              </a:rPr>
              <a:t> </a:t>
            </a:r>
            <a:r>
              <a:rPr>
                <a:sym typeface="+mn-ea"/>
              </a:rPr>
              <a:t>The external evaluation uses only two data sources</a:t>
            </a:r>
            <a:r>
              <a:rPr lang="en-US">
                <a:sym typeface="+mn-ea"/>
              </a:rPr>
              <a:t>, </a:t>
            </a:r>
            <a:r>
              <a:rPr lang="en-US" altLang="zh-CN">
                <a:ea typeface="SimSun" panose="02010600030101010101" pitchFamily="2" charset="-122"/>
                <a:sym typeface="+mn-ea"/>
              </a:rPr>
              <a:t>it</a:t>
            </a:r>
            <a:r>
              <a:rPr>
                <a:sym typeface="+mn-ea"/>
              </a:rPr>
              <a:t> cannot cover all network environments or attack types.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I will finish by returning to the main idea of the thesis.</a:t>
            </a:r>
            <a:endParaRPr>
              <a:sym typeface="+mn-ea"/>
            </a:endParaRP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main message is simple. </a:t>
            </a:r>
            <a:r>
              <a:rPr b="1"/>
              <a:t>Network traffic is hierarchical, so the detector should respect that hierarchy.</a:t>
            </a:r>
            <a:endParaRPr b="1"/>
          </a:p>
          <a:p>
            <a:r>
              <a:t>Stage 1 asks how one flow develops.</a:t>
            </a:r>
          </a:p>
          <a:p>
            <a:r>
              <a:t>Stage 2 asks whether earlier related flows can change the meaning of the target flow.</a:t>
            </a:r>
          </a:p>
          <a:p>
            <a:r>
              <a:rPr b="1"/>
              <a:t>In my experiments, both levels provide useful information. </a:t>
            </a:r>
            <a:endParaRPr b="1"/>
          </a:p>
          <a:p>
            <a:r>
              <a:t>Stage 1 improves the flow representation.</a:t>
            </a:r>
            <a:r>
              <a:t> </a:t>
            </a:r>
            <a:r>
              <a:rPr>
                <a:latin typeface="Arial Italic"/>
                <a:ea typeface="Arial Italic"/>
                <a:cs typeface="Arial Italic"/>
              </a:rPr>
              <a:t>Stage 2 then improves the final detector.</a:t>
            </a:r>
            <a:endParaRPr>
              <a:latin typeface="Arial Italic"/>
              <a:ea typeface="Arial Italic"/>
              <a:cs typeface="Arial Italic"/>
            </a:endParaRPr>
          </a:p>
          <a:p>
            <a:r>
              <a:rPr b="1"/>
              <a:t>The results are promising, but they are based only on the data tested in this study.</a:t>
            </a:r>
            <a:endParaRPr b="1"/>
          </a:p>
          <a:p/>
          <a:p>
            <a:r>
              <a:rPr>
                <a:latin typeface="Arial Italic"/>
                <a:ea typeface="Arial Italic"/>
                <a:cs typeface="Arial Italic"/>
              </a:rPr>
              <a:t>Thank you very much for listening.</a:t>
            </a:r>
            <a:endParaRPr>
              <a:latin typeface="Arial Italic"/>
              <a:ea typeface="Arial Italic"/>
              <a:cs typeface="Arial Italic"/>
            </a:endParaRPr>
          </a:p>
          <a:p>
            <a:r>
              <a:rPr>
                <a:latin typeface="Arial Italic"/>
                <a:ea typeface="Arial Italic"/>
                <a:cs typeface="Arial Italic"/>
              </a:rPr>
              <a:t>I am happy to answer your questions.</a:t>
            </a:r>
            <a:endParaRPr>
              <a:latin typeface="Arial Italic"/>
              <a:ea typeface="Arial Italic"/>
              <a:cs typeface="Arial Italic"/>
            </a:endParaRPr>
          </a:p>
          <a:p>
            <a:endParaRPr>
              <a:latin typeface="Arial Italic"/>
              <a:ea typeface="Arial Italic"/>
              <a:cs typeface="Arial Itali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10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Rectangle 4"/>
          <p:cNvSpPr>
            <a:spLocks noGrp="1"/>
          </p:cNvSpPr>
          <p:nvPr/>
        </p:nvSpPr>
        <p:spPr>
          <a:xfrm>
            <a:off x="400050" y="400050"/>
            <a:ext cx="428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1677B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1677B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MSc Thesis Defense</a:t>
            </a:r>
            <a:endParaRPr sz="1800" b="1">
              <a:solidFill>
                <a:srgbClr val="1677B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400050" y="1428750"/>
            <a:ext cx="885825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420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420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 Hierarchical Time-Aware</a:t>
            </a:r>
            <a:endParaRPr sz="4200" b="1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buNone/>
              <a:defRPr sz="420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420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Transformer for Flow-Level</a:t>
            </a:r>
            <a:endParaRPr sz="4200" b="1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buNone/>
              <a:defRPr sz="420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420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Network Intrusion Detection</a:t>
            </a:r>
            <a:endParaRPr sz="4200" b="1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400050" y="4953000"/>
            <a:ext cx="7429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75" b="0">
                <a:solidFill>
                  <a:srgbClr val="5E667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0">
                <a:solidFill>
                  <a:srgbClr val="5E667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Xiaoyan Xiong  |  Supervisor: Le Viet Duc</a:t>
            </a:r>
            <a:endParaRPr sz="1875" b="0">
              <a:solidFill>
                <a:srgbClr val="5E667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Rectangle 11"/>
          <p:cNvSpPr>
            <a:spLocks noGrp="1"/>
          </p:cNvSpPr>
          <p:nvPr/>
        </p:nvSpPr>
        <p:spPr>
          <a:xfrm>
            <a:off x="400050" y="285750"/>
            <a:ext cx="11144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85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85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Packets are units; flows are network conversations</a:t>
            </a:r>
            <a:endParaRPr sz="2850" b="1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11239500" y="6296025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75" b="0">
                <a:solidFill>
                  <a:srgbClr val="5E667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E667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  <a:endParaRPr sz="975" b="0">
              <a:solidFill>
                <a:srgbClr val="5E667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16" name="Pictur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9479" y="1095375"/>
            <a:ext cx="5923518" cy="3333750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523875" y="457200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75" b="1">
                <a:solidFill>
                  <a:srgbClr val="1677B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1677B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PACKET</a:t>
            </a:r>
            <a:endParaRPr sz="1875" b="1">
              <a:solidFill>
                <a:srgbClr val="1677B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523875" y="4953000"/>
            <a:ext cx="3238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One transmitted unit with header metadata and a data length.</a:t>
            </a:r>
            <a:endParaRPr sz="1500" b="0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4333875" y="4572000"/>
            <a:ext cx="2571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75" b="1">
                <a:solidFill>
                  <a:srgbClr val="E9A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E9A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PACKET SEQUENCE</a:t>
            </a:r>
            <a:endParaRPr sz="1875" b="1">
              <a:solidFill>
                <a:srgbClr val="E9A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4333875" y="4953000"/>
            <a:ext cx="3333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Ordered packets reveal direction, bursts, and unequal time gaps.</a:t>
            </a:r>
            <a:endParaRPr sz="1500" b="0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8334375" y="457200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75" b="1">
                <a:solidFill>
                  <a:srgbClr val="149B6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149B6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FLOW</a:t>
            </a:r>
            <a:endParaRPr sz="1875" b="1">
              <a:solidFill>
                <a:srgbClr val="149B6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8334375" y="4953000"/>
            <a:ext cx="319087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Related packets grouped by endpoints and protocol; statistics summarize the whole conversation.</a:t>
            </a:r>
            <a:endParaRPr sz="1500" b="0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Rectangle: Rounded Corners 9"/>
          <p:cNvSpPr>
            <a:spLocks noGrp="1"/>
          </p:cNvSpPr>
          <p:nvPr/>
        </p:nvSpPr>
        <p:spPr>
          <a:xfrm>
            <a:off x="523875" y="5857875"/>
            <a:ext cx="11001375" cy="419100"/>
          </a:xfrm>
          <a:prstGeom prst="roundRect">
            <a:avLst>
              <a:gd name="adj" fmla="val 18182"/>
            </a:avLst>
          </a:prstGeom>
          <a:solidFill>
            <a:srgbClr val="F1F3F5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666750" y="5895975"/>
            <a:ext cx="10715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This thesis keeps both views: packet dynamics inside each flow, plus flow statistics and cross-flow context.</a:t>
            </a:r>
            <a:endParaRPr sz="1500" b="1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Rectangle 13"/>
          <p:cNvSpPr>
            <a:spLocks noGrp="1"/>
          </p:cNvSpPr>
          <p:nvPr/>
        </p:nvSpPr>
        <p:spPr>
          <a:xfrm>
            <a:off x="400050" y="285750"/>
            <a:ext cx="11144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85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85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Network intrusion detection must balance detail and scalability</a:t>
            </a:r>
            <a:endParaRPr sz="2850" b="1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11239500" y="6296025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75" b="0">
                <a:solidFill>
                  <a:srgbClr val="5E667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E667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  <a:endParaRPr sz="975" b="0">
              <a:solidFill>
                <a:srgbClr val="5E667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571500" y="1714500"/>
            <a:ext cx="2095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025" b="1">
                <a:solidFill>
                  <a:srgbClr val="1677B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25" b="1">
                <a:solidFill>
                  <a:srgbClr val="1677B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Raw packets</a:t>
            </a:r>
            <a:endParaRPr sz="2025" b="1">
              <a:solidFill>
                <a:srgbClr val="1677B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571500" y="2238375"/>
            <a:ext cx="2476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0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0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Fine-grained order and timing</a:t>
            </a:r>
            <a:endParaRPr sz="1650" b="0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buNone/>
              <a:defRPr sz="1650" b="0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0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High volume and variable length</a:t>
            </a:r>
            <a:endParaRPr sz="1650" b="0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Arrow: Right 4"/>
          <p:cNvSpPr>
            <a:spLocks noGrp="1"/>
          </p:cNvSpPr>
          <p:nvPr/>
        </p:nvSpPr>
        <p:spPr>
          <a:xfrm>
            <a:off x="3143250" y="2381250"/>
            <a:ext cx="857250" cy="323850"/>
          </a:xfrm>
          <a:prstGeom prst="rightArrow">
            <a:avLst/>
          </a:prstGeom>
          <a:solidFill>
            <a:srgbClr val="1677B8"/>
          </a:solidFill>
          <a:ln w="0">
            <a:solidFill>
              <a:srgbClr val="1677B8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4333875" y="1714500"/>
            <a:ext cx="2476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025" b="1">
                <a:solidFill>
                  <a:srgbClr val="E9A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25" b="1">
                <a:solidFill>
                  <a:srgbClr val="E9A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Flow statistics</a:t>
            </a:r>
            <a:endParaRPr sz="2025" b="1">
              <a:solidFill>
                <a:srgbClr val="E9A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4333875" y="2238375"/>
            <a:ext cx="271462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0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0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Compact and efficient</a:t>
            </a:r>
            <a:endParaRPr sz="1650" b="0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buNone/>
              <a:defRPr sz="1650" b="0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0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But packet dynamics disappear</a:t>
            </a:r>
            <a:endParaRPr sz="1650" b="0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Arrow: Right 7"/>
          <p:cNvSpPr>
            <a:spLocks noGrp="1"/>
          </p:cNvSpPr>
          <p:nvPr/>
        </p:nvSpPr>
        <p:spPr>
          <a:xfrm>
            <a:off x="7239000" y="2381250"/>
            <a:ext cx="857250" cy="323850"/>
          </a:xfrm>
          <a:prstGeom prst="rightArrow">
            <a:avLst/>
          </a:prstGeom>
          <a:solidFill>
            <a:srgbClr val="1677B8"/>
          </a:solidFill>
          <a:ln w="0">
            <a:solidFill>
              <a:srgbClr val="1677B8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8429625" y="1714500"/>
            <a:ext cx="2857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025" b="1">
                <a:solidFill>
                  <a:srgbClr val="149B6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25" b="1">
                <a:solidFill>
                  <a:srgbClr val="149B6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Independent decisions</a:t>
            </a:r>
            <a:endParaRPr sz="2025" b="1">
              <a:solidFill>
                <a:srgbClr val="149B6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8429625" y="2238375"/>
            <a:ext cx="2857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0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0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Easy to deploy</a:t>
            </a:r>
            <a:endParaRPr sz="1650" b="0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buNone/>
              <a:defRPr sz="1650" b="0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0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But related behaviour is ignored</a:t>
            </a:r>
            <a:endParaRPr sz="1650" b="0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Rectangle: Rounded Corners 10"/>
          <p:cNvSpPr>
            <a:spLocks noGrp="1"/>
          </p:cNvSpPr>
          <p:nvPr/>
        </p:nvSpPr>
        <p:spPr>
          <a:xfrm>
            <a:off x="571500" y="4095750"/>
            <a:ext cx="10668000" cy="1047750"/>
          </a:xfrm>
          <a:prstGeom prst="roundRect">
            <a:avLst>
              <a:gd name="adj" fmla="val 7273"/>
            </a:avLst>
          </a:prstGeom>
          <a:solidFill>
            <a:srgbClr val="F1F3F5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857250" y="4276725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1677B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725" b="1">
                <a:solidFill>
                  <a:srgbClr val="1677B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Research gap</a:t>
            </a:r>
            <a:endParaRPr sz="1725" b="1">
              <a:solidFill>
                <a:srgbClr val="1677B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857250" y="4638675"/>
            <a:ext cx="990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025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25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Most systems model packet dynamics or cross-flow context — rarely both in one controlled hierarchy.</a:t>
            </a:r>
            <a:endParaRPr sz="2025" b="1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Rectangle 19"/>
          <p:cNvSpPr>
            <a:spLocks noGrp="1"/>
          </p:cNvSpPr>
          <p:nvPr/>
        </p:nvSpPr>
        <p:spPr>
          <a:xfrm>
            <a:off x="400050" y="285750"/>
            <a:ext cx="11144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85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85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thesis asks two questions at two traffic levels</a:t>
            </a:r>
            <a:endParaRPr sz="2850" b="1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11239500" y="6296025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75" b="0">
                <a:solidFill>
                  <a:srgbClr val="5E667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E667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04</a:t>
            </a:r>
            <a:endParaRPr sz="975" b="0">
              <a:solidFill>
                <a:srgbClr val="5E667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Rectangle: Rounded Corners 2"/>
          <p:cNvSpPr>
            <a:spLocks noGrp="1"/>
          </p:cNvSpPr>
          <p:nvPr/>
        </p:nvSpPr>
        <p:spPr>
          <a:xfrm>
            <a:off x="400050" y="1722755"/>
            <a:ext cx="5381625" cy="1809750"/>
          </a:xfrm>
          <a:prstGeom prst="roundRect">
            <a:avLst>
              <a:gd name="adj" fmla="val 4211"/>
            </a:avLst>
          </a:prstGeom>
          <a:solidFill>
            <a:srgbClr val="EAF6FC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66750" y="1913255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75" b="1">
                <a:solidFill>
                  <a:srgbClr val="1677B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1677B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RQ1 — INTRA-FLOW</a:t>
            </a:r>
            <a:endParaRPr sz="1875" b="1">
              <a:solidFill>
                <a:srgbClr val="1677B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666750" y="2341880"/>
            <a:ext cx="47625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725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Does time-aware packet-sequence modelling produce more informative flow representations than flow statistics alone?</a:t>
            </a:r>
            <a:endParaRPr sz="1725" b="1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Rectangle: Rounded Corners 5"/>
          <p:cNvSpPr>
            <a:spLocks noGrp="1"/>
          </p:cNvSpPr>
          <p:nvPr/>
        </p:nvSpPr>
        <p:spPr>
          <a:xfrm>
            <a:off x="6019800" y="1722755"/>
            <a:ext cx="5772150" cy="1809750"/>
          </a:xfrm>
          <a:prstGeom prst="roundRect">
            <a:avLst>
              <a:gd name="adj" fmla="val 4211"/>
            </a:avLst>
          </a:prstGeom>
          <a:solidFill>
            <a:srgbClr val="E8F5EE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6305550" y="1913255"/>
            <a:ext cx="266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75" b="1">
                <a:solidFill>
                  <a:srgbClr val="149B6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149B6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RQ2 — CROSS-FLOW</a:t>
            </a:r>
            <a:endParaRPr sz="1875" b="1">
              <a:solidFill>
                <a:srgbClr val="149B6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6305550" y="2341880"/>
            <a:ext cx="5048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725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Does incorporating cross-flow context improve flow-level intrusion detection compared with independent per-flow classification?</a:t>
            </a:r>
            <a:endParaRPr sz="1725" b="1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400050" y="3961130"/>
            <a:ext cx="238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175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75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Research logic</a:t>
            </a:r>
            <a:endParaRPr sz="2175" b="1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400050" y="4389755"/>
            <a:ext cx="1104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1677B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1677B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Packets → Stage 1 flow representation → Stage 2 start-time-ordered context → final prediction</a:t>
            </a:r>
            <a:endParaRPr sz="1800" b="1">
              <a:solidFill>
                <a:srgbClr val="1677B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" name="Rectangle 25"/>
          <p:cNvSpPr>
            <a:spLocks noGrp="1"/>
          </p:cNvSpPr>
          <p:nvPr/>
        </p:nvSpPr>
        <p:spPr>
          <a:xfrm>
            <a:off x="400050" y="285750"/>
            <a:ext cx="11144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85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85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dataset is large, chronological, and strongly imbalanced</a:t>
            </a:r>
            <a:endParaRPr sz="2850" b="1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11239500" y="6296025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75" b="0">
                <a:solidFill>
                  <a:srgbClr val="5E667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E667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05</a:t>
            </a:r>
            <a:endParaRPr sz="975" b="0">
              <a:solidFill>
                <a:srgbClr val="5E667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571500" y="1381125"/>
            <a:ext cx="2381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600" b="1">
                <a:solidFill>
                  <a:srgbClr val="1677B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600" b="1">
                <a:solidFill>
                  <a:srgbClr val="1677B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8.62 GB</a:t>
            </a:r>
            <a:endParaRPr sz="3600" b="1">
              <a:solidFill>
                <a:srgbClr val="1677B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571500" y="2047875"/>
            <a:ext cx="2381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0">
                <a:solidFill>
                  <a:srgbClr val="5E667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0">
                <a:solidFill>
                  <a:srgbClr val="5E667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enterprise PCAP</a:t>
            </a:r>
            <a:endParaRPr sz="1650" b="0">
              <a:solidFill>
                <a:srgbClr val="5E667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3667125" y="1381125"/>
            <a:ext cx="2381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600" b="1">
                <a:solidFill>
                  <a:srgbClr val="1677B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600" b="1">
                <a:solidFill>
                  <a:srgbClr val="1677B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11.75 M</a:t>
            </a:r>
            <a:endParaRPr sz="3600" b="1">
              <a:solidFill>
                <a:srgbClr val="1677B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3667125" y="2047875"/>
            <a:ext cx="2381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0">
                <a:solidFill>
                  <a:srgbClr val="5E667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0">
                <a:solidFill>
                  <a:srgbClr val="5E667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packet records</a:t>
            </a:r>
            <a:endParaRPr sz="1650" b="0">
              <a:solidFill>
                <a:srgbClr val="5E667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6762750" y="1381125"/>
            <a:ext cx="2381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600" b="1">
                <a:solidFill>
                  <a:srgbClr val="149B6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600" b="1">
                <a:solidFill>
                  <a:srgbClr val="149B6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421,898</a:t>
            </a:r>
            <a:endParaRPr sz="3600" b="1">
              <a:solidFill>
                <a:srgbClr val="149B6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6762750" y="2047875"/>
            <a:ext cx="2381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0">
                <a:solidFill>
                  <a:srgbClr val="5E667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0">
                <a:solidFill>
                  <a:srgbClr val="5E667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flow records</a:t>
            </a:r>
            <a:endParaRPr sz="1650" b="0">
              <a:solidFill>
                <a:srgbClr val="5E667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9525000" y="1381125"/>
            <a:ext cx="2095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600" b="1">
                <a:solidFill>
                  <a:srgbClr val="E9A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600" b="1">
                <a:solidFill>
                  <a:srgbClr val="E9A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3.945%</a:t>
            </a:r>
            <a:endParaRPr sz="3600" b="1">
              <a:solidFill>
                <a:srgbClr val="E9A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9525000" y="2047875"/>
            <a:ext cx="2095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0">
                <a:solidFill>
                  <a:srgbClr val="5E667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0">
                <a:solidFill>
                  <a:srgbClr val="5E667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class-1 prevalence</a:t>
            </a:r>
            <a:endParaRPr sz="1650" b="0">
              <a:solidFill>
                <a:srgbClr val="5E667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Rectangle: Rounded Corners 10"/>
          <p:cNvSpPr>
            <a:spLocks noGrp="1"/>
          </p:cNvSpPr>
          <p:nvPr/>
        </p:nvSpPr>
        <p:spPr>
          <a:xfrm>
            <a:off x="428625" y="3524250"/>
            <a:ext cx="1714500" cy="876300"/>
          </a:xfrm>
          <a:prstGeom prst="roundRect">
            <a:avLst>
              <a:gd name="adj" fmla="val 8696"/>
            </a:avLst>
          </a:prstGeom>
          <a:solidFill>
            <a:srgbClr val="F1F3F5"/>
          </a:solidFill>
          <a:ln w="9525">
            <a:solidFill>
              <a:srgbClr val="C8CDD4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523875" y="3619500"/>
            <a:ext cx="1524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PCAP</a:t>
            </a:r>
            <a:endParaRPr sz="1575" b="1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Arrow: Right 12"/>
          <p:cNvSpPr>
            <a:spLocks noGrp="1"/>
          </p:cNvSpPr>
          <p:nvPr/>
        </p:nvSpPr>
        <p:spPr>
          <a:xfrm>
            <a:off x="2143125" y="3781425"/>
            <a:ext cx="523875" cy="323850"/>
          </a:xfrm>
          <a:prstGeom prst="rightArrow">
            <a:avLst/>
          </a:prstGeom>
          <a:solidFill>
            <a:srgbClr val="1677B8"/>
          </a:solidFill>
          <a:ln w="0">
            <a:solidFill>
              <a:srgbClr val="1677B8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Rectangle: Rounded Corners 13"/>
          <p:cNvSpPr>
            <a:spLocks noGrp="1"/>
          </p:cNvSpPr>
          <p:nvPr/>
        </p:nvSpPr>
        <p:spPr>
          <a:xfrm>
            <a:off x="2714625" y="3524250"/>
            <a:ext cx="1714500" cy="876300"/>
          </a:xfrm>
          <a:prstGeom prst="roundRect">
            <a:avLst>
              <a:gd name="adj" fmla="val 8696"/>
            </a:avLst>
          </a:prstGeom>
          <a:solidFill>
            <a:srgbClr val="F1F3F5"/>
          </a:solidFill>
          <a:ln w="9525">
            <a:solidFill>
              <a:srgbClr val="C8CDD4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2809875" y="3619500"/>
            <a:ext cx="1524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Suricata +</a:t>
            </a:r>
            <a:endParaRPr sz="1575" b="1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buNone/>
              <a:defRPr sz="1575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custom logger</a:t>
            </a:r>
            <a:endParaRPr sz="1575" b="1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Arrow: Right 15"/>
          <p:cNvSpPr>
            <a:spLocks noGrp="1"/>
          </p:cNvSpPr>
          <p:nvPr/>
        </p:nvSpPr>
        <p:spPr>
          <a:xfrm>
            <a:off x="4429125" y="3781425"/>
            <a:ext cx="523875" cy="323850"/>
          </a:xfrm>
          <a:prstGeom prst="rightArrow">
            <a:avLst/>
          </a:prstGeom>
          <a:solidFill>
            <a:srgbClr val="1677B8"/>
          </a:solidFill>
          <a:ln w="0">
            <a:solidFill>
              <a:srgbClr val="1677B8"/>
            </a:solidFill>
            <a:prstDash val="solid"/>
          </a:ln>
        </p:spPr>
        <p:txBody>
          <a:bodyPr/>
          <a:lstStyle/>
          <a:p/>
        </p:txBody>
      </p:sp>
      <p:sp>
        <p:nvSpPr>
          <p:cNvPr id="17" name="Rectangle: Rounded Corners 16"/>
          <p:cNvSpPr>
            <a:spLocks noGrp="1"/>
          </p:cNvSpPr>
          <p:nvPr/>
        </p:nvSpPr>
        <p:spPr>
          <a:xfrm>
            <a:off x="5000625" y="3524250"/>
            <a:ext cx="1714500" cy="876300"/>
          </a:xfrm>
          <a:prstGeom prst="roundRect">
            <a:avLst>
              <a:gd name="adj" fmla="val 8696"/>
            </a:avLst>
          </a:prstGeom>
          <a:solidFill>
            <a:srgbClr val="F1F3F5"/>
          </a:solidFill>
          <a:ln w="9525">
            <a:solidFill>
              <a:srgbClr val="C8CDD4"/>
            </a:solidFill>
            <a:prstDash val="solid"/>
          </a:ln>
        </p:spPr>
        <p:txBody>
          <a:bodyPr/>
          <a:lstStyle/>
          <a:p/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5095875" y="3619500"/>
            <a:ext cx="1524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aligned packet</a:t>
            </a:r>
            <a:endParaRPr sz="1575" b="1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buNone/>
              <a:defRPr sz="1575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&amp; flow CSVs</a:t>
            </a:r>
            <a:endParaRPr sz="1575" b="1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" name="Arrow: Right 18"/>
          <p:cNvSpPr>
            <a:spLocks noGrp="1"/>
          </p:cNvSpPr>
          <p:nvPr/>
        </p:nvSpPr>
        <p:spPr>
          <a:xfrm>
            <a:off x="6715125" y="3781425"/>
            <a:ext cx="523875" cy="323850"/>
          </a:xfrm>
          <a:prstGeom prst="rightArrow">
            <a:avLst/>
          </a:prstGeom>
          <a:solidFill>
            <a:srgbClr val="1677B8"/>
          </a:solidFill>
          <a:ln w="0">
            <a:solidFill>
              <a:srgbClr val="1677B8"/>
            </a:solidFill>
            <a:prstDash val="solid"/>
          </a:ln>
        </p:spPr>
        <p:txBody>
          <a:bodyPr/>
          <a:lstStyle/>
          <a:p/>
        </p:txBody>
      </p:sp>
      <p:sp>
        <p:nvSpPr>
          <p:cNvPr id="20" name="Rectangle: Rounded Corners 19"/>
          <p:cNvSpPr>
            <a:spLocks noGrp="1"/>
          </p:cNvSpPr>
          <p:nvPr/>
        </p:nvSpPr>
        <p:spPr>
          <a:xfrm>
            <a:off x="7286625" y="3524250"/>
            <a:ext cx="1714500" cy="876300"/>
          </a:xfrm>
          <a:prstGeom prst="roundRect">
            <a:avLst>
              <a:gd name="adj" fmla="val 8696"/>
            </a:avLst>
          </a:prstGeom>
          <a:solidFill>
            <a:srgbClr val="F1F3F5"/>
          </a:solidFill>
          <a:ln w="9525">
            <a:solidFill>
              <a:srgbClr val="C8CDD4"/>
            </a:solidFill>
            <a:prstDash val="solid"/>
          </a:ln>
        </p:spPr>
        <p:txBody>
          <a:bodyPr/>
          <a:lstStyle/>
          <a:p/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7381875" y="3619500"/>
            <a:ext cx="1524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70 / 10 / 20%</a:t>
            </a:r>
            <a:endParaRPr sz="1575" b="1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buNone/>
              <a:defRPr sz="1575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chronological split</a:t>
            </a:r>
            <a:endParaRPr sz="1575" b="1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" name="Arrow: Right 21"/>
          <p:cNvSpPr>
            <a:spLocks noGrp="1"/>
          </p:cNvSpPr>
          <p:nvPr/>
        </p:nvSpPr>
        <p:spPr>
          <a:xfrm>
            <a:off x="9001125" y="3781425"/>
            <a:ext cx="523875" cy="323850"/>
          </a:xfrm>
          <a:prstGeom prst="rightArrow">
            <a:avLst/>
          </a:prstGeom>
          <a:solidFill>
            <a:srgbClr val="1677B8"/>
          </a:solidFill>
          <a:ln w="0">
            <a:solidFill>
              <a:srgbClr val="1677B8"/>
            </a:solidFill>
            <a:prstDash val="solid"/>
          </a:ln>
        </p:spPr>
        <p:txBody>
          <a:bodyPr/>
          <a:lstStyle/>
          <a:p/>
        </p:txBody>
      </p:sp>
      <p:sp>
        <p:nvSpPr>
          <p:cNvPr id="23" name="Rectangle: Rounded Corners 22"/>
          <p:cNvSpPr>
            <a:spLocks noGrp="1"/>
          </p:cNvSpPr>
          <p:nvPr/>
        </p:nvSpPr>
        <p:spPr>
          <a:xfrm>
            <a:off x="9572625" y="3524250"/>
            <a:ext cx="1714500" cy="876300"/>
          </a:xfrm>
          <a:prstGeom prst="roundRect">
            <a:avLst>
              <a:gd name="adj" fmla="val 8696"/>
            </a:avLst>
          </a:prstGeom>
          <a:solidFill>
            <a:srgbClr val="E8F5EE"/>
          </a:solidFill>
          <a:ln w="9525">
            <a:solidFill>
              <a:srgbClr val="149B6D"/>
            </a:solidFill>
            <a:prstDash val="solid"/>
          </a:ln>
        </p:spPr>
        <p:txBody>
          <a:bodyPr/>
          <a:lstStyle/>
          <a:p/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9667875" y="3619500"/>
            <a:ext cx="1524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model tensors</a:t>
            </a:r>
            <a:endParaRPr sz="1575" b="1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" name="Rectangle 24"/>
          <p:cNvSpPr>
            <a:spLocks noGrp="1"/>
          </p:cNvSpPr>
          <p:nvPr/>
        </p:nvSpPr>
        <p:spPr>
          <a:xfrm>
            <a:off x="571500" y="5334000"/>
            <a:ext cx="10668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75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Weak labels: class 1 means at least one Suricata alert in the flow.</a:t>
            </a:r>
            <a:endParaRPr sz="1875" b="1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Rectangle 4"/>
          <p:cNvSpPr>
            <a:spLocks noGrp="1"/>
          </p:cNvSpPr>
          <p:nvPr/>
        </p:nvSpPr>
        <p:spPr>
          <a:xfrm>
            <a:off x="400050" y="285750"/>
            <a:ext cx="11144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85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85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model preserves two levels of traffic structure</a:t>
            </a:r>
            <a:endParaRPr sz="2850" b="1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11239500" y="6296025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75" b="0">
                <a:solidFill>
                  <a:srgbClr val="5E667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E667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06</a:t>
            </a:r>
            <a:endParaRPr sz="975" b="0">
              <a:solidFill>
                <a:srgbClr val="5E667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9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875" y="1508489"/>
            <a:ext cx="11144250" cy="3936272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762000" y="5715000"/>
            <a:ext cx="1066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Stage 1 learns how a flow develops. Stage 2 asks whether earlier related flows change its meaning.</a:t>
            </a:r>
            <a:endParaRPr sz="1800" b="1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Rectangle 14"/>
          <p:cNvSpPr>
            <a:spLocks noGrp="1"/>
          </p:cNvSpPr>
          <p:nvPr/>
        </p:nvSpPr>
        <p:spPr>
          <a:xfrm>
            <a:off x="400050" y="285750"/>
            <a:ext cx="11144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85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85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Stage 1 encodes packet order and elapsed time separately</a:t>
            </a:r>
            <a:endParaRPr sz="2850" b="1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11239500" y="6296025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75" b="0">
                <a:solidFill>
                  <a:srgbClr val="5E667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E667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07</a:t>
            </a:r>
            <a:endParaRPr sz="975" b="0">
              <a:solidFill>
                <a:srgbClr val="5E667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19125" y="1476375"/>
            <a:ext cx="266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950" b="1">
                <a:solidFill>
                  <a:srgbClr val="1677B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950" b="1">
                <a:solidFill>
                  <a:srgbClr val="1677B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Packet position</a:t>
            </a:r>
            <a:endParaRPr sz="1950" b="1">
              <a:solidFill>
                <a:srgbClr val="1677B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19125" y="190500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0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0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Where does the packet occur?</a:t>
            </a:r>
            <a:endParaRPr sz="1650" b="0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619125" y="2428875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100" b="1">
                <a:solidFill>
                  <a:srgbClr val="1677B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>
                <a:solidFill>
                  <a:srgbClr val="1677B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1     2     3     4     5</a:t>
            </a:r>
            <a:endParaRPr sz="2100" b="1">
              <a:solidFill>
                <a:srgbClr val="1677B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4476750" y="1476375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950" b="1">
                <a:solidFill>
                  <a:srgbClr val="E9A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950" b="1">
                <a:solidFill>
                  <a:srgbClr val="E9A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Cumulative time</a:t>
            </a:r>
            <a:endParaRPr sz="1950" b="1">
              <a:solidFill>
                <a:srgbClr val="E9A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4476750" y="1905000"/>
            <a:ext cx="323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0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0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How much time has elapsed?</a:t>
            </a:r>
            <a:endParaRPr sz="1650" b="0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4476750" y="2428875"/>
            <a:ext cx="371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025" b="1">
                <a:solidFill>
                  <a:srgbClr val="E9A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25" b="1">
                <a:solidFill>
                  <a:srgbClr val="E9A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 μs   8 μs   13 μs        2.1 s</a:t>
            </a:r>
            <a:endParaRPr sz="2025" b="1">
              <a:solidFill>
                <a:srgbClr val="E9A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Arrow: Right 8"/>
          <p:cNvSpPr>
            <a:spLocks noGrp="1"/>
          </p:cNvSpPr>
          <p:nvPr/>
        </p:nvSpPr>
        <p:spPr>
          <a:xfrm>
            <a:off x="8382000" y="2428875"/>
            <a:ext cx="809625" cy="323850"/>
          </a:xfrm>
          <a:prstGeom prst="rightArrow">
            <a:avLst/>
          </a:prstGeom>
          <a:solidFill>
            <a:srgbClr val="1677B8"/>
          </a:solidFill>
          <a:ln w="0">
            <a:solidFill>
              <a:srgbClr val="1677B8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Rectangle: Rounded Corners 9"/>
          <p:cNvSpPr>
            <a:spLocks noGrp="1"/>
          </p:cNvSpPr>
          <p:nvPr/>
        </p:nvSpPr>
        <p:spPr>
          <a:xfrm>
            <a:off x="9429750" y="1857375"/>
            <a:ext cx="2143125" cy="1333500"/>
          </a:xfrm>
          <a:prstGeom prst="roundRect">
            <a:avLst>
              <a:gd name="adj" fmla="val 5714"/>
            </a:avLst>
          </a:prstGeom>
          <a:solidFill>
            <a:srgbClr val="EAF6FC"/>
          </a:solidFill>
          <a:ln w="9525">
            <a:solidFill>
              <a:srgbClr val="1677B8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9620250" y="2000250"/>
            <a:ext cx="1762125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75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Time-aware</a:t>
            </a:r>
            <a:endParaRPr sz="1875" b="1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buNone/>
              <a:defRPr sz="1875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sinusoidal</a:t>
            </a:r>
            <a:endParaRPr sz="1875" b="1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buNone/>
              <a:defRPr sz="1875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encoding</a:t>
            </a:r>
            <a:endParaRPr sz="1875" b="1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Rectangle: Rounded Corners 11"/>
          <p:cNvSpPr>
            <a:spLocks noGrp="1"/>
          </p:cNvSpPr>
          <p:nvPr/>
        </p:nvSpPr>
        <p:spPr>
          <a:xfrm>
            <a:off x="619125" y="3810000"/>
            <a:ext cx="10953750" cy="1333500"/>
          </a:xfrm>
          <a:prstGeom prst="roundRect">
            <a:avLst>
              <a:gd name="adj" fmla="val 5714"/>
            </a:avLst>
          </a:prstGeom>
          <a:solidFill>
            <a:srgbClr val="F1F3F5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904875" y="4048125"/>
            <a:ext cx="1809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75" b="1">
                <a:solidFill>
                  <a:srgbClr val="1677B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1677B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Why both?</a:t>
            </a:r>
            <a:endParaRPr sz="1875" b="1">
              <a:solidFill>
                <a:srgbClr val="1677B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904875" y="4476750"/>
            <a:ext cx="10096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95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95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Identical packet order can represent a burst or a slow interaction. Position and elapsed time provide complementary evidence.</a:t>
            </a:r>
            <a:endParaRPr sz="1950" b="1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Rectangle 7"/>
          <p:cNvSpPr>
            <a:spLocks noGrp="1"/>
          </p:cNvSpPr>
          <p:nvPr/>
        </p:nvSpPr>
        <p:spPr>
          <a:xfrm>
            <a:off x="400050" y="285750"/>
            <a:ext cx="11144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85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85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Stage 1: </a:t>
            </a:r>
            <a:r>
              <a:rPr sz="285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Intra-flow embedding learning</a:t>
            </a:r>
            <a:endParaRPr sz="2850" b="1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11239500" y="6296025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75" b="0">
                <a:solidFill>
                  <a:srgbClr val="5E667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E667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08</a:t>
            </a:r>
            <a:endParaRPr sz="975" b="0">
              <a:solidFill>
                <a:srgbClr val="5E667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12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5100" y="865505"/>
            <a:ext cx="6534150" cy="4667250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523875" y="58674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1677B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1677B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Stage 1 output</a:t>
            </a:r>
            <a:endParaRPr sz="1650" b="1">
              <a:solidFill>
                <a:srgbClr val="1677B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2333625" y="5867400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One fixed 128-dimensional embedding per flow</a:t>
            </a:r>
            <a:endParaRPr sz="1650" b="1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6477000" y="5867400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E9A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E9A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Key design</a:t>
            </a:r>
            <a:endParaRPr sz="1650" b="1">
              <a:solidFill>
                <a:srgbClr val="E9A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7905750" y="5867400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Flow statistics condition packet tokens through a bounded residual.</a:t>
            </a:r>
            <a:endParaRPr sz="1575" b="1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" name="Rectangle 30"/>
          <p:cNvSpPr>
            <a:spLocks noGrp="1"/>
          </p:cNvSpPr>
          <p:nvPr/>
        </p:nvSpPr>
        <p:spPr>
          <a:xfrm>
            <a:off x="400050" y="285750"/>
            <a:ext cx="11144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85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85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Stage 2: Start-time-ordered inter-flow modelling</a:t>
            </a:r>
            <a:endParaRPr sz="2850" b="1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11239500" y="6296025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75" b="0">
                <a:solidFill>
                  <a:srgbClr val="5E667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E667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09</a:t>
            </a:r>
            <a:endParaRPr sz="975" b="0">
              <a:solidFill>
                <a:srgbClr val="5E667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Rectangle: Rounded Corners 2"/>
          <p:cNvSpPr>
            <a:spLocks noGrp="1"/>
          </p:cNvSpPr>
          <p:nvPr/>
        </p:nvSpPr>
        <p:spPr>
          <a:xfrm>
            <a:off x="600075" y="1336675"/>
            <a:ext cx="1095375" cy="628650"/>
          </a:xfrm>
          <a:prstGeom prst="roundRect">
            <a:avLst>
              <a:gd name="adj" fmla="val 12121"/>
            </a:avLst>
          </a:prstGeom>
          <a:solidFill>
            <a:srgbClr val="E8F5EE"/>
          </a:solidFill>
          <a:ln w="9525">
            <a:solidFill>
              <a:srgbClr val="149B6D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76275" y="1431925"/>
            <a:ext cx="9429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z(t-4)</a:t>
            </a:r>
            <a:endParaRPr sz="1650" b="1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Rectangle: Rounded Corners 4"/>
          <p:cNvSpPr>
            <a:spLocks noGrp="1"/>
          </p:cNvSpPr>
          <p:nvPr/>
        </p:nvSpPr>
        <p:spPr>
          <a:xfrm>
            <a:off x="2124075" y="1336675"/>
            <a:ext cx="1095375" cy="628650"/>
          </a:xfrm>
          <a:prstGeom prst="roundRect">
            <a:avLst>
              <a:gd name="adj" fmla="val 12121"/>
            </a:avLst>
          </a:prstGeom>
          <a:solidFill>
            <a:srgbClr val="E8F5EE"/>
          </a:solidFill>
          <a:ln w="9525">
            <a:solidFill>
              <a:srgbClr val="149B6D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2200275" y="1431925"/>
            <a:ext cx="9429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z(t-3)</a:t>
            </a:r>
            <a:endParaRPr sz="1650" b="1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Rectangle: Rounded Corners 6"/>
          <p:cNvSpPr>
            <a:spLocks noGrp="1"/>
          </p:cNvSpPr>
          <p:nvPr/>
        </p:nvSpPr>
        <p:spPr>
          <a:xfrm>
            <a:off x="3648075" y="1336675"/>
            <a:ext cx="1095375" cy="628650"/>
          </a:xfrm>
          <a:prstGeom prst="roundRect">
            <a:avLst>
              <a:gd name="adj" fmla="val 12121"/>
            </a:avLst>
          </a:prstGeom>
          <a:solidFill>
            <a:srgbClr val="E8F5EE"/>
          </a:solidFill>
          <a:ln w="9525">
            <a:solidFill>
              <a:srgbClr val="149B6D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3724275" y="1431925"/>
            <a:ext cx="9429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z(t-2)</a:t>
            </a:r>
            <a:endParaRPr sz="1650" b="1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Rectangle: Rounded Corners 8"/>
          <p:cNvSpPr>
            <a:spLocks noGrp="1"/>
          </p:cNvSpPr>
          <p:nvPr/>
        </p:nvSpPr>
        <p:spPr>
          <a:xfrm>
            <a:off x="5172075" y="1336675"/>
            <a:ext cx="1095375" cy="628650"/>
          </a:xfrm>
          <a:prstGeom prst="roundRect">
            <a:avLst>
              <a:gd name="adj" fmla="val 12121"/>
            </a:avLst>
          </a:prstGeom>
          <a:solidFill>
            <a:srgbClr val="E8F5EE"/>
          </a:solidFill>
          <a:ln w="9525">
            <a:solidFill>
              <a:srgbClr val="149B6D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5248275" y="1431925"/>
            <a:ext cx="9429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z(t-1)</a:t>
            </a:r>
            <a:endParaRPr sz="1650" b="1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Arrow: Right 10"/>
          <p:cNvSpPr>
            <a:spLocks noGrp="1"/>
          </p:cNvSpPr>
          <p:nvPr/>
        </p:nvSpPr>
        <p:spPr>
          <a:xfrm>
            <a:off x="6457950" y="1479550"/>
            <a:ext cx="762000" cy="323850"/>
          </a:xfrm>
          <a:prstGeom prst="rightArrow">
            <a:avLst/>
          </a:prstGeom>
          <a:solidFill>
            <a:srgbClr val="149B6D"/>
          </a:solidFill>
          <a:ln w="0">
            <a:solidFill>
              <a:srgbClr val="149B6D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Rectangle: Rounded Corners 11"/>
          <p:cNvSpPr>
            <a:spLocks noGrp="1"/>
          </p:cNvSpPr>
          <p:nvPr/>
        </p:nvSpPr>
        <p:spPr>
          <a:xfrm>
            <a:off x="7505700" y="1098550"/>
            <a:ext cx="1905000" cy="1047750"/>
          </a:xfrm>
          <a:prstGeom prst="roundRect">
            <a:avLst>
              <a:gd name="adj" fmla="val 7273"/>
            </a:avLst>
          </a:prstGeom>
          <a:solidFill>
            <a:srgbClr val="FFF1D6"/>
          </a:solidFill>
          <a:ln w="9525">
            <a:solidFill>
              <a:srgbClr val="E9A000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7743825" y="1241425"/>
            <a:ext cx="1428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target z(t)</a:t>
            </a:r>
            <a:endParaRPr sz="1800" b="1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buNone/>
              <a:defRPr sz="180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= query</a:t>
            </a:r>
            <a:endParaRPr sz="1800" b="1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Arrow: Right 13"/>
          <p:cNvSpPr>
            <a:spLocks noGrp="1"/>
          </p:cNvSpPr>
          <p:nvPr/>
        </p:nvSpPr>
        <p:spPr>
          <a:xfrm>
            <a:off x="9601200" y="1479550"/>
            <a:ext cx="762000" cy="323850"/>
          </a:xfrm>
          <a:prstGeom prst="rightArrow">
            <a:avLst/>
          </a:prstGeom>
          <a:solidFill>
            <a:srgbClr val="1677B8"/>
          </a:solidFill>
          <a:ln w="0">
            <a:solidFill>
              <a:srgbClr val="1677B8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Rectangle: Rounded Corners 14"/>
          <p:cNvSpPr>
            <a:spLocks noGrp="1"/>
          </p:cNvSpPr>
          <p:nvPr/>
        </p:nvSpPr>
        <p:spPr>
          <a:xfrm>
            <a:off x="10553700" y="1193800"/>
            <a:ext cx="1095375" cy="857250"/>
          </a:xfrm>
          <a:prstGeom prst="roundRect">
            <a:avLst>
              <a:gd name="adj" fmla="val 8889"/>
            </a:avLst>
          </a:prstGeom>
          <a:solidFill>
            <a:srgbClr val="EAF6FC"/>
          </a:solidFill>
          <a:ln w="9525">
            <a:solidFill>
              <a:srgbClr val="1677B8"/>
            </a:solidFill>
            <a:prstDash val="solid"/>
          </a:ln>
        </p:spPr>
        <p:txBody>
          <a:bodyPr/>
          <a:lstStyle/>
          <a:p/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10696575" y="1317625"/>
            <a:ext cx="809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final</a:t>
            </a:r>
            <a:endParaRPr sz="1575" b="1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buNone/>
              <a:defRPr sz="1575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logits</a:t>
            </a:r>
            <a:endParaRPr sz="1575" b="1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600075" y="2571750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75" b="1">
                <a:solidFill>
                  <a:srgbClr val="149B6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149B6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Relation policies</a:t>
            </a:r>
            <a:endParaRPr sz="1875" b="1">
              <a:solidFill>
                <a:srgbClr val="149B6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600075" y="3048000"/>
            <a:ext cx="1476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Source host</a:t>
            </a:r>
            <a:endParaRPr sz="1575" b="1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600075" y="3343275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5E667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5E667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same</a:t>
            </a:r>
            <a:r>
              <a:rPr sz="1350" b="0">
                <a:solidFill>
                  <a:srgbClr val="5E667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t>source</a:t>
            </a:r>
            <a:endParaRPr sz="1350" b="0">
              <a:solidFill>
                <a:srgbClr val="5E667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3314700" y="3048000"/>
            <a:ext cx="2209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Destination host</a:t>
            </a:r>
            <a:endParaRPr sz="1575" b="1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3314700" y="3343275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5E667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5E667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same destination</a:t>
            </a:r>
            <a:endParaRPr sz="1350" b="0">
              <a:solidFill>
                <a:srgbClr val="5E667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600075" y="3714750"/>
            <a:ext cx="1476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Endpoint</a:t>
            </a:r>
            <a:endParaRPr sz="1575" b="1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600075" y="4010025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5E667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5E667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either endpoint</a:t>
            </a:r>
            <a:endParaRPr sz="1350" b="0">
              <a:solidFill>
                <a:srgbClr val="5E667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3314700" y="3714750"/>
            <a:ext cx="1476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Time only</a:t>
            </a:r>
            <a:endParaRPr sz="1575" b="1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" name="Rectangle 24"/>
          <p:cNvSpPr>
            <a:spLocks noGrp="1"/>
          </p:cNvSpPr>
          <p:nvPr/>
        </p:nvSpPr>
        <p:spPr>
          <a:xfrm>
            <a:off x="3314700" y="4010025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5E667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5E667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global recency</a:t>
            </a:r>
            <a:endParaRPr sz="1350" b="0">
              <a:solidFill>
                <a:srgbClr val="5E667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" name="Rectangle: Rounded Corners 25"/>
          <p:cNvSpPr>
            <a:spLocks noGrp="1"/>
          </p:cNvSpPr>
          <p:nvPr/>
        </p:nvSpPr>
        <p:spPr>
          <a:xfrm>
            <a:off x="6524625" y="4876800"/>
            <a:ext cx="5143500" cy="1304925"/>
          </a:xfrm>
          <a:prstGeom prst="roundRect">
            <a:avLst>
              <a:gd name="adj" fmla="val 5333"/>
            </a:avLst>
          </a:prstGeom>
          <a:solidFill>
            <a:srgbClr val="F1F3F5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27" name="Rectangle 26"/>
          <p:cNvSpPr>
            <a:spLocks noGrp="1"/>
          </p:cNvSpPr>
          <p:nvPr/>
        </p:nvSpPr>
        <p:spPr>
          <a:xfrm>
            <a:off x="6810375" y="4943475"/>
            <a:ext cx="3810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1677B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725" b="1">
                <a:solidFill>
                  <a:srgbClr val="1677B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Eligibility and masking</a:t>
            </a:r>
            <a:endParaRPr sz="1725" b="1">
              <a:solidFill>
                <a:srgbClr val="1677B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8" name="Rectangle 27"/>
          <p:cNvSpPr>
            <a:spLocks noGrp="1"/>
          </p:cNvSpPr>
          <p:nvPr/>
        </p:nvSpPr>
        <p:spPr>
          <a:xfrm>
            <a:off x="6810375" y="5343525"/>
            <a:ext cx="4476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earlier in stable start-time order</a:t>
            </a:r>
            <a:endParaRPr sz="1500" b="0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buNone/>
              <a:defRPr sz="1500" b="0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no future embeddings or historical labels</a:t>
            </a:r>
            <a:endParaRPr sz="1500" b="0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buNone/>
              <a:defRPr sz="1500" b="0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left padding excluded by the context mask</a:t>
            </a:r>
            <a:endParaRPr sz="1500" b="0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9" name="Rectangle: Rounded Corners 28"/>
          <p:cNvSpPr>
            <a:spLocks noGrp="1"/>
          </p:cNvSpPr>
          <p:nvPr/>
        </p:nvSpPr>
        <p:spPr>
          <a:xfrm>
            <a:off x="400050" y="5257800"/>
            <a:ext cx="5143500" cy="838200"/>
          </a:xfrm>
          <a:prstGeom prst="roundRect">
            <a:avLst>
              <a:gd name="adj" fmla="val 9091"/>
            </a:avLst>
          </a:prstGeom>
          <a:solidFill>
            <a:srgbClr val="FFF6E5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30" name="Rectangle 29"/>
          <p:cNvSpPr>
            <a:spLocks noGrp="1"/>
          </p:cNvSpPr>
          <p:nvPr/>
        </p:nvSpPr>
        <p:spPr>
          <a:xfrm>
            <a:off x="638175" y="5419725"/>
            <a:ext cx="4667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Scope: start-time ordered, but not yet strict flow-completion-time streaming.</a:t>
            </a:r>
            <a:endParaRPr sz="1575" b="1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63" name="图片 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8765" y="2449830"/>
            <a:ext cx="4914900" cy="21577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Rectangle 20"/>
          <p:cNvSpPr>
            <a:spLocks noGrp="1"/>
          </p:cNvSpPr>
          <p:nvPr/>
        </p:nvSpPr>
        <p:spPr>
          <a:xfrm>
            <a:off x="400050" y="285750"/>
            <a:ext cx="11144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85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85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Evaluation focuses on class balance and operational errors</a:t>
            </a:r>
            <a:endParaRPr sz="2850" b="1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11239500" y="6296025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75" b="0">
                <a:solidFill>
                  <a:srgbClr val="5E667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E667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</a:t>
            </a:r>
            <a:endParaRPr sz="975" b="0">
              <a:solidFill>
                <a:srgbClr val="5E667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Rectangle: Rounded Corners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23875" y="1562100"/>
            <a:ext cx="5334000" cy="1238250"/>
          </a:xfrm>
          <a:prstGeom prst="roundRect">
            <a:avLst>
              <a:gd name="adj" fmla="val 6154"/>
            </a:avLst>
          </a:prstGeom>
          <a:solidFill>
            <a:srgbClr val="EAF6FC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4" name="Rectangle 3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62000" y="1724025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75" b="1">
                <a:solidFill>
                  <a:srgbClr val="1677B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1677B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Macro-F1</a:t>
            </a:r>
            <a:endParaRPr sz="1875" b="1">
              <a:solidFill>
                <a:srgbClr val="1677B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Rectangle 4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762000" y="2124075"/>
            <a:ext cx="4762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Equal weight to class 0 and class 1</a:t>
            </a:r>
            <a:endParaRPr sz="1500" b="0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Rectangle: Rounded Corners 5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238875" y="1562100"/>
            <a:ext cx="5334000" cy="1238250"/>
          </a:xfrm>
          <a:prstGeom prst="roundRect">
            <a:avLst>
              <a:gd name="adj" fmla="val 6154"/>
            </a:avLst>
          </a:prstGeom>
          <a:solidFill>
            <a:srgbClr val="F1F3F5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7" name="Rectangle 6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477000" y="1724025"/>
            <a:ext cx="319976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Autofit/>
          </a:bodyPr>
          <a:lstStyle/>
          <a:p>
            <a:pPr algn="l">
              <a:buNone/>
              <a:defRPr sz="165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Average precision (AP)</a:t>
            </a:r>
            <a:endParaRPr sz="1650" b="1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Rectangle 7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477000" y="2124075"/>
            <a:ext cx="4762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Autofit/>
          </a:bodyPr>
          <a:lstStyle/>
          <a:p>
            <a:pPr algn="l">
              <a:buNone/>
              <a:defRPr sz="1500" b="0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Reported as PR-AUC in this thesis</a:t>
            </a:r>
            <a:endParaRPr sz="1500" b="0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Rectangle: Rounded Corners 8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523875" y="3394710"/>
            <a:ext cx="5334000" cy="1238250"/>
          </a:xfrm>
          <a:prstGeom prst="roundRect">
            <a:avLst>
              <a:gd name="adj" fmla="val 6154"/>
            </a:avLst>
          </a:prstGeom>
          <a:solidFill>
            <a:srgbClr val="F1F3F5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10" name="Rectangle 9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762000" y="3556635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75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Class-1 F1</a:t>
            </a:r>
            <a:endParaRPr sz="1875" b="1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Rectangle 10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762000" y="3956685"/>
            <a:ext cx="4762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Precision–recall balance at one threshold</a:t>
            </a:r>
            <a:endParaRPr sz="1500" b="0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Rectangle: Rounded Corners 11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6238875" y="3394710"/>
            <a:ext cx="5334000" cy="1238250"/>
          </a:xfrm>
          <a:prstGeom prst="roundRect">
            <a:avLst>
              <a:gd name="adj" fmla="val 6154"/>
            </a:avLst>
          </a:prstGeom>
          <a:solidFill>
            <a:srgbClr val="F1F3F5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13" name="Rectangle 12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6477000" y="3556635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75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FPR, FP, and FN</a:t>
            </a:r>
            <a:endParaRPr sz="1875" b="1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Rectangle 13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6477000" y="3956685"/>
            <a:ext cx="4762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False-</a:t>
            </a:r>
            <a:r>
              <a:rPr lang="en-US" sz="1500" b="0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positive</a:t>
            </a:r>
            <a:r>
              <a:rPr sz="1500" b="0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rate and absolute errors</a:t>
            </a:r>
            <a:endParaRPr sz="1500" b="0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" name="Rectangle: Rounded Corners 18"/>
          <p:cNvSpPr>
            <a:spLocks noGrp="1"/>
          </p:cNvSpPr>
          <p:nvPr/>
        </p:nvSpPr>
        <p:spPr>
          <a:xfrm>
            <a:off x="523875" y="5368290"/>
            <a:ext cx="11144250" cy="419100"/>
          </a:xfrm>
          <a:prstGeom prst="roundRect">
            <a:avLst>
              <a:gd name="adj" fmla="val 18182"/>
            </a:avLst>
          </a:prstGeom>
          <a:solidFill>
            <a:srgbClr val="F1F3F5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666750" y="5406390"/>
            <a:ext cx="1085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sz="1500" b="1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buNone/>
              <a:defRPr sz="150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Accuracy is secondary: </a:t>
            </a:r>
            <a:r>
              <a:rPr lang="en-US">
                <a:sym typeface="+mn-ea"/>
              </a:rPr>
              <a:t>A model can predict every flow as negative and still get about 96% accuracy.</a:t>
            </a:r>
            <a:endParaRPr lang="en-US">
              <a:sym typeface="+mn-ea"/>
            </a:endParaRPr>
          </a:p>
          <a:p>
            <a:pPr algn="ctr">
              <a:buNone/>
              <a:defRPr sz="150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.</a:t>
            </a:r>
            <a:endParaRPr sz="1500" b="1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Rectangle 7"/>
          <p:cNvSpPr>
            <a:spLocks noGrp="1"/>
          </p:cNvSpPr>
          <p:nvPr/>
        </p:nvSpPr>
        <p:spPr>
          <a:xfrm>
            <a:off x="400050" y="285750"/>
            <a:ext cx="11144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85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85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Stage 1 results: Position + time works best</a:t>
            </a:r>
            <a:endParaRPr sz="2850" b="1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11239500" y="6296025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75" b="0">
                <a:solidFill>
                  <a:srgbClr val="5E667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E667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11</a:t>
            </a:r>
            <a:endParaRPr sz="975" b="0">
              <a:solidFill>
                <a:srgbClr val="5E667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12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5740" y="1047750"/>
            <a:ext cx="6880519" cy="4762500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523875" y="59055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1677B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1677B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Position + time</a:t>
            </a:r>
            <a:endParaRPr sz="1650" b="1">
              <a:solidFill>
                <a:srgbClr val="1677B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2632075" y="5905500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Macro-F1 0.888  |  PR-AUC 0.856 </a:t>
            </a:r>
            <a:endParaRPr sz="1575" b="1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7604760" y="5905500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1">
                <a:solidFill>
                  <a:srgbClr val="E9A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E9A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vs. flow MLP</a:t>
            </a:r>
            <a:endParaRPr sz="1500" b="1">
              <a:solidFill>
                <a:srgbClr val="E9A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9262110" y="5909945"/>
            <a:ext cx="2501265" cy="3194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+0.112 macro-F1</a:t>
            </a:r>
            <a:endParaRPr sz="1425" b="1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Rectangle 9"/>
          <p:cNvSpPr>
            <a:spLocks noGrp="1"/>
          </p:cNvSpPr>
          <p:nvPr/>
        </p:nvSpPr>
        <p:spPr>
          <a:xfrm>
            <a:off x="400050" y="285750"/>
            <a:ext cx="11144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85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85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Stage 1: Flow-statistics conditioning works best</a:t>
            </a:r>
            <a:endParaRPr sz="2850" b="1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11239500" y="6296025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75" b="0">
                <a:solidFill>
                  <a:srgbClr val="5E667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E667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12</a:t>
            </a:r>
            <a:endParaRPr sz="975" b="0">
              <a:solidFill>
                <a:srgbClr val="5E667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14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921" y="1095375"/>
            <a:ext cx="10700157" cy="4619625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619125" y="5857875"/>
            <a:ext cx="114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1">
                <a:solidFill>
                  <a:srgbClr val="5E667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5E667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Scheme A</a:t>
            </a:r>
            <a:endParaRPr sz="1500" b="1">
              <a:solidFill>
                <a:srgbClr val="5E667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666875" y="5857875"/>
            <a:ext cx="200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0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0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repeat flow statistics</a:t>
            </a:r>
            <a:endParaRPr sz="1425" b="0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3620135" y="5869940"/>
            <a:ext cx="114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1">
                <a:solidFill>
                  <a:srgbClr val="5E667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5E667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Scheme B</a:t>
            </a:r>
            <a:endParaRPr sz="1500" b="1">
              <a:solidFill>
                <a:srgbClr val="5E667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4667885" y="5869940"/>
            <a:ext cx="1381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0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0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packet only</a:t>
            </a:r>
            <a:endParaRPr sz="1425" b="0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6240145" y="5869940"/>
            <a:ext cx="138049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1">
                <a:solidFill>
                  <a:srgbClr val="149B6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149B6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Scheme C</a:t>
            </a:r>
            <a:endParaRPr sz="1575" b="1">
              <a:solidFill>
                <a:srgbClr val="149B6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7525385" y="5869940"/>
            <a:ext cx="442023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macro-F1 0.895 | PR-AUC 0.876 | 267 FP | 293 FN</a:t>
            </a:r>
            <a:endParaRPr sz="1350" b="1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Rectangle 9"/>
          <p:cNvSpPr>
            <a:spLocks noGrp="1"/>
          </p:cNvSpPr>
          <p:nvPr/>
        </p:nvSpPr>
        <p:spPr>
          <a:xfrm>
            <a:off x="400050" y="285750"/>
            <a:ext cx="11144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85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85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Stage 1: More packets do not always help</a:t>
            </a:r>
            <a:endParaRPr sz="2850" b="1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11239500" y="6296025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75" b="0">
                <a:solidFill>
                  <a:srgbClr val="5E667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E667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13</a:t>
            </a:r>
            <a:endParaRPr sz="975" b="0">
              <a:solidFill>
                <a:srgbClr val="5E667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19125" y="5857875"/>
            <a:ext cx="114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1">
                <a:solidFill>
                  <a:srgbClr val="5E667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5E667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 = 128</a:t>
            </a:r>
            <a:endParaRPr sz="1500" b="1">
              <a:solidFill>
                <a:srgbClr val="5E667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666875" y="5857875"/>
            <a:ext cx="200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0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0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best observed balance</a:t>
            </a:r>
            <a:endParaRPr sz="1425" b="0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3620135" y="5869940"/>
            <a:ext cx="114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1">
                <a:solidFill>
                  <a:srgbClr val="5E667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5E667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Head</a:t>
            </a:r>
            <a:endParaRPr sz="1500" b="1">
              <a:solidFill>
                <a:srgbClr val="5E667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4667885" y="5869940"/>
            <a:ext cx="1381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0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0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deterministic early prefix</a:t>
            </a:r>
            <a:endParaRPr sz="1425" b="0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6240145" y="5869940"/>
            <a:ext cx="138049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1">
                <a:solidFill>
                  <a:srgbClr val="149B6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149B6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At L = 256</a:t>
            </a:r>
            <a:endParaRPr sz="1575" b="1">
              <a:solidFill>
                <a:srgbClr val="149B6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7525385" y="5869940"/>
            <a:ext cx="442023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+46 FP; lower macro-F1 and PR-AUC</a:t>
            </a:r>
            <a:endParaRPr sz="1350" b="1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921" y="1095375"/>
            <a:ext cx="10700157" cy="46196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Rectangle 5"/>
          <p:cNvSpPr>
            <a:spLocks noGrp="1"/>
          </p:cNvSpPr>
          <p:nvPr/>
        </p:nvSpPr>
        <p:spPr>
          <a:xfrm>
            <a:off x="400050" y="285750"/>
            <a:ext cx="11144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85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85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Stage 2: Source-host </a:t>
            </a:r>
            <a:r>
              <a:rPr sz="285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context</a:t>
            </a:r>
            <a:r>
              <a:rPr sz="285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gives the best balance</a:t>
            </a:r>
            <a:endParaRPr sz="2850" b="1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11239500" y="6296025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75" b="0">
                <a:solidFill>
                  <a:srgbClr val="5E667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E667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14</a:t>
            </a:r>
            <a:endParaRPr sz="975" b="0">
              <a:solidFill>
                <a:srgbClr val="5E667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10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024" y="1047750"/>
            <a:ext cx="11043952" cy="4762500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523875" y="590550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149B6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149B6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Source host</a:t>
            </a:r>
            <a:endParaRPr sz="1650" b="1">
              <a:solidFill>
                <a:srgbClr val="149B6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2238375" y="59055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macro-F1 0.92</a:t>
            </a:r>
            <a:r>
              <a:rPr sz="150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8</a:t>
            </a:r>
            <a:r>
              <a:rPr sz="150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|  PR-AUC 0.934  |  class-1 recall 0.85  |  FPR 0.54</a:t>
            </a:r>
            <a:r>
              <a:rPr sz="150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r>
              <a:rPr sz="150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%</a:t>
            </a:r>
            <a:endParaRPr sz="1500" b="1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Rectangle 7"/>
          <p:cNvSpPr>
            <a:spLocks noGrp="1"/>
          </p:cNvSpPr>
          <p:nvPr/>
        </p:nvSpPr>
        <p:spPr>
          <a:xfrm>
            <a:off x="400050" y="285750"/>
            <a:ext cx="11144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Autofit/>
          </a:bodyPr>
          <a:lstStyle/>
          <a:p>
            <a:pPr algn="l">
              <a:buNone/>
              <a:defRPr sz="285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85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Stage 2: Target-query attention reduces FP and FN</a:t>
            </a:r>
            <a:endParaRPr sz="2850" b="1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11239500" y="6296025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75" b="0">
                <a:solidFill>
                  <a:srgbClr val="5E667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E667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15</a:t>
            </a:r>
            <a:endParaRPr sz="975" b="0">
              <a:solidFill>
                <a:srgbClr val="5E667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12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3126" y="1047750"/>
            <a:ext cx="10705749" cy="4762500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523875" y="590550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1677B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1677B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Proposed model</a:t>
            </a:r>
            <a:endParaRPr sz="1650" b="1">
              <a:solidFill>
                <a:srgbClr val="1677B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2524125" y="5905500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macro-F1 0.92</a:t>
            </a:r>
            <a:r>
              <a:rPr sz="150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8</a:t>
            </a:r>
            <a:r>
              <a:rPr sz="150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|  class-1 F1 0.861  |  PR-AUC 0.934</a:t>
            </a:r>
            <a:endParaRPr sz="1500" b="1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8858250" y="590550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>
                <a:solidFill>
                  <a:srgbClr val="E9A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E9A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vs. vanilla Transformer</a:t>
            </a:r>
            <a:endParaRPr sz="1425" b="1">
              <a:solidFill>
                <a:srgbClr val="E9A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0763250" y="5905500"/>
            <a:ext cx="104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−177 FP, −117 FN</a:t>
            </a:r>
            <a:endParaRPr sz="1275" b="1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Rectangle 15"/>
          <p:cNvSpPr>
            <a:spLocks noGrp="1"/>
          </p:cNvSpPr>
          <p:nvPr/>
        </p:nvSpPr>
        <p:spPr>
          <a:xfrm>
            <a:off x="400050" y="285750"/>
            <a:ext cx="11144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85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85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External evaluation: Transfer varies across windows</a:t>
            </a:r>
            <a:endParaRPr sz="2850" b="1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11239500" y="6296025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75" b="0">
                <a:solidFill>
                  <a:srgbClr val="5E667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E667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16</a:t>
            </a:r>
            <a:endParaRPr sz="975" b="0">
              <a:solidFill>
                <a:srgbClr val="5E667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523875" y="1333500"/>
            <a:ext cx="619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1677B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725" b="1">
                <a:solidFill>
                  <a:srgbClr val="1677B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CICIDS2017 Wednesday: five non-overlapping 20,000-flow windows</a:t>
            </a:r>
            <a:endParaRPr sz="1725" b="1">
              <a:solidFill>
                <a:srgbClr val="1677B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7239000" y="1333500"/>
            <a:ext cx="3619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75" b="1">
                <a:solidFill>
                  <a:srgbClr val="149B6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149B6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Company cross-server</a:t>
            </a:r>
            <a:endParaRPr sz="1875" b="1">
              <a:solidFill>
                <a:srgbClr val="149B6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7239000" y="190500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0">
                <a:solidFill>
                  <a:srgbClr val="5E667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0">
                <a:solidFill>
                  <a:srgbClr val="5E667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38,513 flows</a:t>
            </a:r>
            <a:endParaRPr sz="1575" b="0">
              <a:solidFill>
                <a:srgbClr val="5E667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7239000" y="2381250"/>
            <a:ext cx="180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600" b="1">
                <a:solidFill>
                  <a:srgbClr val="E9A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600" b="1">
                <a:solidFill>
                  <a:srgbClr val="E9A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3.285%</a:t>
            </a:r>
            <a:endParaRPr sz="3600" b="1">
              <a:solidFill>
                <a:srgbClr val="E9A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9239250" y="2460625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5E667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5E667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positive prevalence</a:t>
            </a:r>
            <a:endParaRPr sz="1500" b="0">
              <a:solidFill>
                <a:srgbClr val="5E667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7239000" y="3286125"/>
            <a:ext cx="2000250" cy="4533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600" b="1">
                <a:solidFill>
                  <a:srgbClr val="149B6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600" b="1">
                <a:solidFill>
                  <a:srgbClr val="149B6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0.9026</a:t>
            </a:r>
            <a:endParaRPr sz="3600" b="1">
              <a:solidFill>
                <a:srgbClr val="149B6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9239250" y="3286125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5E667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5E667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macro-F1</a:t>
            </a:r>
            <a:endParaRPr sz="1500" b="0">
              <a:solidFill>
                <a:srgbClr val="5E667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7239000" y="4191000"/>
            <a:ext cx="1809750" cy="5232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600" b="1">
                <a:solidFill>
                  <a:srgbClr val="1677B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600" b="1">
                <a:solidFill>
                  <a:srgbClr val="1677B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0.8771</a:t>
            </a:r>
            <a:endParaRPr sz="3600" b="1">
              <a:solidFill>
                <a:srgbClr val="1677B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9239250" y="43434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5E667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5E667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PR-AUC</a:t>
            </a:r>
            <a:endParaRPr sz="1500" b="0">
              <a:solidFill>
                <a:srgbClr val="5E667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Rectangle: Rounded Corners 11"/>
          <p:cNvSpPr>
            <a:spLocks noGrp="1"/>
          </p:cNvSpPr>
          <p:nvPr/>
        </p:nvSpPr>
        <p:spPr>
          <a:xfrm>
            <a:off x="7000875" y="5095875"/>
            <a:ext cx="4572000" cy="952500"/>
          </a:xfrm>
          <a:prstGeom prst="roundRect">
            <a:avLst>
              <a:gd name="adj" fmla="val 8000"/>
            </a:avLst>
          </a:prstGeom>
          <a:solidFill>
            <a:srgbClr val="F1F3F5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7239000" y="51625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Autofit/>
          </a:bodyPr>
          <a:lstStyle/>
          <a:p>
            <a:pPr algn="l">
              <a:buNone/>
              <a:defRPr sz="1575" b="1">
                <a:solidFill>
                  <a:srgbClr val="1677B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1677B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Interpretation</a:t>
            </a:r>
            <a:endParaRPr sz="1575" b="1">
              <a:solidFill>
                <a:srgbClr val="1677B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7239000" y="5467350"/>
            <a:ext cx="4000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Autofit/>
          </a:bodyPr>
          <a:lstStyle/>
          <a:p>
            <a:pPr algn="l">
              <a:buNone/>
              <a:defRPr sz="1425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Useful transfer, but performance varies across time and environments.</a:t>
            </a:r>
            <a:endParaRPr sz="1425" b="1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aphicFrame>
        <p:nvGraphicFramePr>
          <p:cNvPr id="32" name="Table 29"/>
          <p:cNvGraphicFramePr/>
          <p:nvPr/>
        </p:nvGraphicFramePr>
        <p:xfrm>
          <a:off x="523875" y="2000250"/>
          <a:ext cx="6191250" cy="3714753"/>
        </p:xfrm>
        <a:graphic>
          <a:graphicData uri="http://schemas.openxmlformats.org/drawingml/2006/table">
            <a:tbl>
              <a:tblPr firstRow="1" bandRow="1"/>
              <a:tblGrid>
                <a:gridCol w="1381125"/>
                <a:gridCol w="1571625"/>
                <a:gridCol w="1571625"/>
                <a:gridCol w="1666875"/>
              </a:tblGrid>
              <a:tr h="530679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318"/>
                          </a:solidFill>
                        </a:rPr>
                        <a:t>Window</a:t>
                      </a:r>
                      <a:endParaRPr sz="1350" b="1">
                        <a:solidFill>
                          <a:srgbClr val="111318"/>
                        </a:solidFill>
                      </a:endParaRPr>
                    </a:p>
                  </a:txBody>
                  <a:tcPr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318"/>
                          </a:solidFill>
                        </a:rPr>
                        <a:t>Positive</a:t>
                      </a:r>
                      <a:endParaRPr sz="1350" b="1">
                        <a:solidFill>
                          <a:srgbClr val="111318"/>
                        </a:solidFill>
                      </a:endParaRPr>
                    </a:p>
                  </a:txBody>
                  <a:tcPr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318"/>
                          </a:solidFill>
                        </a:rPr>
                        <a:t>Macro-F1</a:t>
                      </a:r>
                      <a:endParaRPr sz="1350" b="1">
                        <a:solidFill>
                          <a:srgbClr val="111318"/>
                        </a:solidFill>
                      </a:endParaRPr>
                    </a:p>
                  </a:txBody>
                  <a:tcPr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318"/>
                          </a:solidFill>
                        </a:rPr>
                        <a:t>PR-AUC</a:t>
                      </a:r>
                      <a:endParaRPr sz="1350" b="1">
                        <a:solidFill>
                          <a:srgbClr val="111318"/>
                        </a:solidFill>
                      </a:endParaRPr>
                    </a:p>
                  </a:txBody>
                  <a:tcPr>
                    <a:solidFill>
                      <a:srgbClr val="EAF6FC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318"/>
                          </a:solidFill>
                        </a:rPr>
                        <a:t>w01</a:t>
                      </a:r>
                      <a:endParaRPr sz="1275">
                        <a:solidFill>
                          <a:srgbClr val="11131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318"/>
                          </a:solidFill>
                        </a:rPr>
                        <a:t>18.195%</a:t>
                      </a:r>
                      <a:endParaRPr sz="1275">
                        <a:solidFill>
                          <a:srgbClr val="11131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318"/>
                          </a:solidFill>
                        </a:rPr>
                        <a:t>0.9125</a:t>
                      </a:r>
                      <a:endParaRPr sz="1275">
                        <a:solidFill>
                          <a:srgbClr val="11131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318"/>
                          </a:solidFill>
                        </a:rPr>
                        <a:t>0.9088</a:t>
                      </a:r>
                      <a:endParaRPr sz="1275">
                        <a:solidFill>
                          <a:srgbClr val="111318"/>
                        </a:solidFill>
                      </a:endParaRPr>
                    </a:p>
                  </a:txBody>
                  <a:tcPr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318"/>
                          </a:solidFill>
                        </a:rPr>
                        <a:t>w02</a:t>
                      </a:r>
                      <a:endParaRPr sz="1275">
                        <a:solidFill>
                          <a:srgbClr val="11131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318"/>
                          </a:solidFill>
                        </a:rPr>
                        <a:t>13.515%</a:t>
                      </a:r>
                      <a:endParaRPr sz="1275">
                        <a:solidFill>
                          <a:srgbClr val="11131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318"/>
                          </a:solidFill>
                        </a:rPr>
                        <a:t>0.9226</a:t>
                      </a:r>
                      <a:endParaRPr sz="1275">
                        <a:solidFill>
                          <a:srgbClr val="11131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318"/>
                          </a:solidFill>
                        </a:rPr>
                        <a:t>0.9123</a:t>
                      </a:r>
                      <a:endParaRPr sz="1275">
                        <a:solidFill>
                          <a:srgbClr val="111318"/>
                        </a:solidFill>
                      </a:endParaRPr>
                    </a:p>
                  </a:txBody>
                  <a:tcPr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318"/>
                          </a:solidFill>
                        </a:rPr>
                        <a:t>w06</a:t>
                      </a:r>
                      <a:endParaRPr sz="1275">
                        <a:solidFill>
                          <a:srgbClr val="11131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318"/>
                          </a:solidFill>
                        </a:rPr>
                        <a:t>16.480%</a:t>
                      </a:r>
                      <a:endParaRPr sz="1275">
                        <a:solidFill>
                          <a:srgbClr val="11131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318"/>
                          </a:solidFill>
                        </a:rPr>
                        <a:t>0.8536</a:t>
                      </a:r>
                      <a:endParaRPr sz="1275">
                        <a:solidFill>
                          <a:srgbClr val="11131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318"/>
                          </a:solidFill>
                        </a:rPr>
                        <a:t>0.8906</a:t>
                      </a:r>
                      <a:endParaRPr sz="1275">
                        <a:solidFill>
                          <a:srgbClr val="111318"/>
                        </a:solidFill>
                      </a:endParaRPr>
                    </a:p>
                  </a:txBody>
                  <a:tcPr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318"/>
                          </a:solidFill>
                        </a:rPr>
                        <a:t>w07</a:t>
                      </a:r>
                      <a:endParaRPr sz="1275">
                        <a:solidFill>
                          <a:srgbClr val="11131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318"/>
                          </a:solidFill>
                        </a:rPr>
                        <a:t>13.340%</a:t>
                      </a:r>
                      <a:endParaRPr sz="1275">
                        <a:solidFill>
                          <a:srgbClr val="11131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318"/>
                          </a:solidFill>
                        </a:rPr>
                        <a:t>0.8640</a:t>
                      </a:r>
                      <a:endParaRPr sz="1275">
                        <a:solidFill>
                          <a:srgbClr val="11131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318"/>
                          </a:solidFill>
                        </a:rPr>
                        <a:t>0.8419</a:t>
                      </a:r>
                      <a:endParaRPr sz="1275">
                        <a:solidFill>
                          <a:srgbClr val="111318"/>
                        </a:solidFill>
                      </a:endParaRPr>
                    </a:p>
                  </a:txBody>
                  <a:tcPr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318"/>
                          </a:solidFill>
                        </a:rPr>
                        <a:t>w08</a:t>
                      </a:r>
                      <a:endParaRPr sz="1275">
                        <a:solidFill>
                          <a:srgbClr val="11131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318"/>
                          </a:solidFill>
                        </a:rPr>
                        <a:t>15.235%</a:t>
                      </a:r>
                      <a:endParaRPr sz="1275">
                        <a:solidFill>
                          <a:srgbClr val="11131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318"/>
                          </a:solidFill>
                        </a:rPr>
                        <a:t>0.9220</a:t>
                      </a:r>
                      <a:endParaRPr sz="1275">
                        <a:solidFill>
                          <a:srgbClr val="11131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318"/>
                          </a:solidFill>
                        </a:rPr>
                        <a:t>0.9397</a:t>
                      </a:r>
                      <a:endParaRPr sz="1275">
                        <a:solidFill>
                          <a:srgbClr val="111318"/>
                        </a:solidFill>
                      </a:endParaRPr>
                    </a:p>
                  </a:txBody>
                  <a:tcPr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318"/>
                          </a:solidFill>
                        </a:rPr>
                        <a:t>Pooled</a:t>
                      </a:r>
                      <a:endParaRPr sz="1275">
                        <a:solidFill>
                          <a:srgbClr val="11131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318"/>
                          </a:solidFill>
                        </a:rPr>
                        <a:t>15.353%</a:t>
                      </a:r>
                      <a:endParaRPr sz="1275">
                        <a:solidFill>
                          <a:srgbClr val="11131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318"/>
                          </a:solidFill>
                        </a:rPr>
                        <a:t>0.8966</a:t>
                      </a:r>
                      <a:endParaRPr sz="1275">
                        <a:solidFill>
                          <a:srgbClr val="11131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318"/>
                          </a:solidFill>
                        </a:rPr>
                        <a:t>—</a:t>
                      </a:r>
                      <a:endParaRPr sz="1275">
                        <a:solidFill>
                          <a:srgbClr val="111318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Rectangle 20"/>
          <p:cNvSpPr>
            <a:spLocks noGrp="1"/>
          </p:cNvSpPr>
          <p:nvPr/>
        </p:nvSpPr>
        <p:spPr>
          <a:xfrm>
            <a:off x="400050" y="285750"/>
            <a:ext cx="11144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85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85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evidence supports gains within a limited scope</a:t>
            </a:r>
            <a:endParaRPr sz="2850" b="1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11239500" y="6296025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75" b="0">
                <a:solidFill>
                  <a:srgbClr val="5E667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E667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17</a:t>
            </a:r>
            <a:endParaRPr sz="975" b="0">
              <a:solidFill>
                <a:srgbClr val="5E667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523875" y="1381125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025" b="1">
                <a:solidFill>
                  <a:srgbClr val="149B6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25" b="1">
                <a:solidFill>
                  <a:srgbClr val="149B6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What the evidence supports</a:t>
            </a:r>
            <a:endParaRPr sz="2025" b="1">
              <a:solidFill>
                <a:srgbClr val="149B6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523875" y="1952625"/>
            <a:ext cx="266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1677B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1677B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endParaRPr sz="1800" b="1">
              <a:solidFill>
                <a:srgbClr val="1677B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847725" y="1952625"/>
            <a:ext cx="4914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0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0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Packet order and elapsed time are complementary</a:t>
            </a:r>
            <a:endParaRPr sz="1650" b="0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23875" y="2524125"/>
            <a:ext cx="266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1677B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1677B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endParaRPr sz="1800" b="1">
              <a:solidFill>
                <a:srgbClr val="1677B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847725" y="2524125"/>
            <a:ext cx="4914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0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0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Flow statistics still add information</a:t>
            </a:r>
            <a:endParaRPr sz="1650" b="0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523875" y="3095625"/>
            <a:ext cx="266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1677B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1677B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endParaRPr sz="1800" b="1">
              <a:solidFill>
                <a:srgbClr val="1677B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847725" y="3095625"/>
            <a:ext cx="4914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0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0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Selective source-host context improves the tested detector</a:t>
            </a:r>
            <a:endParaRPr sz="1650" b="0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523875" y="3667125"/>
            <a:ext cx="266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1677B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1677B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endParaRPr sz="1800" b="1">
              <a:solidFill>
                <a:srgbClr val="1677B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847725" y="3667125"/>
            <a:ext cx="4914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0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0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External performance remains useful but variable</a:t>
            </a:r>
            <a:endParaRPr sz="1650" b="0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6477000" y="1381125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025" b="1">
                <a:solidFill>
                  <a:srgbClr val="E9A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25" b="1">
                <a:solidFill>
                  <a:srgbClr val="E9A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What it does not yet establish</a:t>
            </a:r>
            <a:endParaRPr sz="2025" b="1">
              <a:solidFill>
                <a:srgbClr val="E9A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6477000" y="1952625"/>
            <a:ext cx="266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1677B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1677B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endParaRPr sz="1800" b="1">
              <a:solidFill>
                <a:srgbClr val="1677B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6800850" y="1952625"/>
            <a:ext cx="4914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0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0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Independently verified attack ground truth</a:t>
            </a:r>
            <a:endParaRPr sz="1650" b="0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6477000" y="2524125"/>
            <a:ext cx="266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1677B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1677B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endParaRPr sz="1800" b="1">
              <a:solidFill>
                <a:srgbClr val="1677B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6800850" y="2524125"/>
            <a:ext cx="4914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0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Statistical significance across random seeds</a:t>
            </a:r>
            <a:endParaRPr sz="1650" b="0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6477000" y="3095625"/>
            <a:ext cx="266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1677B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1677B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endParaRPr sz="1800" b="1">
              <a:solidFill>
                <a:srgbClr val="1677B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6800850" y="3095625"/>
            <a:ext cx="4914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0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Strict availability based on flow completion</a:t>
            </a:r>
            <a:endParaRPr sz="1650" b="0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6477000" y="3667125"/>
            <a:ext cx="266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1677B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1677B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endParaRPr sz="1800" b="1">
              <a:solidFill>
                <a:srgbClr val="1677B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6800850" y="3667125"/>
            <a:ext cx="4914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0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0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Universal transfer across networks and attack families</a:t>
            </a:r>
            <a:endParaRPr sz="1650" b="0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Rectangle 5"/>
          <p:cNvSpPr>
            <a:spLocks noGrp="1"/>
          </p:cNvSpPr>
          <p:nvPr/>
        </p:nvSpPr>
        <p:spPr>
          <a:xfrm>
            <a:off x="400050" y="40005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1677B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1677B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Takeaway</a:t>
            </a:r>
            <a:endParaRPr sz="1800" b="1">
              <a:solidFill>
                <a:srgbClr val="1677B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400050" y="1571625"/>
            <a:ext cx="100012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435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435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Network traffic is hierarchical.</a:t>
            </a:r>
            <a:endParaRPr sz="4350" b="1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buNone/>
              <a:defRPr sz="435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435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detector should be too.</a:t>
            </a:r>
            <a:endParaRPr sz="4350" b="1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400050" y="4095750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025" b="1">
                <a:solidFill>
                  <a:srgbClr val="1677B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25" b="1">
                <a:solidFill>
                  <a:srgbClr val="1677B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Stage 1: how the flow develops</a:t>
            </a:r>
            <a:endParaRPr sz="2025" b="1">
              <a:solidFill>
                <a:srgbClr val="1677B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400050" y="4591050"/>
            <a:ext cx="9048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025" b="1">
                <a:solidFill>
                  <a:srgbClr val="149B6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25" b="1">
                <a:solidFill>
                  <a:srgbClr val="149B6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Stage 2: how earlier related flows can change its meaning</a:t>
            </a:r>
            <a:endParaRPr sz="2025" b="1">
              <a:solidFill>
                <a:srgbClr val="149B6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400050" y="5667375"/>
            <a:ext cx="285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55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550" b="1">
                <a:solidFill>
                  <a:srgbClr val="111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Questions?</a:t>
            </a:r>
            <a:endParaRPr sz="2550" b="1">
              <a:solidFill>
                <a:srgbClr val="111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41.8,&quot;left&quot;:41.25,&quot;top&quot;:123,&quot;width&quot;:870}"/>
</p:tagLst>
</file>

<file path=ppt/tags/tag2.xml><?xml version="1.0" encoding="utf-8"?>
<p:tagLst xmlns:p="http://schemas.openxmlformats.org/presentationml/2006/main">
  <p:tag name="KSO_WM_DIAGRAM_VIRTUALLY_FRAME" val="{&quot;height&quot;:241.8,&quot;left&quot;:41.25,&quot;top&quot;:123,&quot;width&quot;:870}"/>
</p:tagLst>
</file>

<file path=ppt/tags/tag3.xml><?xml version="1.0" encoding="utf-8"?>
<p:tagLst xmlns:p="http://schemas.openxmlformats.org/presentationml/2006/main">
  <p:tag name="KSO_WM_DIAGRAM_VIRTUALLY_FRAME" val="{&quot;height&quot;:241.8,&quot;left&quot;:41.25,&quot;top&quot;:123,&quot;width&quot;:870}"/>
</p:tagLst>
</file>

<file path=ppt/tags/tag4.xml><?xml version="1.0" encoding="utf-8"?>
<p:tagLst xmlns:p="http://schemas.openxmlformats.org/presentationml/2006/main">
  <p:tag name="KSO_WM_DIAGRAM_VIRTUALLY_FRAME" val="{&quot;height&quot;:241.8,&quot;left&quot;:41.25,&quot;top&quot;:123,&quot;width&quot;:870}"/>
</p:tagLst>
</file>

<file path=ppt/tags/tag5.xml><?xml version="1.0" encoding="utf-8"?>
<p:tagLst xmlns:p="http://schemas.openxmlformats.org/presentationml/2006/main">
  <p:tag name="KSO_WM_DIAGRAM_VIRTUALLY_FRAME" val="{&quot;height&quot;:241.8,&quot;left&quot;:41.25,&quot;top&quot;:123,&quot;width&quot;:870}"/>
</p:tagLst>
</file>

<file path=ppt/tags/tag6.xml><?xml version="1.0" encoding="utf-8"?>
<p:tagLst xmlns:p="http://schemas.openxmlformats.org/presentationml/2006/main">
  <p:tag name="KSO_WM_DIAGRAM_VIRTUALLY_FRAME" val="{&quot;height&quot;:241.8,&quot;left&quot;:41.25,&quot;top&quot;:123,&quot;width&quot;:870}"/>
</p:tagLst>
</file>

<file path=ppt/tags/tag7.xml><?xml version="1.0" encoding="utf-8"?>
<p:tagLst xmlns:p="http://schemas.openxmlformats.org/presentationml/2006/main">
  <p:tag name="KSO_WM_DIAGRAM_VIRTUALLY_FRAME" val="{&quot;height&quot;:241.8,&quot;left&quot;:41.25,&quot;top&quot;:123,&quot;width&quot;:870}"/>
</p:tagLst>
</file>

<file path=ppt/tags/tag8.xml><?xml version="1.0" encoding="utf-8"?>
<p:tagLst xmlns:p="http://schemas.openxmlformats.org/presentationml/2006/main">
  <p:tag name="KSO_WM_DIAGRAM_VIRTUALLY_FRAME" val="{&quot;height&quot;:241.8,&quot;left&quot;:41.25,&quot;top&quot;:123,&quot;width&quot;:870}"/>
</p:tagLst>
</file>

<file path=ppt/tags/tag9.xml><?xml version="1.0" encoding="utf-8"?>
<p:tagLst xmlns:p="http://schemas.openxmlformats.org/presentationml/2006/main">
  <p:tag name="KSO_WM_DIAGRAM_VIRTUALLY_FRAME" val="{&quot;height&quot;:241.8,&quot;left&quot;:41.25,&quot;top&quot;:123,&quot;width&quot;:870}"/>
</p:tagLst>
</file>

<file path=ppt/tags/tag10.xml><?xml version="1.0" encoding="utf-8"?>
<p:tagLst xmlns:p="http://schemas.openxmlformats.org/presentationml/2006/main">
  <p:tag name="KSO_WM_DIAGRAM_VIRTUALLY_FRAME" val="{&quot;height&quot;:241.8,&quot;left&quot;:41.25,&quot;top&quot;:123,&quot;width&quot;:870}"/>
</p:tagLst>
</file>

<file path=ppt/tags/tag11.xml><?xml version="1.0" encoding="utf-8"?>
<p:tagLst xmlns:p="http://schemas.openxmlformats.org/presentationml/2006/main">
  <p:tag name="KSO_WM_DIAGRAM_VIRTUALLY_FRAME" val="{&quot;height&quot;:241.8,&quot;left&quot;:41.25,&quot;top&quot;:123,&quot;width&quot;:870}"/>
</p:tagLst>
</file>

<file path=ppt/tags/tag12.xml><?xml version="1.0" encoding="utf-8"?>
<p:tagLst xmlns:p="http://schemas.openxmlformats.org/presentationml/2006/main">
  <p:tag name="KSO_WM_DIAGRAM_VIRTUALLY_FRAME" val="{&quot;height&quot;:241.8,&quot;left&quot;:41.25,&quot;top&quot;:123,&quot;width&quot;:870}"/>
</p:tagLst>
</file>

<file path=ppt/tags/tag13.xml><?xml version="1.0" encoding="utf-8"?>
<p:tagLst xmlns:p="http://schemas.openxmlformats.org/presentationml/2006/main">
  <p:tag name="commondata" val="eyJoZGlkIjoiOThjODJhZTBkYTBmOGVhZmFhYjYyN2ZiOGRkN2U1OGIifQ==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4958</Words>
  <Application>WPS 演示</Application>
  <PresentationFormat>Converted Presentation</PresentationFormat>
  <Paragraphs>406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Arial</vt:lpstr>
      <vt:lpstr>SimSun</vt:lpstr>
      <vt:lpstr>Wingdings</vt:lpstr>
      <vt:lpstr>Arial</vt:lpstr>
      <vt:lpstr>Arial Italic</vt:lpstr>
      <vt:lpstr>Microsoft YaHei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Xiaoyan Xiong</cp:lastModifiedBy>
  <cp:revision>10</cp:revision>
  <dcterms:created xsi:type="dcterms:W3CDTF">2026-08-25T10:48:18Z</dcterms:created>
  <dcterms:modified xsi:type="dcterms:W3CDTF">2026-08-25T17:31:07Z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868273B1F05C4A00B20E4AF467557E6C_12</vt:lpwstr>
  </property>
  <property fmtid="{D5CDD505-2E9C-101B-9397-08002B2CF9AE}" pid="3" name="KSOProductBuildVer">
    <vt:lpwstr>2052-12.1.0.18608</vt:lpwstr>
  </property>
</Properties>
</file>