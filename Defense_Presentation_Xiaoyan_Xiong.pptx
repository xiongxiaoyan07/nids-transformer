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e739a764b448fe" /><Relationship Type="http://schemas.openxmlformats.org/officeDocument/2006/relationships/extended-properties" Target="/docProps/app.xml" Id="R0bd188372f2846c4" /><Relationship Type="http://schemas.openxmlformats.org/officeDocument/2006/relationships/officeDocument" Target="/ppt/presentation.xml" Id="R310e449f3ba4475e" /></Relationships>
</file>

<file path=ppt/presentation.xml><?xml version="1.0" encoding="utf-8"?>
<p:presentation xmlns:p="http://schemas.openxmlformats.org/presentationml/2006/main">
  <p:sldMasterIdLst>
    <p:sldMasterId xmlns:r="http://schemas.openxmlformats.org/officeDocument/2006/relationships" id="2147483648" r:id="R6fa7735db0ef411e"/>
  </p:sldMasterIdLst>
  <p:notesMasterIdLst>
    <p:notesMasterId xmlns:r="http://schemas.openxmlformats.org/officeDocument/2006/relationships" r:id="Rdbe6842e89af4492"/>
  </p:notesMasterIdLst>
  <p:sldIdLst>
    <p:sldId xmlns:r="http://schemas.openxmlformats.org/officeDocument/2006/relationships" id="256" r:id="Rd658a38e2f484654"/>
    <p:sldId xmlns:r="http://schemas.openxmlformats.org/officeDocument/2006/relationships" id="257" r:id="R0cab37b3f61d4ee4"/>
    <p:sldId xmlns:r="http://schemas.openxmlformats.org/officeDocument/2006/relationships" id="258" r:id="R96cd3bea95564326"/>
    <p:sldId xmlns:r="http://schemas.openxmlformats.org/officeDocument/2006/relationships" id="259" r:id="R9e358bee81de483f"/>
    <p:sldId xmlns:r="http://schemas.openxmlformats.org/officeDocument/2006/relationships" id="260" r:id="R8373673e1a064dea"/>
    <p:sldId xmlns:r="http://schemas.openxmlformats.org/officeDocument/2006/relationships" id="261" r:id="Rd153f0fe92a648b2"/>
    <p:sldId xmlns:r="http://schemas.openxmlformats.org/officeDocument/2006/relationships" id="262" r:id="R68d88af40e904021"/>
    <p:sldId xmlns:r="http://schemas.openxmlformats.org/officeDocument/2006/relationships" id="263" r:id="R53b3c04c9a474a47"/>
    <p:sldId xmlns:r="http://schemas.openxmlformats.org/officeDocument/2006/relationships" id="264" r:id="R8c484ff23cfa4d86"/>
    <p:sldId xmlns:r="http://schemas.openxmlformats.org/officeDocument/2006/relationships" id="265" r:id="Ra4d1a9eaf6c4460d"/>
    <p:sldId xmlns:r="http://schemas.openxmlformats.org/officeDocument/2006/relationships" id="266" r:id="R363b46d86cec4fd7"/>
    <p:sldId xmlns:r="http://schemas.openxmlformats.org/officeDocument/2006/relationships" id="267" r:id="Refd1fd1012db4a26"/>
    <p:sldId xmlns:r="http://schemas.openxmlformats.org/officeDocument/2006/relationships" id="268" r:id="R974b6811acfe47b0"/>
    <p:sldId xmlns:r="http://schemas.openxmlformats.org/officeDocument/2006/relationships" id="269" r:id="R6c2b447e0b2240e4"/>
    <p:sldId xmlns:r="http://schemas.openxmlformats.org/officeDocument/2006/relationships" id="270" r:id="R41d77a66a3f64e66"/>
    <p:sldId xmlns:r="http://schemas.openxmlformats.org/officeDocument/2006/relationships" id="271" r:id="R37841d3de4bd4dc9"/>
    <p:sldId xmlns:r="http://schemas.openxmlformats.org/officeDocument/2006/relationships" id="272" r:id="Rfb8b43b02c1a4a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7bbe3c35a24c1f" /><Relationship Type="http://schemas.openxmlformats.org/officeDocument/2006/relationships/slideMaster" Target="/ppt/slideMasters/slideMaster1.xml" Id="R6fa7735db0ef411e" /><Relationship Type="http://schemas.openxmlformats.org/officeDocument/2006/relationships/notesMaster" Target="/ppt/notesMasters/notesMaster1.xml" Id="Rdbe6842e89af4492" /><Relationship Type="http://schemas.openxmlformats.org/officeDocument/2006/relationships/presProps" Target="/ppt/presProps.xml" Id="R3aadf4b4c3894915" /><Relationship Type="http://schemas.openxmlformats.org/officeDocument/2006/relationships/tableStyles" Target="/ppt/tableStyles.xml" Id="Rf45aa1c5b2f44d1f" /><Relationship Type="http://schemas.openxmlformats.org/officeDocument/2006/relationships/slide" Target="/ppt/slides/slide1.xml" Id="Rd658a38e2f484654" /><Relationship Type="http://schemas.openxmlformats.org/officeDocument/2006/relationships/slide" Target="/ppt/slides/slide2.xml" Id="R0cab37b3f61d4ee4" /><Relationship Type="http://schemas.openxmlformats.org/officeDocument/2006/relationships/slide" Target="/ppt/slides/slide3.xml" Id="R96cd3bea95564326" /><Relationship Type="http://schemas.openxmlformats.org/officeDocument/2006/relationships/slide" Target="/ppt/slides/slide4.xml" Id="R9e358bee81de483f" /><Relationship Type="http://schemas.openxmlformats.org/officeDocument/2006/relationships/slide" Target="/ppt/slides/slide5.xml" Id="R8373673e1a064dea" /><Relationship Type="http://schemas.openxmlformats.org/officeDocument/2006/relationships/slide" Target="/ppt/slides/slide6.xml" Id="Rd153f0fe92a648b2" /><Relationship Type="http://schemas.openxmlformats.org/officeDocument/2006/relationships/slide" Target="/ppt/slides/slide7.xml" Id="R68d88af40e904021" /><Relationship Type="http://schemas.openxmlformats.org/officeDocument/2006/relationships/slide" Target="/ppt/slides/slide8.xml" Id="R53b3c04c9a474a47" /><Relationship Type="http://schemas.openxmlformats.org/officeDocument/2006/relationships/slide" Target="/ppt/slides/slide9.xml" Id="R8c484ff23cfa4d86" /><Relationship Type="http://schemas.openxmlformats.org/officeDocument/2006/relationships/slide" Target="/ppt/slides/slide10.xml" Id="Ra4d1a9eaf6c4460d" /><Relationship Type="http://schemas.openxmlformats.org/officeDocument/2006/relationships/slide" Target="/ppt/slides/slide11.xml" Id="R363b46d86cec4fd7" /><Relationship Type="http://schemas.openxmlformats.org/officeDocument/2006/relationships/slide" Target="/ppt/slides/slide12.xml" Id="Refd1fd1012db4a26" /><Relationship Type="http://schemas.openxmlformats.org/officeDocument/2006/relationships/slide" Target="/ppt/slides/slide13.xml" Id="R974b6811acfe47b0" /><Relationship Type="http://schemas.openxmlformats.org/officeDocument/2006/relationships/slide" Target="/ppt/slides/slide14.xml" Id="R6c2b447e0b2240e4" /><Relationship Type="http://schemas.openxmlformats.org/officeDocument/2006/relationships/slide" Target="/ppt/slides/slide15.xml" Id="R41d77a66a3f64e66" /><Relationship Type="http://schemas.openxmlformats.org/officeDocument/2006/relationships/slide" Target="/ppt/slides/slide16.xml" Id="R37841d3de4bd4dc9" /><Relationship Type="http://schemas.openxmlformats.org/officeDocument/2006/relationships/slide" Target="/ppt/slides/slide17.xml" Id="Rfb8b43b02c1a4a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6cd43f31e445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753abd17cb404c" /><Relationship Type="http://schemas.openxmlformats.org/officeDocument/2006/relationships/notesMaster" Target="/ppt/notesMasters/notesMaster1.xml" Id="Rc32170df0c8c4f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be7287c5a4ae5" /><Relationship Type="http://schemas.openxmlformats.org/officeDocument/2006/relationships/notesMaster" Target="/ppt/notesMasters/notesMaster1.xml" Id="Rffa854996ecd41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a365870d1a4224" /><Relationship Type="http://schemas.openxmlformats.org/officeDocument/2006/relationships/notesMaster" Target="/ppt/notesMasters/notesMaster1.xml" Id="R3bd77d2d683748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c90dd041d44228" /><Relationship Type="http://schemas.openxmlformats.org/officeDocument/2006/relationships/notesMaster" Target="/ppt/notesMasters/notesMaster1.xml" Id="Rb7152a64bdaf42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728afb8e4c41ce" /><Relationship Type="http://schemas.openxmlformats.org/officeDocument/2006/relationships/notesMaster" Target="/ppt/notesMasters/notesMaster1.xml" Id="R4857c0a537b8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b9401070764ac4" /><Relationship Type="http://schemas.openxmlformats.org/officeDocument/2006/relationships/notesMaster" Target="/ppt/notesMasters/notesMaster1.xml" Id="R00cfec91dd794e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fe54fdcaf44a2f" /><Relationship Type="http://schemas.openxmlformats.org/officeDocument/2006/relationships/notesMaster" Target="/ppt/notesMasters/notesMaster1.xml" Id="Re7598d9a58be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8780dedcd04ac1" /><Relationship Type="http://schemas.openxmlformats.org/officeDocument/2006/relationships/notesMaster" Target="/ppt/notesMasters/notesMaster1.xml" Id="Rcb3b3a1a399240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d5dcfcc981426e" /><Relationship Type="http://schemas.openxmlformats.org/officeDocument/2006/relationships/notesMaster" Target="/ppt/notesMasters/notesMaster1.xml" Id="R73dac808e7094c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377f3c616d4898" /><Relationship Type="http://schemas.openxmlformats.org/officeDocument/2006/relationships/notesMaster" Target="/ppt/notesMasters/notesMaster1.xml" Id="R0e60d81c0cfc4c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996a0c8f0243a6" /><Relationship Type="http://schemas.openxmlformats.org/officeDocument/2006/relationships/notesMaster" Target="/ppt/notesMasters/notesMaster1.xml" Id="R49d611329c8d4b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567bb1869548d2" /><Relationship Type="http://schemas.openxmlformats.org/officeDocument/2006/relationships/notesMaster" Target="/ppt/notesMasters/notesMaster1.xml" Id="R20fe29d4c2bd48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58f29f64d14029" /><Relationship Type="http://schemas.openxmlformats.org/officeDocument/2006/relationships/notesMaster" Target="/ppt/notesMasters/notesMaster1.xml" Id="Rdca5bf8a444243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b8770b8c0145b0" /><Relationship Type="http://schemas.openxmlformats.org/officeDocument/2006/relationships/notesMaster" Target="/ppt/notesMasters/notesMaster1.xml" Id="R0c5c9f73661240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0ed930b8fe4678" /><Relationship Type="http://schemas.openxmlformats.org/officeDocument/2006/relationships/notesMaster" Target="/ppt/notesMasters/notesMaster1.xml" Id="Rd28bcb24e98e46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67186b8b7b4074" /><Relationship Type="http://schemas.openxmlformats.org/officeDocument/2006/relationships/notesMaster" Target="/ppt/notesMasters/notesMaster1.xml" Id="Rdc4e288ea7ab4d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6db92cce5349db" /><Relationship Type="http://schemas.openxmlformats.org/officeDocument/2006/relationships/notesMaster" Target="/ppt/notesMasters/notesMaster1.xml" Id="Rab281ea8d4c74f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and thank you for attending my thesis defense. My thesis investigates a hierarchical time-aware Transformer for flow-level network intrusion detection. The central idea is that network traffic has two levels of temporal structure: packets form a flow, and related flows form broader behaviour. I will first introduce the basic networking concepts, then explain the two-stage model, and finally present the evaluation results, limitations, and conclusions.</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discussing the model, I will define two basic concepts. A packet is one transmitted unit. It contains metadata such as a timestamp, source and destination, protocol, length, and control flags. A flow groups packets that belong to the same network conversation, normally using endpoint and protocol information. A flow is therefore a sequence, while flow statistics are summaries of that sequence. Traditional flow-based detectors usually keep only the summaries. My thesis asks what is lost when packet order and timing are compressed too early.</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network intrusion detection system monitors traffic and predicts whether activity is benign or suspicious. Signature engines such as Suricata are effective for known patterns, while learning-based systems can model broader regularities. However, there is a trade-off. Raw packets preserve detail but are expensive. Aggregate flows are scalable but remove ordering. Finally, classifying every flow independently ignores behaviours such as scanning, repeated login attempts, or coordinated connections. This motivates the research gap: packet-level structure and cross-flow context are usually studied separately.</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is organised around two questions. RQ1 asks whether a time-aware packet sequence produces a more informative representation than aggregate flow statistics alone. RQ2 asks whether historical context from related flows improves the final classification. The thesis contributes an aligned extraction pipeline, a time-aware Stage 1 encoder, a relation-aware Stage 2 model, and chronological evaluation on internal and external traffic.</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capture contains about 8.62 gigabytes of enterprise traffic. A custom Suricata output module extracts aligned packet and flow records in one pass. The result contains approximately 11.75 million packet rows and 421,898 flows. Only 3.945 percent of the flows have an alert-derived positive label, so accuracy alone would be misleading. Flows are sorted by start time and split chronologically into 70 percent training, 10 percent validation, and 20 percent testing. Importantly, these are weak labels: class one means that Suricata generated at least one alert in the flow; it is not independently verified attack ground truth.</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gives the full idea in one view. Stage 1 receives the ordered packet sequence and converts it into one fixed-length embedding per flow. Stage 2 treats these flow embeddings as tokens and adds historical context before producing the final benign-or-alert-associated prediction. The hierarchy therefore respects the natural structure: packets form flows, and related flows form behaviour.</a:t>
            </a:r>
          </a:p>
          <a:p xmlns:a="http://schemas.openxmlformats.org/drawingml/2006/main">
            <a:r>
              <a:t/>
            </a:r>
          </a:p>
          <a:p xmlns:a="http://schemas.openxmlformats.org/drawingml/2006/main">
            <a:r>
              <a:t>[Sources]</a:t>
            </a:r>
          </a:p>
          <a:p xmlns:a="http://schemas.openxmlformats.org/drawingml/2006/main">
            <a:r>
              <a:t>- Thesis Figure: overall framework, generated from the author's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 first projects every selected packet record into the model dimension. Standard positional encoding identifies ordinal order, but it cannot distinguish microseconds from seconds. I therefore reconstruct the inter-arrival intervals, accumulate elapsed time, apply logarithmic smoothing, and combine this coordinate with packet position in a sinusoidal encoding. The ablations later compare position only, time only, both, and no encoding.</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detailed architecture shows the complete pipeline. Stage 1 uses selected packet features, time-aware encoding, a separately encoded flow-statistics branch, a masked Transformer, and hybrid attention, mean, and max pooling. Flow statistics modulate packet tokens through a bounded residual. This prevents the aggregate vector from dominating the packet pathway. Stage 2 then builds a historical context, uses the target flow as the query, gates the retrieved summary, and predicts the final probability.</a:t>
            </a:r>
          </a:p>
          <a:p xmlns:a="http://schemas.openxmlformats.org/drawingml/2006/main">
            <a:r>
              <a:t/>
            </a:r>
          </a:p>
          <a:p xmlns:a="http://schemas.openxmlformats.org/drawingml/2006/main">
            <a:r>
              <a:t>[Sources]</a:t>
            </a:r>
          </a:p>
          <a:p xmlns:a="http://schemas.openxmlformats.org/drawingml/2006/main">
            <a:r>
              <a:t>- Thesis Figure: detailed architectural overview, created for the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target flow, Stage 2 retrieves earlier embeddings according to a relation. The tested relations are same source host, same destination host, shared endpoint, and global chronological recency. The target embedding provides one query over the historical keys and values. A learned gate controls how much context updates the current representation. I use only earlier items in stable start-time order and never retrieve historical labels. However, this is not yet strict streaming causality, because a long flow that started earlier may not have completed when the target begins.</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positive flows are rare, accuracy is not the primary metric. I emphasise macro-F1, class-one F1, average precision, false-positive rate, and absolute false-positive and false-negative counts. Checkpoints are selected using validation average precision, while the operating threshold is selected using validation class-one F1. The final test partition is used only after these choices are fixed. In the thesis logs this ranking metric is named PR-AUC, but technically it is scikit-learn average precision.</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 1 comparison uses a common controlled test manifest. The position-plus-time Transformer achieves the strongest overall balance, with macro-F1 of 0.8882 and average precision of 0.8564. It exceeds the flow-statistics MLP, recurrent models, convolutional models, and the encoding ablations. Time-only is stronger than position-only, while using both is strongest, supporting the claim that ordinal location and elapsed time are complementary.</a:t>
            </a:r>
          </a:p>
          <a:p xmlns:a="http://schemas.openxmlformats.org/drawingml/2006/main">
            <a:r>
              <a:t/>
            </a:r>
          </a:p>
          <a:p xmlns:a="http://schemas.openxmlformats.org/drawingml/2006/main">
            <a:r>
              <a:t>[Sources]</a:t>
            </a:r>
          </a:p>
          <a:p xmlns:a="http://schemas.openxmlformats.org/drawingml/2006/main">
            <a:r>
              <a:t>- Thesis results: Stage 1 model comparison on the common controlled test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ablation compares three ways to combine packet and flow information. Scheme A repeats the aggregate vector at every packet. Scheme B uses packets only. Scheme C encodes the aggregate vector once and uses bounded token modulation. Scheme C reaches macro-F1 of 0.8954 and average precision of 0.8763, while also reducing both false positives and false negatives. The careful conclusion is that a separate statistical pathway is useful; because parameter counts also change, the entire gain cannot be assigned to FiLM alone.</a:t>
            </a:r>
          </a:p>
          <a:p xmlns:a="http://schemas.openxmlformats.org/drawingml/2006/main">
            <a:r>
              <a:t/>
            </a:r>
          </a:p>
          <a:p xmlns:a="http://schemas.openxmlformats.org/drawingml/2006/main">
            <a:r>
              <a:t>[Sources]</a:t>
            </a:r>
          </a:p>
          <a:p xmlns:a="http://schemas.openxmlformats.org/drawingml/2006/main">
            <a:r>
              <a:t>- Thesis results: Stage 1 packet and flow-statistics integration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Stage 2, the source-host relation gives the strongest combined result. It has the highest macro-F1 and average precision and the lowest false-positive rate among the tested relations. Endpoint context recovers more positive flows, but it also generates more false positives. Global time-only context is less selective. This does not prove that source history is optimal for every attack family; binary weak labels cannot identify which attack mechanisms benefit.</a:t>
            </a:r>
          </a:p>
          <a:p xmlns:a="http://schemas.openxmlformats.org/drawingml/2006/main">
            <a:r>
              <a:t/>
            </a:r>
          </a:p>
          <a:p xmlns:a="http://schemas.openxmlformats.org/drawingml/2006/main">
            <a:r>
              <a:t>[Sources]</a:t>
            </a:r>
          </a:p>
          <a:p xmlns:a="http://schemas.openxmlformats.org/drawingml/2006/main">
            <a:r>
              <a:t>- Thesis results: Stage 2 context-relation ablation at window size 128.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comparison fixes the Stage 1 embeddings, context relation, window, objective, and evaluation protocol. The proposed target-query model obtains macro-F1 of 0.9275, class-one F1 of 0.8610, and average precision of 0.9345. It reduces both error types compared with the vanilla Transformer. Nevertheless, the no-context head is much smaller, and other baselines are not parameter matched. The result supports the integrated architecture, but it is not a pure causal estimate of historical context alone.</a:t>
            </a:r>
          </a:p>
          <a:p xmlns:a="http://schemas.openxmlformats.org/drawingml/2006/main">
            <a:r>
              <a:t/>
            </a:r>
          </a:p>
          <a:p xmlns:a="http://schemas.openxmlformats.org/drawingml/2006/main">
            <a:r>
              <a:t>[Sources]</a:t>
            </a:r>
          </a:p>
          <a:p xmlns:a="http://schemas.openxmlformats.org/drawingml/2006/main">
            <a:r>
              <a:t>- Thesis results: Stage 2 architecture comparison on the common full-data test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External evaluation applies the source-trained model without retraining or threshold adjustment. Across five non-overlapping CICIDS2017 Wednesday windows, pooled macro-F1 is 0.8966, while individual windows range from 0.8536 to 0.9226. A separate company server capture reaches macro-F1 of 0.9026 and average precision of 0.8771. These results demonstrate useful discrimination outside the source capture, but the variation shows that transfer is not invariant across time or environment.</a:t>
            </a:r>
          </a:p>
          <a:p xmlns:a="http://schemas.openxmlformats.org/drawingml/2006/main">
            <a:r>
              <a:t/>
            </a:r>
          </a:p>
          <a:p xmlns:a="http://schemas.openxmlformats.org/drawingml/2006/main">
            <a:r>
              <a:t>[Sources]</a:t>
            </a:r>
          </a:p>
          <a:p xmlns:a="http://schemas.openxmlformats.org/drawingml/2006/main">
            <a:r>
              <a:t>- Thesis external-evaluation tables: five CICIDS2017 windows and one company cross-server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four conclusions. Packet order and elapsed time contribute complementary information. Aggregate statistics remain useful when they condition rather than replace packet evidence. Selective source-host history improves the evaluated detector. Finally, discrimination transfers to the two external sources, although unevenly. The thesis does not establish independently verified attack ground truth, strict online availability, statistical significance across seeds, or universal cross-network generalisation. These limitations define the next experiments rather than invalidating the observed results.</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network traffic is naturally hierarchical, and the detector benefits from respecting that hierarchy. Stage 1 models how a flow develops internally through packet order and elapsed time. Stage 2 asks how earlier related flows change the interpretation of the target. Together, these two levels improve alert-associated flow classification in the evaluated settings. Thank you for your attention. I welcome your questions.</a:t>
            </a:r>
          </a:p>
          <a:p xmlns:a="http://schemas.openxmlformats.org/drawingml/2006/main">
            <a:r>
              <a:t/>
            </a:r>
          </a:p>
          <a:p xmlns:a="http://schemas.openxmlformats.org/drawingml/2006/main">
            <a:r>
              <a:t>[Sources]</a:t>
            </a:r>
          </a:p>
          <a:p xmlns:a="http://schemas.openxmlformats.org/drawingml/2006/main">
            <a:r>
              <a:t>- Thesis: A Hierarchical Time-Aware Transformer for Flow-Level Network Intrusion Detection, Xiaoyan Xiong,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ad6bbe200844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78adf56f3c4903" /><Relationship Type="http://schemas.openxmlformats.org/officeDocument/2006/relationships/slideLayout" Target="/ppt/slideLayouts/slideLayout1.xml" Id="Re192ce22b0a941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92ce22b0a941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05e5276bf84806" /><Relationship Type="http://schemas.openxmlformats.org/officeDocument/2006/relationships/notesSlide" Target="/ppt/notesSlides/notesSlide1.xml" Id="Rcca6f74ebe1c43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65e74da9594433" /><Relationship Type="http://schemas.openxmlformats.org/officeDocument/2006/relationships/notesSlide" Target="/ppt/notesSlides/notesSlide2.xml" Id="R0b69badcfe3a40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2d275e8a7b4c25" /><Relationship Type="http://schemas.openxmlformats.org/officeDocument/2006/relationships/notesSlide" Target="/ppt/notesSlides/notesSlide3.xml" Id="R3fb202e1625849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4975be1b2d4214" /><Relationship Type="http://schemas.openxmlformats.org/officeDocument/2006/relationships/notesSlide" Target="/ppt/notesSlides/notesSlide4.xml" Id="R34256755345c48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1cae8211bf44ea" /><Relationship Type="http://schemas.openxmlformats.org/officeDocument/2006/relationships/notesSlide" Target="/ppt/notesSlides/notesSlide5.xml" Id="Rd7bedfe550ec44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0c2c4fead64dc0" /><Relationship Type="http://schemas.openxmlformats.org/officeDocument/2006/relationships/image" Target="/ppt/media/image.png" Id="R666fff1af63b468a" /><Relationship Type="http://schemas.openxmlformats.org/officeDocument/2006/relationships/notesSlide" Target="/ppt/notesSlides/notesSlide6.xml" Id="R8597f779071b48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9546f7927a4cdf" /><Relationship Type="http://schemas.openxmlformats.org/officeDocument/2006/relationships/notesSlide" Target="/ppt/notesSlides/notesSlide7.xml" Id="R672c891b9b284e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f740f719c54c83" /><Relationship Type="http://schemas.openxmlformats.org/officeDocument/2006/relationships/image" Target="/ppt/media/image2.png" Id="R694f119ccaf44052" /><Relationship Type="http://schemas.openxmlformats.org/officeDocument/2006/relationships/notesSlide" Target="/ppt/notesSlides/notesSlide8.xml" Id="Reb6bb54a6ff044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b806ce263e4589" /><Relationship Type="http://schemas.openxmlformats.org/officeDocument/2006/relationships/notesSlide" Target="/ppt/notesSlides/notesSlide9.xml" Id="R140bb7136fd142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98afff81a24658" /><Relationship Type="http://schemas.openxmlformats.org/officeDocument/2006/relationships/notesSlide" Target="/ppt/notesSlides/notesSlide10.xml" Id="R0d017b06c0994f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5b8f5ae3a343a3" /><Relationship Type="http://schemas.openxmlformats.org/officeDocument/2006/relationships/image" Target="/ppt/media/image3.png" Id="R9868c102104e4ac2" /><Relationship Type="http://schemas.openxmlformats.org/officeDocument/2006/relationships/notesSlide" Target="/ppt/notesSlides/notesSlide11.xml" Id="Rd32eb6b0764748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507f59b44a4fe6" /><Relationship Type="http://schemas.openxmlformats.org/officeDocument/2006/relationships/image" Target="/ppt/media/image4.png" Id="R4daf4b2eacb44ab7" /><Relationship Type="http://schemas.openxmlformats.org/officeDocument/2006/relationships/notesSlide" Target="/ppt/notesSlides/notesSlide12.xml" Id="Rbb01e9d874a743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f778fcf6a24d00" /><Relationship Type="http://schemas.openxmlformats.org/officeDocument/2006/relationships/image" Target="/ppt/media/image5.png" Id="Rd74f70a23f4b41fb" /><Relationship Type="http://schemas.openxmlformats.org/officeDocument/2006/relationships/notesSlide" Target="/ppt/notesSlides/notesSlide13.xml" Id="R2e24abfed06a43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d3add179424262" /><Relationship Type="http://schemas.openxmlformats.org/officeDocument/2006/relationships/image" Target="/ppt/media/image6.png" Id="R8f50dbb2ac1840c9" /><Relationship Type="http://schemas.openxmlformats.org/officeDocument/2006/relationships/notesSlide" Target="/ppt/notesSlides/notesSlide14.xml" Id="R3bad6b8b4fb44d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573a59e47d4f77" /><Relationship Type="http://schemas.openxmlformats.org/officeDocument/2006/relationships/notesSlide" Target="/ppt/notesSlides/notesSlide15.xml" Id="Rd003ce6f07394e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1bd80aa21064a49" /><Relationship Type="http://schemas.openxmlformats.org/officeDocument/2006/relationships/notesSlide" Target="/ppt/notesSlides/notesSlide16.xml" Id="Rf29c78466d044b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df127c19d514dbe" /><Relationship Type="http://schemas.openxmlformats.org/officeDocument/2006/relationships/notesSlide" Target="/ppt/notesSlides/notesSlide17.xml" Id="R5076e35e0ec1400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3B000E-94CC-4B10-BBCE-0A738013F867}"/>
              </a:ext>
            </a:extLst>
          </p:cNvPr>
          <p:cNvSpPr>
            <a:spLocks xmlns:a="http://schemas.openxmlformats.org/drawingml/2006/main" noGrp="1"/>
          </p:cNvSpPr>
          <p:nvPr/>
        </p:nvSpPr>
        <p:spPr>
          <a:xfrm xmlns:a="http://schemas.openxmlformats.org/drawingml/2006/main">
            <a:off x="400050" y="4000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MSc Thesis Defense</a:t>
            </a:r>
          </a:p>
        </p:txBody>
      </p:sp>
      <p:sp>
        <p:nvSpPr>
          <p:cNvPr id="2" name="">
            <a:extLst xmlns:a="http://schemas.openxmlformats.org/drawingml/2006/main">
              <a:ext uri="{FF2B5EF4-FFF2-40B4-BE49-F238E27FC236}">
                <a16:creationId xmlns:a16="http://schemas.microsoft.com/office/drawing/2014/main" id="{8A026FFB-922B-46F9-88BC-E59D528A901B}"/>
              </a:ext>
            </a:extLst>
          </p:cNvPr>
          <p:cNvSpPr>
            <a:spLocks xmlns:a="http://schemas.openxmlformats.org/drawingml/2006/main" noGrp="1"/>
          </p:cNvSpPr>
          <p:nvPr/>
        </p:nvSpPr>
        <p:spPr>
          <a:xfrm xmlns:a="http://schemas.openxmlformats.org/drawingml/2006/main">
            <a:off x="400050" y="1428750"/>
            <a:ext cx="8858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11318"/>
                </a:solidFill>
                <a:latin typeface="Arial"/>
                <a:ea typeface="Arial"/>
                <a:cs typeface="Arial"/>
              </a:defRPr>
            </a:pPr>
            <a:r>
              <a:rPr sz="4200" b="1">
                <a:solidFill>
                  <a:srgbClr val="111318"/>
                </a:solidFill>
                <a:latin typeface="Arial"/>
                <a:ea typeface="Arial"/>
                <a:cs typeface="Arial"/>
              </a:rPr>
              <a:t>A Hierarchical Time-Aware</a:t>
            </a:r>
          </a:p>
          <a:p xmlns:a="http://schemas.openxmlformats.org/drawingml/2006/main">
            <a:pPr algn="l">
              <a:defRPr sz="4200" b="1">
                <a:solidFill>
                  <a:srgbClr val="111318"/>
                </a:solidFill>
                <a:latin typeface="Arial"/>
                <a:ea typeface="Arial"/>
                <a:cs typeface="Arial"/>
              </a:defRPr>
            </a:pPr>
            <a:r>
              <a:rPr sz="4200" b="1">
                <a:solidFill>
                  <a:srgbClr val="111318"/>
                </a:solidFill>
                <a:latin typeface="Arial"/>
                <a:ea typeface="Arial"/>
                <a:cs typeface="Arial"/>
              </a:rPr>
              <a:t>Transformer for Flow-Level</a:t>
            </a:r>
          </a:p>
          <a:p xmlns:a="http://schemas.openxmlformats.org/drawingml/2006/main">
            <a:pPr algn="l">
              <a:defRPr sz="4200" b="1">
                <a:solidFill>
                  <a:srgbClr val="111318"/>
                </a:solidFill>
                <a:latin typeface="Arial"/>
                <a:ea typeface="Arial"/>
                <a:cs typeface="Arial"/>
              </a:defRPr>
            </a:pPr>
            <a:r>
              <a:rPr sz="4200" b="1">
                <a:solidFill>
                  <a:srgbClr val="111318"/>
                </a:solidFill>
                <a:latin typeface="Arial"/>
                <a:ea typeface="Arial"/>
                <a:cs typeface="Arial"/>
              </a:rPr>
              <a:t>Network Intrusion Detection</a:t>
            </a:r>
          </a:p>
        </p:txBody>
      </p:sp>
      <p:sp>
        <p:nvSpPr>
          <p:cNvPr id="3" name="">
            <a:extLst xmlns:a="http://schemas.openxmlformats.org/drawingml/2006/main">
              <a:ext uri="{FF2B5EF4-FFF2-40B4-BE49-F238E27FC236}">
                <a16:creationId xmlns:a16="http://schemas.microsoft.com/office/drawing/2014/main" id="{1491F0F4-9D80-4112-92BA-79C1BAD302D2}"/>
              </a:ext>
            </a:extLst>
          </p:cNvPr>
          <p:cNvSpPr>
            <a:spLocks xmlns:a="http://schemas.openxmlformats.org/drawingml/2006/main" noGrp="1"/>
          </p:cNvSpPr>
          <p:nvPr/>
        </p:nvSpPr>
        <p:spPr>
          <a:xfrm xmlns:a="http://schemas.openxmlformats.org/drawingml/2006/main">
            <a:off x="400050" y="495300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5E6673"/>
                </a:solidFill>
                <a:latin typeface="Arial"/>
                <a:ea typeface="Arial"/>
                <a:cs typeface="Arial"/>
              </a:defRPr>
            </a:pPr>
            <a:r>
              <a:rPr sz="1875" b="0">
                <a:solidFill>
                  <a:srgbClr val="5E6673"/>
                </a:solidFill>
                <a:latin typeface="Arial"/>
                <a:ea typeface="Arial"/>
                <a:cs typeface="Arial"/>
              </a:rPr>
              <a:t>Xiaoyan Xiong  |  Supervisor: Le Viet Duc</a:t>
            </a:r>
          </a:p>
        </p:txBody>
      </p:sp>
      <p:sp>
        <p:nvSpPr>
          <p:cNvPr id="4" name="">
            <a:extLst xmlns:a="http://schemas.openxmlformats.org/drawingml/2006/main">
              <a:ext uri="{FF2B5EF4-FFF2-40B4-BE49-F238E27FC236}">
                <a16:creationId xmlns:a16="http://schemas.microsoft.com/office/drawing/2014/main" id="{586A9B25-8A34-46DD-BD87-0EF043BEE16B}"/>
              </a:ext>
            </a:extLst>
          </p:cNvPr>
          <p:cNvSpPr>
            <a:spLocks xmlns:a="http://schemas.openxmlformats.org/drawingml/2006/main" noGrp="1"/>
          </p:cNvSpPr>
          <p:nvPr/>
        </p:nvSpPr>
        <p:spPr>
          <a:xfrm xmlns:a="http://schemas.openxmlformats.org/drawingml/2006/main">
            <a:off x="400050" y="5543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25-minute defense</a:t>
            </a:r>
          </a:p>
        </p:txBody>
      </p:sp>
    </p:spTree>
    <p:extLst>
      <p:ext uri="{BB962C8B-B14F-4D97-AF65-F5344CB8AC3E}">
        <p14:creationId xmlns:p14="http://schemas.microsoft.com/office/powerpoint/2010/main" val="3337172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94626CD-B67C-4AEE-9D40-D1883402EA60}"/>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A packet is one transmitted unit; a flow is a conversation</a:t>
            </a:r>
          </a:p>
        </p:txBody>
      </p:sp>
      <p:sp>
        <p:nvSpPr>
          <p:cNvPr id="2" name="">
            <a:extLst xmlns:a="http://schemas.openxmlformats.org/drawingml/2006/main">
              <a:ext uri="{FF2B5EF4-FFF2-40B4-BE49-F238E27FC236}">
                <a16:creationId xmlns:a16="http://schemas.microsoft.com/office/drawing/2014/main" id="{FA0436AA-C6FE-4796-85B4-C69FED0DEDD8}"/>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9008E1A-DF68-4A03-8C16-3D7EC6BDCF0A}"/>
              </a:ext>
            </a:extLst>
          </p:cNvPr>
          <p:cNvSpPr>
            <a:spLocks xmlns:a="http://schemas.openxmlformats.org/drawingml/2006/main" noGrp="1"/>
          </p:cNvSpPr>
          <p:nvPr/>
        </p:nvSpPr>
        <p:spPr>
          <a:xfrm xmlns:a="http://schemas.openxmlformats.org/drawingml/2006/main">
            <a:off x="666750" y="128587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677B8"/>
                </a:solidFill>
                <a:latin typeface="Arial"/>
                <a:ea typeface="Arial"/>
                <a:cs typeface="Arial"/>
              </a:defRPr>
            </a:pPr>
            <a:r>
              <a:rPr sz="2100" b="1">
                <a:solidFill>
                  <a:srgbClr val="1677B8"/>
                </a:solidFill>
                <a:latin typeface="Arial"/>
                <a:ea typeface="Arial"/>
                <a:cs typeface="Arial"/>
              </a:rPr>
              <a:t>PACKET</a:t>
            </a:r>
          </a:p>
        </p:txBody>
      </p:sp>
      <p:sp>
        <p:nvSpPr>
          <p:cNvPr id="4" name="">
            <a:extLst xmlns:a="http://schemas.openxmlformats.org/drawingml/2006/main">
              <a:ext uri="{FF2B5EF4-FFF2-40B4-BE49-F238E27FC236}">
                <a16:creationId xmlns:a16="http://schemas.microsoft.com/office/drawing/2014/main" id="{926358A0-5AC3-4B04-B303-5B233C7D1FB6}"/>
              </a:ext>
            </a:extLst>
          </p:cNvPr>
          <p:cNvSpPr>
            <a:spLocks xmlns:a="http://schemas.openxmlformats.org/drawingml/2006/main" noGrp="1"/>
          </p:cNvSpPr>
          <p:nvPr/>
        </p:nvSpPr>
        <p:spPr>
          <a:xfrm xmlns:a="http://schemas.openxmlformats.org/drawingml/2006/main">
            <a:off x="666750" y="1762125"/>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111318"/>
                </a:solidFill>
                <a:latin typeface="Arial"/>
                <a:ea typeface="Arial"/>
                <a:cs typeface="Arial"/>
              </a:defRPr>
            </a:pPr>
            <a:r>
              <a:rPr sz="1800" b="0">
                <a:solidFill>
                  <a:srgbClr val="111318"/>
                </a:solidFill>
                <a:latin typeface="Arial"/>
                <a:ea typeface="Arial"/>
                <a:cs typeface="Arial"/>
              </a:rPr>
              <a:t>A single unit sent across a network</a:t>
            </a:r>
          </a:p>
        </p:txBody>
      </p:sp>
      <p:sp>
        <p:nvSpPr>
          <p:cNvPr id="5" name="">
            <a:extLst xmlns:a="http://schemas.openxmlformats.org/drawingml/2006/main">
              <a:ext uri="{FF2B5EF4-FFF2-40B4-BE49-F238E27FC236}">
                <a16:creationId xmlns:a16="http://schemas.microsoft.com/office/drawing/2014/main" id="{0E100235-1512-43C2-B803-A58C5C961F81}"/>
              </a:ext>
            </a:extLst>
          </p:cNvPr>
          <p:cNvSpPr>
            <a:spLocks xmlns:a="http://schemas.openxmlformats.org/drawingml/2006/main" noGrp="1"/>
          </p:cNvSpPr>
          <p:nvPr/>
        </p:nvSpPr>
        <p:spPr>
          <a:xfrm xmlns:a="http://schemas.openxmlformats.org/drawingml/2006/main">
            <a:off x="666750" y="2524125"/>
            <a:ext cx="904875" cy="685800"/>
          </a:xfrm>
          <a:prstGeom xmlns:a="http://schemas.openxmlformats.org/drawingml/2006/main" prst="roundRect">
            <a:avLst>
              <a:gd name="adj" fmla="val 11111"/>
            </a:avLst>
          </a:prstGeom>
          <a:solidFill xmlns:a="http://schemas.openxmlformats.org/drawingml/2006/main">
            <a:srgbClr val="EAF6FC"/>
          </a:solidFill>
          <a:ln xmlns:a="http://schemas.openxmlformats.org/drawingml/2006/main" w="9525">
            <a:solidFill>
              <a:srgbClr val="1677B8"/>
            </a:solidFill>
            <a:prstDash val="solid"/>
          </a:ln>
        </p:spPr>
      </p:sp>
      <p:sp>
        <p:nvSpPr>
          <p:cNvPr id="6" name="">
            <a:extLst xmlns:a="http://schemas.openxmlformats.org/drawingml/2006/main">
              <a:ext uri="{FF2B5EF4-FFF2-40B4-BE49-F238E27FC236}">
                <a16:creationId xmlns:a16="http://schemas.microsoft.com/office/drawing/2014/main" id="{5931DB68-A4F0-48F8-9F43-F3E97AAFF1FD}"/>
              </a:ext>
            </a:extLst>
          </p:cNvPr>
          <p:cNvSpPr>
            <a:spLocks xmlns:a="http://schemas.openxmlformats.org/drawingml/2006/main" noGrp="1"/>
          </p:cNvSpPr>
          <p:nvPr/>
        </p:nvSpPr>
        <p:spPr>
          <a:xfrm xmlns:a="http://schemas.openxmlformats.org/drawingml/2006/main">
            <a:off x="723900" y="260032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11318"/>
                </a:solidFill>
                <a:latin typeface="Arial"/>
                <a:ea typeface="Arial"/>
                <a:cs typeface="Arial"/>
              </a:defRPr>
            </a:pPr>
            <a:r>
              <a:rPr sz="1200" b="1">
                <a:solidFill>
                  <a:srgbClr val="111318"/>
                </a:solidFill>
                <a:latin typeface="Arial"/>
                <a:ea typeface="Arial"/>
                <a:cs typeface="Arial"/>
              </a:rPr>
              <a:t>timestamp</a:t>
            </a:r>
          </a:p>
        </p:txBody>
      </p:sp>
      <p:sp>
        <p:nvSpPr>
          <p:cNvPr id="7" name="">
            <a:extLst xmlns:a="http://schemas.openxmlformats.org/drawingml/2006/main">
              <a:ext uri="{FF2B5EF4-FFF2-40B4-BE49-F238E27FC236}">
                <a16:creationId xmlns:a16="http://schemas.microsoft.com/office/drawing/2014/main" id="{18D43F48-5287-4CE2-B871-3236292DBBA2}"/>
              </a:ext>
            </a:extLst>
          </p:cNvPr>
          <p:cNvSpPr>
            <a:spLocks xmlns:a="http://schemas.openxmlformats.org/drawingml/2006/main" noGrp="1"/>
          </p:cNvSpPr>
          <p:nvPr/>
        </p:nvSpPr>
        <p:spPr>
          <a:xfrm xmlns:a="http://schemas.openxmlformats.org/drawingml/2006/main">
            <a:off x="1733550" y="2524125"/>
            <a:ext cx="904875" cy="685800"/>
          </a:xfrm>
          <a:prstGeom xmlns:a="http://schemas.openxmlformats.org/drawingml/2006/main" prst="roundRect">
            <a:avLst>
              <a:gd name="adj" fmla="val 11111"/>
            </a:avLst>
          </a:prstGeom>
          <a:solidFill xmlns:a="http://schemas.openxmlformats.org/drawingml/2006/main">
            <a:srgbClr val="DCEFFC"/>
          </a:solidFill>
          <a:ln xmlns:a="http://schemas.openxmlformats.org/drawingml/2006/main" w="9525">
            <a:solidFill>
              <a:srgbClr val="1677B8"/>
            </a:solidFill>
            <a:prstDash val="solid"/>
          </a:ln>
        </p:spPr>
      </p:sp>
      <p:sp>
        <p:nvSpPr>
          <p:cNvPr id="8" name="">
            <a:extLst xmlns:a="http://schemas.openxmlformats.org/drawingml/2006/main">
              <a:ext uri="{FF2B5EF4-FFF2-40B4-BE49-F238E27FC236}">
                <a16:creationId xmlns:a16="http://schemas.microsoft.com/office/drawing/2014/main" id="{BD399FFD-0C12-4ECB-ABDB-11550E878912}"/>
              </a:ext>
            </a:extLst>
          </p:cNvPr>
          <p:cNvSpPr>
            <a:spLocks xmlns:a="http://schemas.openxmlformats.org/drawingml/2006/main" noGrp="1"/>
          </p:cNvSpPr>
          <p:nvPr/>
        </p:nvSpPr>
        <p:spPr>
          <a:xfrm xmlns:a="http://schemas.openxmlformats.org/drawingml/2006/main">
            <a:off x="1790700" y="260032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11318"/>
                </a:solidFill>
                <a:latin typeface="Arial"/>
                <a:ea typeface="Arial"/>
                <a:cs typeface="Arial"/>
              </a:defRPr>
            </a:pPr>
            <a:r>
              <a:rPr sz="1200" b="1">
                <a:solidFill>
                  <a:srgbClr val="111318"/>
                </a:solidFill>
                <a:latin typeface="Arial"/>
                <a:ea typeface="Arial"/>
                <a:cs typeface="Arial"/>
              </a:rPr>
              <a:t>source / destination</a:t>
            </a:r>
          </a:p>
        </p:txBody>
      </p:sp>
      <p:sp>
        <p:nvSpPr>
          <p:cNvPr id="9" name="">
            <a:extLst xmlns:a="http://schemas.openxmlformats.org/drawingml/2006/main">
              <a:ext uri="{FF2B5EF4-FFF2-40B4-BE49-F238E27FC236}">
                <a16:creationId xmlns:a16="http://schemas.microsoft.com/office/drawing/2014/main" id="{4F323DB2-EF59-43ED-960E-156AB98A9B37}"/>
              </a:ext>
            </a:extLst>
          </p:cNvPr>
          <p:cNvSpPr>
            <a:spLocks xmlns:a="http://schemas.openxmlformats.org/drawingml/2006/main" noGrp="1"/>
          </p:cNvSpPr>
          <p:nvPr/>
        </p:nvSpPr>
        <p:spPr>
          <a:xfrm xmlns:a="http://schemas.openxmlformats.org/drawingml/2006/main">
            <a:off x="2800350" y="2524125"/>
            <a:ext cx="904875" cy="685800"/>
          </a:xfrm>
          <a:prstGeom xmlns:a="http://schemas.openxmlformats.org/drawingml/2006/main" prst="roundRect">
            <a:avLst>
              <a:gd name="adj" fmla="val 11111"/>
            </a:avLst>
          </a:prstGeom>
          <a:solidFill xmlns:a="http://schemas.openxmlformats.org/drawingml/2006/main">
            <a:srgbClr val="EAF6FC"/>
          </a:solidFill>
          <a:ln xmlns:a="http://schemas.openxmlformats.org/drawingml/2006/main" w="9525">
            <a:solidFill>
              <a:srgbClr val="1677B8"/>
            </a:solidFill>
            <a:prstDash val="solid"/>
          </a:ln>
        </p:spPr>
      </p:sp>
      <p:sp>
        <p:nvSpPr>
          <p:cNvPr id="10" name="">
            <a:extLst xmlns:a="http://schemas.openxmlformats.org/drawingml/2006/main">
              <a:ext uri="{FF2B5EF4-FFF2-40B4-BE49-F238E27FC236}">
                <a16:creationId xmlns:a16="http://schemas.microsoft.com/office/drawing/2014/main" id="{BC84AC0A-A912-4A36-819C-D4104CF54F0D}"/>
              </a:ext>
            </a:extLst>
          </p:cNvPr>
          <p:cNvSpPr>
            <a:spLocks xmlns:a="http://schemas.openxmlformats.org/drawingml/2006/main" noGrp="1"/>
          </p:cNvSpPr>
          <p:nvPr/>
        </p:nvSpPr>
        <p:spPr>
          <a:xfrm xmlns:a="http://schemas.openxmlformats.org/drawingml/2006/main">
            <a:off x="2857500" y="260032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11318"/>
                </a:solidFill>
                <a:latin typeface="Arial"/>
                <a:ea typeface="Arial"/>
                <a:cs typeface="Arial"/>
              </a:defRPr>
            </a:pPr>
            <a:r>
              <a:rPr sz="1200" b="1">
                <a:solidFill>
                  <a:srgbClr val="111318"/>
                </a:solidFill>
                <a:latin typeface="Arial"/>
                <a:ea typeface="Arial"/>
                <a:cs typeface="Arial"/>
              </a:rPr>
              <a:t>protocol</a:t>
            </a:r>
          </a:p>
        </p:txBody>
      </p:sp>
      <p:sp>
        <p:nvSpPr>
          <p:cNvPr id="11" name="">
            <a:extLst xmlns:a="http://schemas.openxmlformats.org/drawingml/2006/main">
              <a:ext uri="{FF2B5EF4-FFF2-40B4-BE49-F238E27FC236}">
                <a16:creationId xmlns:a16="http://schemas.microsoft.com/office/drawing/2014/main" id="{5866B93D-943C-4E53-9BDC-0B04DC0C00FD}"/>
              </a:ext>
            </a:extLst>
          </p:cNvPr>
          <p:cNvSpPr>
            <a:spLocks xmlns:a="http://schemas.openxmlformats.org/drawingml/2006/main" noGrp="1"/>
          </p:cNvSpPr>
          <p:nvPr/>
        </p:nvSpPr>
        <p:spPr>
          <a:xfrm xmlns:a="http://schemas.openxmlformats.org/drawingml/2006/main">
            <a:off x="3867150" y="2524125"/>
            <a:ext cx="904875" cy="685800"/>
          </a:xfrm>
          <a:prstGeom xmlns:a="http://schemas.openxmlformats.org/drawingml/2006/main" prst="roundRect">
            <a:avLst>
              <a:gd name="adj" fmla="val 11111"/>
            </a:avLst>
          </a:prstGeom>
          <a:solidFill xmlns:a="http://schemas.openxmlformats.org/drawingml/2006/main">
            <a:srgbClr val="DCEFFC"/>
          </a:solidFill>
          <a:ln xmlns:a="http://schemas.openxmlformats.org/drawingml/2006/main" w="9525">
            <a:solidFill>
              <a:srgbClr val="1677B8"/>
            </a:solidFill>
            <a:prstDash val="solid"/>
          </a:ln>
        </p:spPr>
      </p:sp>
      <p:sp>
        <p:nvSpPr>
          <p:cNvPr id="12" name="">
            <a:extLst xmlns:a="http://schemas.openxmlformats.org/drawingml/2006/main">
              <a:ext uri="{FF2B5EF4-FFF2-40B4-BE49-F238E27FC236}">
                <a16:creationId xmlns:a16="http://schemas.microsoft.com/office/drawing/2014/main" id="{051E279D-91DC-484B-859F-613AA3A575A8}"/>
              </a:ext>
            </a:extLst>
          </p:cNvPr>
          <p:cNvSpPr>
            <a:spLocks xmlns:a="http://schemas.openxmlformats.org/drawingml/2006/main" noGrp="1"/>
          </p:cNvSpPr>
          <p:nvPr/>
        </p:nvSpPr>
        <p:spPr>
          <a:xfrm xmlns:a="http://schemas.openxmlformats.org/drawingml/2006/main">
            <a:off x="3924300" y="260032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11318"/>
                </a:solidFill>
                <a:latin typeface="Arial"/>
                <a:ea typeface="Arial"/>
                <a:cs typeface="Arial"/>
              </a:defRPr>
            </a:pPr>
            <a:r>
              <a:rPr sz="1200" b="1">
                <a:solidFill>
                  <a:srgbClr val="111318"/>
                </a:solidFill>
                <a:latin typeface="Arial"/>
                <a:ea typeface="Arial"/>
                <a:cs typeface="Arial"/>
              </a:rPr>
              <a:t>length &amp; flags</a:t>
            </a:r>
          </a:p>
        </p:txBody>
      </p:sp>
      <p:sp>
        <p:nvSpPr>
          <p:cNvPr id="13" name="">
            <a:extLst xmlns:a="http://schemas.openxmlformats.org/drawingml/2006/main">
              <a:ext uri="{FF2B5EF4-FFF2-40B4-BE49-F238E27FC236}">
                <a16:creationId xmlns:a16="http://schemas.microsoft.com/office/drawing/2014/main" id="{0A595EBA-0376-4E2C-A9C5-9E764F27595B}"/>
              </a:ext>
            </a:extLst>
          </p:cNvPr>
          <p:cNvSpPr>
            <a:spLocks xmlns:a="http://schemas.openxmlformats.org/drawingml/2006/main" noGrp="1"/>
          </p:cNvSpPr>
          <p:nvPr/>
        </p:nvSpPr>
        <p:spPr>
          <a:xfrm xmlns:a="http://schemas.openxmlformats.org/drawingml/2006/main">
            <a:off x="5095875" y="2714625"/>
            <a:ext cx="952500"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14" name="">
            <a:extLst xmlns:a="http://schemas.openxmlformats.org/drawingml/2006/main">
              <a:ext uri="{FF2B5EF4-FFF2-40B4-BE49-F238E27FC236}">
                <a16:creationId xmlns:a16="http://schemas.microsoft.com/office/drawing/2014/main" id="{A1A88E50-CB1D-4C9C-B45B-A90506995A7F}"/>
              </a:ext>
            </a:extLst>
          </p:cNvPr>
          <p:cNvSpPr>
            <a:spLocks xmlns:a="http://schemas.openxmlformats.org/drawingml/2006/main" noGrp="1"/>
          </p:cNvSpPr>
          <p:nvPr/>
        </p:nvSpPr>
        <p:spPr>
          <a:xfrm xmlns:a="http://schemas.openxmlformats.org/drawingml/2006/main">
            <a:off x="4829175" y="3190875"/>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5E6673"/>
                </a:solidFill>
                <a:latin typeface="Arial"/>
                <a:ea typeface="Arial"/>
                <a:cs typeface="Arial"/>
              </a:defRPr>
            </a:pPr>
            <a:r>
              <a:rPr sz="1350" b="0">
                <a:solidFill>
                  <a:srgbClr val="5E6673"/>
                </a:solidFill>
                <a:latin typeface="Arial"/>
                <a:ea typeface="Arial"/>
                <a:cs typeface="Arial"/>
              </a:rPr>
              <a:t>group by endpoints, protocol</a:t>
            </a:r>
          </a:p>
          <a:p xmlns:a="http://schemas.openxmlformats.org/drawingml/2006/main">
            <a:pPr algn="ctr">
              <a:defRPr sz="1350" b="0">
                <a:solidFill>
                  <a:srgbClr val="5E6673"/>
                </a:solidFill>
                <a:latin typeface="Arial"/>
                <a:ea typeface="Arial"/>
                <a:cs typeface="Arial"/>
              </a:defRPr>
            </a:pPr>
            <a:r>
              <a:rPr sz="1350" b="0">
                <a:solidFill>
                  <a:srgbClr val="5E6673"/>
                </a:solidFill>
                <a:latin typeface="Arial"/>
                <a:ea typeface="Arial"/>
                <a:cs typeface="Arial"/>
              </a:rPr>
              <a:t>and direction over time</a:t>
            </a:r>
          </a:p>
        </p:txBody>
      </p:sp>
      <p:sp>
        <p:nvSpPr>
          <p:cNvPr id="15" name="">
            <a:extLst xmlns:a="http://schemas.openxmlformats.org/drawingml/2006/main">
              <a:ext uri="{FF2B5EF4-FFF2-40B4-BE49-F238E27FC236}">
                <a16:creationId xmlns:a16="http://schemas.microsoft.com/office/drawing/2014/main" id="{1813D905-5215-45F5-A484-2E6E75A732BD}"/>
              </a:ext>
            </a:extLst>
          </p:cNvPr>
          <p:cNvSpPr>
            <a:spLocks xmlns:a="http://schemas.openxmlformats.org/drawingml/2006/main" noGrp="1"/>
          </p:cNvSpPr>
          <p:nvPr/>
        </p:nvSpPr>
        <p:spPr>
          <a:xfrm xmlns:a="http://schemas.openxmlformats.org/drawingml/2006/main">
            <a:off x="6953250" y="128587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49B6D"/>
                </a:solidFill>
                <a:latin typeface="Arial"/>
                <a:ea typeface="Arial"/>
                <a:cs typeface="Arial"/>
              </a:defRPr>
            </a:pPr>
            <a:r>
              <a:rPr sz="2100" b="1">
                <a:solidFill>
                  <a:srgbClr val="149B6D"/>
                </a:solidFill>
                <a:latin typeface="Arial"/>
                <a:ea typeface="Arial"/>
                <a:cs typeface="Arial"/>
              </a:rPr>
              <a:t>FLOW</a:t>
            </a:r>
          </a:p>
        </p:txBody>
      </p:sp>
      <p:sp>
        <p:nvSpPr>
          <p:cNvPr id="16" name="">
            <a:extLst xmlns:a="http://schemas.openxmlformats.org/drawingml/2006/main">
              <a:ext uri="{FF2B5EF4-FFF2-40B4-BE49-F238E27FC236}">
                <a16:creationId xmlns:a16="http://schemas.microsoft.com/office/drawing/2014/main" id="{2627A5FC-A830-40FA-9573-68CAAB9F0166}"/>
              </a:ext>
            </a:extLst>
          </p:cNvPr>
          <p:cNvSpPr>
            <a:spLocks xmlns:a="http://schemas.openxmlformats.org/drawingml/2006/main" noGrp="1"/>
          </p:cNvSpPr>
          <p:nvPr/>
        </p:nvSpPr>
        <p:spPr>
          <a:xfrm xmlns:a="http://schemas.openxmlformats.org/drawingml/2006/main">
            <a:off x="6953250" y="17621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111318"/>
                </a:solidFill>
                <a:latin typeface="Arial"/>
                <a:ea typeface="Arial"/>
                <a:cs typeface="Arial"/>
              </a:defRPr>
            </a:pPr>
            <a:r>
              <a:rPr sz="1800" b="0">
                <a:solidFill>
                  <a:srgbClr val="111318"/>
                </a:solidFill>
                <a:latin typeface="Arial"/>
                <a:ea typeface="Arial"/>
                <a:cs typeface="Arial"/>
              </a:rPr>
              <a:t>A bidirectional sequence of related packets</a:t>
            </a:r>
          </a:p>
        </p:txBody>
      </p:sp>
      <p:sp>
        <p:nvSpPr>
          <p:cNvPr id="17" name="">
            <a:extLst xmlns:a="http://schemas.openxmlformats.org/drawingml/2006/main">
              <a:ext uri="{FF2B5EF4-FFF2-40B4-BE49-F238E27FC236}">
                <a16:creationId xmlns:a16="http://schemas.microsoft.com/office/drawing/2014/main" id="{14EA2120-421A-4CA4-A86E-A2330A572782}"/>
              </a:ext>
            </a:extLst>
          </p:cNvPr>
          <p:cNvSpPr>
            <a:spLocks xmlns:a="http://schemas.openxmlformats.org/drawingml/2006/main" noGrp="1"/>
          </p:cNvSpPr>
          <p:nvPr/>
        </p:nvSpPr>
        <p:spPr>
          <a:xfrm xmlns:a="http://schemas.openxmlformats.org/drawingml/2006/main">
            <a:off x="7096125" y="2714625"/>
            <a:ext cx="5905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1677B8"/>
            </a:solidFill>
            <a:prstDash val="solid"/>
          </a:ln>
        </p:spPr>
      </p:sp>
      <p:sp>
        <p:nvSpPr>
          <p:cNvPr id="18" name="">
            <a:extLst xmlns:a="http://schemas.openxmlformats.org/drawingml/2006/main">
              <a:ext uri="{FF2B5EF4-FFF2-40B4-BE49-F238E27FC236}">
                <a16:creationId xmlns:a16="http://schemas.microsoft.com/office/drawing/2014/main" id="{28C49DBD-AEE7-49D7-B0AA-D639FBCE8D8E}"/>
              </a:ext>
            </a:extLst>
          </p:cNvPr>
          <p:cNvSpPr>
            <a:spLocks xmlns:a="http://schemas.openxmlformats.org/drawingml/2006/main" noGrp="1"/>
          </p:cNvSpPr>
          <p:nvPr/>
        </p:nvSpPr>
        <p:spPr>
          <a:xfrm xmlns:a="http://schemas.openxmlformats.org/drawingml/2006/main">
            <a:off x="7191375" y="27622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Arial"/>
                <a:ea typeface="Arial"/>
                <a:cs typeface="Arial"/>
              </a:defRPr>
            </a:pPr>
            <a:r>
              <a:rPr sz="1350" b="1">
                <a:solidFill>
                  <a:srgbClr val="111318"/>
                </a:solidFill>
                <a:latin typeface="Arial"/>
                <a:ea typeface="Arial"/>
                <a:cs typeface="Arial"/>
              </a:rPr>
              <a:t>p1</a:t>
            </a:r>
          </a:p>
        </p:txBody>
      </p:sp>
      <p:sp>
        <p:nvSpPr>
          <p:cNvPr id="19" name="">
            <a:extLst xmlns:a="http://schemas.openxmlformats.org/drawingml/2006/main">
              <a:ext uri="{FF2B5EF4-FFF2-40B4-BE49-F238E27FC236}">
                <a16:creationId xmlns:a16="http://schemas.microsoft.com/office/drawing/2014/main" id="{D9D10B06-DD26-4F71-A978-1E56FD5B3EAA}"/>
              </a:ext>
            </a:extLst>
          </p:cNvPr>
          <p:cNvSpPr>
            <a:spLocks xmlns:a="http://schemas.openxmlformats.org/drawingml/2006/main" noGrp="1"/>
          </p:cNvSpPr>
          <p:nvPr/>
        </p:nvSpPr>
        <p:spPr>
          <a:xfrm xmlns:a="http://schemas.openxmlformats.org/drawingml/2006/main">
            <a:off x="7915275" y="2714625"/>
            <a:ext cx="5905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1677B8"/>
            </a:solidFill>
            <a:prstDash val="solid"/>
          </a:ln>
        </p:spPr>
      </p:sp>
      <p:sp>
        <p:nvSpPr>
          <p:cNvPr id="20" name="">
            <a:extLst xmlns:a="http://schemas.openxmlformats.org/drawingml/2006/main">
              <a:ext uri="{FF2B5EF4-FFF2-40B4-BE49-F238E27FC236}">
                <a16:creationId xmlns:a16="http://schemas.microsoft.com/office/drawing/2014/main" id="{ABD063E9-96EF-4A7A-9901-2DA55C51815F}"/>
              </a:ext>
            </a:extLst>
          </p:cNvPr>
          <p:cNvSpPr>
            <a:spLocks xmlns:a="http://schemas.openxmlformats.org/drawingml/2006/main" noGrp="1"/>
          </p:cNvSpPr>
          <p:nvPr/>
        </p:nvSpPr>
        <p:spPr>
          <a:xfrm xmlns:a="http://schemas.openxmlformats.org/drawingml/2006/main">
            <a:off x="8010525" y="27622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Arial"/>
                <a:ea typeface="Arial"/>
                <a:cs typeface="Arial"/>
              </a:defRPr>
            </a:pPr>
            <a:r>
              <a:rPr sz="1350" b="1">
                <a:solidFill>
                  <a:srgbClr val="111318"/>
                </a:solidFill>
                <a:latin typeface="Arial"/>
                <a:ea typeface="Arial"/>
                <a:cs typeface="Arial"/>
              </a:rPr>
              <a:t>p2</a:t>
            </a:r>
          </a:p>
        </p:txBody>
      </p:sp>
      <p:sp>
        <p:nvSpPr>
          <p:cNvPr id="21" name="">
            <a:extLst xmlns:a="http://schemas.openxmlformats.org/drawingml/2006/main">
              <a:ext uri="{FF2B5EF4-FFF2-40B4-BE49-F238E27FC236}">
                <a16:creationId xmlns:a16="http://schemas.microsoft.com/office/drawing/2014/main" id="{C65AAD0D-F65A-437D-991B-5F638E700A87}"/>
              </a:ext>
            </a:extLst>
          </p:cNvPr>
          <p:cNvSpPr>
            <a:spLocks xmlns:a="http://schemas.openxmlformats.org/drawingml/2006/main" noGrp="1"/>
          </p:cNvSpPr>
          <p:nvPr/>
        </p:nvSpPr>
        <p:spPr>
          <a:xfrm xmlns:a="http://schemas.openxmlformats.org/drawingml/2006/main">
            <a:off x="8734425" y="2714625"/>
            <a:ext cx="5905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1677B8"/>
            </a:solidFill>
            <a:prstDash val="solid"/>
          </a:ln>
        </p:spPr>
      </p:sp>
      <p:sp>
        <p:nvSpPr>
          <p:cNvPr id="22" name="">
            <a:extLst xmlns:a="http://schemas.openxmlformats.org/drawingml/2006/main">
              <a:ext uri="{FF2B5EF4-FFF2-40B4-BE49-F238E27FC236}">
                <a16:creationId xmlns:a16="http://schemas.microsoft.com/office/drawing/2014/main" id="{C7688A01-0F8C-43C3-8F96-CA12890B5828}"/>
              </a:ext>
            </a:extLst>
          </p:cNvPr>
          <p:cNvSpPr>
            <a:spLocks xmlns:a="http://schemas.openxmlformats.org/drawingml/2006/main" noGrp="1"/>
          </p:cNvSpPr>
          <p:nvPr/>
        </p:nvSpPr>
        <p:spPr>
          <a:xfrm xmlns:a="http://schemas.openxmlformats.org/drawingml/2006/main">
            <a:off x="8829675" y="27622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Arial"/>
                <a:ea typeface="Arial"/>
                <a:cs typeface="Arial"/>
              </a:defRPr>
            </a:pPr>
            <a:r>
              <a:rPr sz="1350" b="1">
                <a:solidFill>
                  <a:srgbClr val="111318"/>
                </a:solidFill>
                <a:latin typeface="Arial"/>
                <a:ea typeface="Arial"/>
                <a:cs typeface="Arial"/>
              </a:rPr>
              <a:t>p3</a:t>
            </a:r>
          </a:p>
        </p:txBody>
      </p:sp>
      <p:sp>
        <p:nvSpPr>
          <p:cNvPr id="23" name="">
            <a:extLst xmlns:a="http://schemas.openxmlformats.org/drawingml/2006/main">
              <a:ext uri="{FF2B5EF4-FFF2-40B4-BE49-F238E27FC236}">
                <a16:creationId xmlns:a16="http://schemas.microsoft.com/office/drawing/2014/main" id="{163D6906-527F-48BD-B65F-840D44A91B24}"/>
              </a:ext>
            </a:extLst>
          </p:cNvPr>
          <p:cNvSpPr>
            <a:spLocks xmlns:a="http://schemas.openxmlformats.org/drawingml/2006/main" noGrp="1"/>
          </p:cNvSpPr>
          <p:nvPr/>
        </p:nvSpPr>
        <p:spPr>
          <a:xfrm xmlns:a="http://schemas.openxmlformats.org/drawingml/2006/main">
            <a:off x="9553575" y="2714625"/>
            <a:ext cx="5905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1677B8"/>
            </a:solidFill>
            <a:prstDash val="solid"/>
          </a:ln>
        </p:spPr>
      </p:sp>
      <p:sp>
        <p:nvSpPr>
          <p:cNvPr id="24" name="">
            <a:extLst xmlns:a="http://schemas.openxmlformats.org/drawingml/2006/main">
              <a:ext uri="{FF2B5EF4-FFF2-40B4-BE49-F238E27FC236}">
                <a16:creationId xmlns:a16="http://schemas.microsoft.com/office/drawing/2014/main" id="{339934C2-9E67-4D64-820D-D13C2B4DFF4C}"/>
              </a:ext>
            </a:extLst>
          </p:cNvPr>
          <p:cNvSpPr>
            <a:spLocks xmlns:a="http://schemas.openxmlformats.org/drawingml/2006/main" noGrp="1"/>
          </p:cNvSpPr>
          <p:nvPr/>
        </p:nvSpPr>
        <p:spPr>
          <a:xfrm xmlns:a="http://schemas.openxmlformats.org/drawingml/2006/main">
            <a:off x="9648825" y="27622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Arial"/>
                <a:ea typeface="Arial"/>
                <a:cs typeface="Arial"/>
              </a:defRPr>
            </a:pPr>
            <a:r>
              <a:rPr sz="1350" b="1">
                <a:solidFill>
                  <a:srgbClr val="111318"/>
                </a:solidFill>
                <a:latin typeface="Arial"/>
                <a:ea typeface="Arial"/>
                <a:cs typeface="Arial"/>
              </a:rPr>
              <a:t>p4</a:t>
            </a:r>
          </a:p>
        </p:txBody>
      </p:sp>
      <p:sp>
        <p:nvSpPr>
          <p:cNvPr id="25" name="">
            <a:extLst xmlns:a="http://schemas.openxmlformats.org/drawingml/2006/main">
              <a:ext uri="{FF2B5EF4-FFF2-40B4-BE49-F238E27FC236}">
                <a16:creationId xmlns:a16="http://schemas.microsoft.com/office/drawing/2014/main" id="{172A9896-3D5E-4F44-809B-140FC91D50B4}"/>
              </a:ext>
            </a:extLst>
          </p:cNvPr>
          <p:cNvSpPr>
            <a:spLocks xmlns:a="http://schemas.openxmlformats.org/drawingml/2006/main" noGrp="1"/>
          </p:cNvSpPr>
          <p:nvPr/>
        </p:nvSpPr>
        <p:spPr>
          <a:xfrm xmlns:a="http://schemas.openxmlformats.org/drawingml/2006/main">
            <a:off x="10372725" y="2714625"/>
            <a:ext cx="590550" cy="419100"/>
          </a:xfrm>
          <a:prstGeom xmlns:a="http://schemas.openxmlformats.org/drawingml/2006/main" prst="roundRect">
            <a:avLst>
              <a:gd name="adj" fmla="val 18182"/>
            </a:avLst>
          </a:prstGeom>
          <a:solidFill xmlns:a="http://schemas.openxmlformats.org/drawingml/2006/main">
            <a:srgbClr val="DDF1E8"/>
          </a:solidFill>
          <a:ln xmlns:a="http://schemas.openxmlformats.org/drawingml/2006/main" w="9525">
            <a:solidFill>
              <a:srgbClr val="149B6D"/>
            </a:solidFill>
            <a:prstDash val="solid"/>
          </a:ln>
        </p:spPr>
      </p:sp>
      <p:sp>
        <p:nvSpPr>
          <p:cNvPr id="26" name="">
            <a:extLst xmlns:a="http://schemas.openxmlformats.org/drawingml/2006/main">
              <a:ext uri="{FF2B5EF4-FFF2-40B4-BE49-F238E27FC236}">
                <a16:creationId xmlns:a16="http://schemas.microsoft.com/office/drawing/2014/main" id="{1F4468BD-C41C-4476-97A2-6DAF11777365}"/>
              </a:ext>
            </a:extLst>
          </p:cNvPr>
          <p:cNvSpPr>
            <a:spLocks xmlns:a="http://schemas.openxmlformats.org/drawingml/2006/main" noGrp="1"/>
          </p:cNvSpPr>
          <p:nvPr/>
        </p:nvSpPr>
        <p:spPr>
          <a:xfrm xmlns:a="http://schemas.openxmlformats.org/drawingml/2006/main">
            <a:off x="10467975" y="27622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Arial"/>
                <a:ea typeface="Arial"/>
                <a:cs typeface="Arial"/>
              </a:defRPr>
            </a:pPr>
            <a:r>
              <a:rPr sz="1350" b="1">
                <a:solidFill>
                  <a:srgbClr val="111318"/>
                </a:solidFill>
                <a:latin typeface="Arial"/>
                <a:ea typeface="Arial"/>
                <a:cs typeface="Arial"/>
              </a:rPr>
              <a:t>p5</a:t>
            </a:r>
          </a:p>
        </p:txBody>
      </p:sp>
      <p:sp>
        <p:nvSpPr>
          <p:cNvPr id="27" name="">
            <a:extLst xmlns:a="http://schemas.openxmlformats.org/drawingml/2006/main">
              <a:ext uri="{FF2B5EF4-FFF2-40B4-BE49-F238E27FC236}">
                <a16:creationId xmlns:a16="http://schemas.microsoft.com/office/drawing/2014/main" id="{6F094086-6FE4-42BC-8270-D341093689C5}"/>
              </a:ext>
            </a:extLst>
          </p:cNvPr>
          <p:cNvSpPr>
            <a:spLocks xmlns:a="http://schemas.openxmlformats.org/drawingml/2006/main" noGrp="1"/>
          </p:cNvSpPr>
          <p:nvPr/>
        </p:nvSpPr>
        <p:spPr>
          <a:xfrm xmlns:a="http://schemas.openxmlformats.org/drawingml/2006/main">
            <a:off x="6953250" y="36195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11318"/>
                </a:solidFill>
                <a:latin typeface="Arial"/>
                <a:ea typeface="Arial"/>
                <a:cs typeface="Arial"/>
              </a:defRPr>
            </a:pPr>
            <a:r>
              <a:rPr sz="1725" b="0">
                <a:solidFill>
                  <a:srgbClr val="111318"/>
                </a:solidFill>
                <a:latin typeface="Arial"/>
                <a:ea typeface="Arial"/>
                <a:cs typeface="Arial"/>
              </a:rPr>
              <a:t>Flow statistics summarize the conversation:</a:t>
            </a:r>
          </a:p>
          <a:p xmlns:a="http://schemas.openxmlformats.org/drawingml/2006/main">
            <a:pPr algn="l">
              <a:defRPr sz="1725" b="0">
                <a:solidFill>
                  <a:srgbClr val="111318"/>
                </a:solidFill>
                <a:latin typeface="Arial"/>
                <a:ea typeface="Arial"/>
                <a:cs typeface="Arial"/>
              </a:defRPr>
            </a:pPr>
            <a:r>
              <a:rPr sz="1725" b="0">
                <a:solidFill>
                  <a:srgbClr val="111318"/>
                </a:solidFill>
                <a:latin typeface="Arial"/>
                <a:ea typeface="Arial"/>
                <a:cs typeface="Arial"/>
              </a:rPr>
              <a:t>duration, packet count, bytes, rates and timing.</a:t>
            </a:r>
          </a:p>
        </p:txBody>
      </p:sp>
    </p:spTree>
    <p:extLst>
      <p:ext uri="{BB962C8B-B14F-4D97-AF65-F5344CB8AC3E}">
        <p14:creationId xmlns:p14="http://schemas.microsoft.com/office/powerpoint/2010/main" val="1268721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93972F-AB27-4178-9D88-62B4E2EF6BD8}"/>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Network intrusion detection must balance detail and scalability</a:t>
            </a:r>
          </a:p>
        </p:txBody>
      </p:sp>
      <p:sp>
        <p:nvSpPr>
          <p:cNvPr id="2" name="">
            <a:extLst xmlns:a="http://schemas.openxmlformats.org/drawingml/2006/main">
              <a:ext uri="{FF2B5EF4-FFF2-40B4-BE49-F238E27FC236}">
                <a16:creationId xmlns:a16="http://schemas.microsoft.com/office/drawing/2014/main" id="{AFB800E3-542B-4D76-83D4-65CCC60E5B9E}"/>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F82D82D-2BDA-4C78-8B3E-F61FBA38DFB8}"/>
              </a:ext>
            </a:extLst>
          </p:cNvPr>
          <p:cNvSpPr>
            <a:spLocks xmlns:a="http://schemas.openxmlformats.org/drawingml/2006/main" noGrp="1"/>
          </p:cNvSpPr>
          <p:nvPr/>
        </p:nvSpPr>
        <p:spPr>
          <a:xfrm xmlns:a="http://schemas.openxmlformats.org/drawingml/2006/main">
            <a:off x="571500" y="171450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677B8"/>
                </a:solidFill>
                <a:latin typeface="Arial"/>
                <a:ea typeface="Arial"/>
                <a:cs typeface="Arial"/>
              </a:defRPr>
            </a:pPr>
            <a:r>
              <a:rPr sz="2025" b="1">
                <a:solidFill>
                  <a:srgbClr val="1677B8"/>
                </a:solidFill>
                <a:latin typeface="Arial"/>
                <a:ea typeface="Arial"/>
                <a:cs typeface="Arial"/>
              </a:rPr>
              <a:t>Raw packets</a:t>
            </a:r>
          </a:p>
        </p:txBody>
      </p:sp>
      <p:sp>
        <p:nvSpPr>
          <p:cNvPr id="4" name="">
            <a:extLst xmlns:a="http://schemas.openxmlformats.org/drawingml/2006/main">
              <a:ext uri="{FF2B5EF4-FFF2-40B4-BE49-F238E27FC236}">
                <a16:creationId xmlns:a16="http://schemas.microsoft.com/office/drawing/2014/main" id="{37F20A5A-F408-4E34-BB0D-BB02A2337436}"/>
              </a:ext>
            </a:extLst>
          </p:cNvPr>
          <p:cNvSpPr>
            <a:spLocks xmlns:a="http://schemas.openxmlformats.org/drawingml/2006/main" noGrp="1"/>
          </p:cNvSpPr>
          <p:nvPr/>
        </p:nvSpPr>
        <p:spPr>
          <a:xfrm xmlns:a="http://schemas.openxmlformats.org/drawingml/2006/main">
            <a:off x="571500" y="2238375"/>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Fine-grained order and timing</a:t>
            </a:r>
          </a:p>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High volume and variable length</a:t>
            </a:r>
          </a:p>
        </p:txBody>
      </p:sp>
      <p:sp>
        <p:nvSpPr>
          <p:cNvPr id="5" name="">
            <a:extLst xmlns:a="http://schemas.openxmlformats.org/drawingml/2006/main">
              <a:ext uri="{FF2B5EF4-FFF2-40B4-BE49-F238E27FC236}">
                <a16:creationId xmlns:a16="http://schemas.microsoft.com/office/drawing/2014/main" id="{BB79F455-E10D-41C1-9B94-7D304C4FF651}"/>
              </a:ext>
            </a:extLst>
          </p:cNvPr>
          <p:cNvSpPr>
            <a:spLocks xmlns:a="http://schemas.openxmlformats.org/drawingml/2006/main" noGrp="1"/>
          </p:cNvSpPr>
          <p:nvPr/>
        </p:nvSpPr>
        <p:spPr>
          <a:xfrm xmlns:a="http://schemas.openxmlformats.org/drawingml/2006/main">
            <a:off x="3143250" y="2381250"/>
            <a:ext cx="857250"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6" name="">
            <a:extLst xmlns:a="http://schemas.openxmlformats.org/drawingml/2006/main">
              <a:ext uri="{FF2B5EF4-FFF2-40B4-BE49-F238E27FC236}">
                <a16:creationId xmlns:a16="http://schemas.microsoft.com/office/drawing/2014/main" id="{A5A2BC1F-7A3D-43D1-92B6-DEF5DE13AD62}"/>
              </a:ext>
            </a:extLst>
          </p:cNvPr>
          <p:cNvSpPr>
            <a:spLocks xmlns:a="http://schemas.openxmlformats.org/drawingml/2006/main" noGrp="1"/>
          </p:cNvSpPr>
          <p:nvPr/>
        </p:nvSpPr>
        <p:spPr>
          <a:xfrm xmlns:a="http://schemas.openxmlformats.org/drawingml/2006/main">
            <a:off x="4333875" y="17145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E9A000"/>
                </a:solidFill>
                <a:latin typeface="Arial"/>
                <a:ea typeface="Arial"/>
                <a:cs typeface="Arial"/>
              </a:defRPr>
            </a:pPr>
            <a:r>
              <a:rPr sz="2025" b="1">
                <a:solidFill>
                  <a:srgbClr val="E9A000"/>
                </a:solidFill>
                <a:latin typeface="Arial"/>
                <a:ea typeface="Arial"/>
                <a:cs typeface="Arial"/>
              </a:rPr>
              <a:t>Aggregate flows</a:t>
            </a:r>
          </a:p>
        </p:txBody>
      </p:sp>
      <p:sp>
        <p:nvSpPr>
          <p:cNvPr id="7" name="">
            <a:extLst xmlns:a="http://schemas.openxmlformats.org/drawingml/2006/main">
              <a:ext uri="{FF2B5EF4-FFF2-40B4-BE49-F238E27FC236}">
                <a16:creationId xmlns:a16="http://schemas.microsoft.com/office/drawing/2014/main" id="{230DF24D-6A8A-429E-BCA6-EDB0F702E8A0}"/>
              </a:ext>
            </a:extLst>
          </p:cNvPr>
          <p:cNvSpPr>
            <a:spLocks xmlns:a="http://schemas.openxmlformats.org/drawingml/2006/main" noGrp="1"/>
          </p:cNvSpPr>
          <p:nvPr/>
        </p:nvSpPr>
        <p:spPr>
          <a:xfrm xmlns:a="http://schemas.openxmlformats.org/drawingml/2006/main">
            <a:off x="4333875" y="2238375"/>
            <a:ext cx="2714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Compact and efficient</a:t>
            </a:r>
          </a:p>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But packet dynamics disappear</a:t>
            </a:r>
          </a:p>
        </p:txBody>
      </p:sp>
      <p:sp>
        <p:nvSpPr>
          <p:cNvPr id="8" name="">
            <a:extLst xmlns:a="http://schemas.openxmlformats.org/drawingml/2006/main">
              <a:ext uri="{FF2B5EF4-FFF2-40B4-BE49-F238E27FC236}">
                <a16:creationId xmlns:a16="http://schemas.microsoft.com/office/drawing/2014/main" id="{78E0070E-FFAA-43F0-9558-1E45DCF05A80}"/>
              </a:ext>
            </a:extLst>
          </p:cNvPr>
          <p:cNvSpPr>
            <a:spLocks xmlns:a="http://schemas.openxmlformats.org/drawingml/2006/main" noGrp="1"/>
          </p:cNvSpPr>
          <p:nvPr/>
        </p:nvSpPr>
        <p:spPr>
          <a:xfrm xmlns:a="http://schemas.openxmlformats.org/drawingml/2006/main">
            <a:off x="7239000" y="2381250"/>
            <a:ext cx="857250"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9" name="">
            <a:extLst xmlns:a="http://schemas.openxmlformats.org/drawingml/2006/main">
              <a:ext uri="{FF2B5EF4-FFF2-40B4-BE49-F238E27FC236}">
                <a16:creationId xmlns:a16="http://schemas.microsoft.com/office/drawing/2014/main" id="{A22CA186-72E6-4C3F-BC0B-ECD50C8B2CEB}"/>
              </a:ext>
            </a:extLst>
          </p:cNvPr>
          <p:cNvSpPr>
            <a:spLocks xmlns:a="http://schemas.openxmlformats.org/drawingml/2006/main" noGrp="1"/>
          </p:cNvSpPr>
          <p:nvPr/>
        </p:nvSpPr>
        <p:spPr>
          <a:xfrm xmlns:a="http://schemas.openxmlformats.org/drawingml/2006/main">
            <a:off x="8429625" y="17145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49B6D"/>
                </a:solidFill>
                <a:latin typeface="Arial"/>
                <a:ea typeface="Arial"/>
                <a:cs typeface="Arial"/>
              </a:defRPr>
            </a:pPr>
            <a:r>
              <a:rPr sz="2025" b="1">
                <a:solidFill>
                  <a:srgbClr val="149B6D"/>
                </a:solidFill>
                <a:latin typeface="Arial"/>
                <a:ea typeface="Arial"/>
                <a:cs typeface="Arial"/>
              </a:rPr>
              <a:t>Independent decisions</a:t>
            </a:r>
          </a:p>
        </p:txBody>
      </p:sp>
      <p:sp>
        <p:nvSpPr>
          <p:cNvPr id="10" name="">
            <a:extLst xmlns:a="http://schemas.openxmlformats.org/drawingml/2006/main">
              <a:ext uri="{FF2B5EF4-FFF2-40B4-BE49-F238E27FC236}">
                <a16:creationId xmlns:a16="http://schemas.microsoft.com/office/drawing/2014/main" id="{87356D88-3847-421C-A797-AA7826757E57}"/>
              </a:ext>
            </a:extLst>
          </p:cNvPr>
          <p:cNvSpPr>
            <a:spLocks xmlns:a="http://schemas.openxmlformats.org/drawingml/2006/main" noGrp="1"/>
          </p:cNvSpPr>
          <p:nvPr/>
        </p:nvSpPr>
        <p:spPr>
          <a:xfrm xmlns:a="http://schemas.openxmlformats.org/drawingml/2006/main">
            <a:off x="8429625" y="223837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Easy to deploy</a:t>
            </a:r>
          </a:p>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But related behaviour is ignored</a:t>
            </a:r>
          </a:p>
        </p:txBody>
      </p:sp>
      <p:sp>
        <p:nvSpPr>
          <p:cNvPr id="11" name="">
            <a:extLst xmlns:a="http://schemas.openxmlformats.org/drawingml/2006/main">
              <a:ext uri="{FF2B5EF4-FFF2-40B4-BE49-F238E27FC236}">
                <a16:creationId xmlns:a16="http://schemas.microsoft.com/office/drawing/2014/main" id="{6BF0655A-16CD-4436-A0FA-6E2A41A38639}"/>
              </a:ext>
            </a:extLst>
          </p:cNvPr>
          <p:cNvSpPr>
            <a:spLocks xmlns:a="http://schemas.openxmlformats.org/drawingml/2006/main" noGrp="1"/>
          </p:cNvSpPr>
          <p:nvPr/>
        </p:nvSpPr>
        <p:spPr>
          <a:xfrm xmlns:a="http://schemas.openxmlformats.org/drawingml/2006/main">
            <a:off x="571500" y="4095750"/>
            <a:ext cx="10668000" cy="1047750"/>
          </a:xfrm>
          <a:prstGeom xmlns:a="http://schemas.openxmlformats.org/drawingml/2006/main" prst="roundRect">
            <a:avLst>
              <a:gd name="adj" fmla="val 7273"/>
            </a:avLst>
          </a:prstGeom>
          <a:solidFill xmlns:a="http://schemas.openxmlformats.org/drawingml/2006/main">
            <a:srgbClr val="F1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71DA753-2532-4A08-8B0A-2748D99DF67C}"/>
              </a:ext>
            </a:extLst>
          </p:cNvPr>
          <p:cNvSpPr>
            <a:spLocks xmlns:a="http://schemas.openxmlformats.org/drawingml/2006/main" noGrp="1"/>
          </p:cNvSpPr>
          <p:nvPr/>
        </p:nvSpPr>
        <p:spPr>
          <a:xfrm xmlns:a="http://schemas.openxmlformats.org/drawingml/2006/main">
            <a:off x="857250" y="42767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677B8"/>
                </a:solidFill>
                <a:latin typeface="Arial"/>
                <a:ea typeface="Arial"/>
                <a:cs typeface="Arial"/>
              </a:defRPr>
            </a:pPr>
            <a:r>
              <a:rPr sz="1725" b="1">
                <a:solidFill>
                  <a:srgbClr val="1677B8"/>
                </a:solidFill>
                <a:latin typeface="Arial"/>
                <a:ea typeface="Arial"/>
                <a:cs typeface="Arial"/>
              </a:rPr>
              <a:t>Research gap</a:t>
            </a:r>
          </a:p>
        </p:txBody>
      </p:sp>
      <p:sp>
        <p:nvSpPr>
          <p:cNvPr id="13" name="">
            <a:extLst xmlns:a="http://schemas.openxmlformats.org/drawingml/2006/main">
              <a:ext uri="{FF2B5EF4-FFF2-40B4-BE49-F238E27FC236}">
                <a16:creationId xmlns:a16="http://schemas.microsoft.com/office/drawing/2014/main" id="{D9DD1375-DAA2-4CAE-8E4C-A0BFABA80827}"/>
              </a:ext>
            </a:extLst>
          </p:cNvPr>
          <p:cNvSpPr>
            <a:spLocks xmlns:a="http://schemas.openxmlformats.org/drawingml/2006/main" noGrp="1"/>
          </p:cNvSpPr>
          <p:nvPr/>
        </p:nvSpPr>
        <p:spPr>
          <a:xfrm xmlns:a="http://schemas.openxmlformats.org/drawingml/2006/main">
            <a:off x="857250" y="46386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11318"/>
                </a:solidFill>
                <a:latin typeface="Arial"/>
                <a:ea typeface="Arial"/>
                <a:cs typeface="Arial"/>
              </a:defRPr>
            </a:pPr>
            <a:r>
              <a:rPr sz="2025" b="1">
                <a:solidFill>
                  <a:srgbClr val="111318"/>
                </a:solidFill>
                <a:latin typeface="Arial"/>
                <a:ea typeface="Arial"/>
                <a:cs typeface="Arial"/>
              </a:rPr>
              <a:t>Most systems model packet dynamics or cross-flow context — rarely both in one controlled hierarchy.</a:t>
            </a:r>
          </a:p>
        </p:txBody>
      </p:sp>
    </p:spTree>
    <p:extLst>
      <p:ext uri="{BB962C8B-B14F-4D97-AF65-F5344CB8AC3E}">
        <p14:creationId xmlns:p14="http://schemas.microsoft.com/office/powerpoint/2010/main" val="13097046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74788A-3A8F-41AB-B970-70AC9AE40654}"/>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Two research questions define the hierarchy</a:t>
            </a:r>
          </a:p>
        </p:txBody>
      </p:sp>
      <p:sp>
        <p:nvSpPr>
          <p:cNvPr id="2" name="">
            <a:extLst xmlns:a="http://schemas.openxmlformats.org/drawingml/2006/main">
              <a:ext uri="{FF2B5EF4-FFF2-40B4-BE49-F238E27FC236}">
                <a16:creationId xmlns:a16="http://schemas.microsoft.com/office/drawing/2014/main" id="{369B3EB0-0C8A-496B-B86D-BE05F9F891FD}"/>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6E28B12-A16A-4661-8AC9-4AE641F330A6}"/>
              </a:ext>
            </a:extLst>
          </p:cNvPr>
          <p:cNvSpPr>
            <a:spLocks xmlns:a="http://schemas.openxmlformats.org/drawingml/2006/main" noGrp="1"/>
          </p:cNvSpPr>
          <p:nvPr/>
        </p:nvSpPr>
        <p:spPr>
          <a:xfrm xmlns:a="http://schemas.openxmlformats.org/drawingml/2006/main">
            <a:off x="400050" y="1381125"/>
            <a:ext cx="5334000" cy="1619250"/>
          </a:xfrm>
          <a:prstGeom xmlns:a="http://schemas.openxmlformats.org/drawingml/2006/main" prst="roundRect">
            <a:avLst>
              <a:gd name="adj" fmla="val 4706"/>
            </a:avLst>
          </a:prstGeom>
          <a:solidFill xmlns:a="http://schemas.openxmlformats.org/drawingml/2006/main">
            <a:srgbClr val="EAF6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C3273F-4665-4E27-9318-393B02BE71F5}"/>
              </a:ext>
            </a:extLst>
          </p:cNvPr>
          <p:cNvSpPr>
            <a:spLocks xmlns:a="http://schemas.openxmlformats.org/drawingml/2006/main" noGrp="1"/>
          </p:cNvSpPr>
          <p:nvPr/>
        </p:nvSpPr>
        <p:spPr>
          <a:xfrm xmlns:a="http://schemas.openxmlformats.org/drawingml/2006/main">
            <a:off x="666750" y="161925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677B8"/>
                </a:solidFill>
                <a:latin typeface="Arial"/>
                <a:ea typeface="Arial"/>
                <a:cs typeface="Arial"/>
              </a:defRPr>
            </a:pPr>
            <a:r>
              <a:rPr sz="2025" b="1">
                <a:solidFill>
                  <a:srgbClr val="1677B8"/>
                </a:solidFill>
                <a:latin typeface="Arial"/>
                <a:ea typeface="Arial"/>
                <a:cs typeface="Arial"/>
              </a:rPr>
              <a:t>RQ1</a:t>
            </a:r>
          </a:p>
        </p:txBody>
      </p:sp>
      <p:sp>
        <p:nvSpPr>
          <p:cNvPr id="5" name="">
            <a:extLst xmlns:a="http://schemas.openxmlformats.org/drawingml/2006/main">
              <a:ext uri="{FF2B5EF4-FFF2-40B4-BE49-F238E27FC236}">
                <a16:creationId xmlns:a16="http://schemas.microsoft.com/office/drawing/2014/main" id="{76450DF9-28B2-4DFA-B26B-F69C7A06E24A}"/>
              </a:ext>
            </a:extLst>
          </p:cNvPr>
          <p:cNvSpPr>
            <a:spLocks xmlns:a="http://schemas.openxmlformats.org/drawingml/2006/main" noGrp="1"/>
          </p:cNvSpPr>
          <p:nvPr/>
        </p:nvSpPr>
        <p:spPr>
          <a:xfrm xmlns:a="http://schemas.openxmlformats.org/drawingml/2006/main">
            <a:off x="666750" y="2047875"/>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11318"/>
                </a:solidFill>
                <a:latin typeface="Arial"/>
                <a:ea typeface="Arial"/>
                <a:cs typeface="Arial"/>
              </a:defRPr>
            </a:pPr>
            <a:r>
              <a:rPr sz="1875" b="1">
                <a:solidFill>
                  <a:srgbClr val="111318"/>
                </a:solidFill>
                <a:latin typeface="Arial"/>
                <a:ea typeface="Arial"/>
                <a:cs typeface="Arial"/>
              </a:rPr>
              <a:t>Does time-aware packet-sequence modelling produce better flow representations than aggregation alone?</a:t>
            </a:r>
          </a:p>
        </p:txBody>
      </p:sp>
      <p:sp>
        <p:nvSpPr>
          <p:cNvPr id="6" name="">
            <a:extLst xmlns:a="http://schemas.openxmlformats.org/drawingml/2006/main">
              <a:ext uri="{FF2B5EF4-FFF2-40B4-BE49-F238E27FC236}">
                <a16:creationId xmlns:a16="http://schemas.microsoft.com/office/drawing/2014/main" id="{37D5AAD3-CB15-440E-A840-670E581DF29F}"/>
              </a:ext>
            </a:extLst>
          </p:cNvPr>
          <p:cNvSpPr>
            <a:spLocks xmlns:a="http://schemas.openxmlformats.org/drawingml/2006/main" noGrp="1"/>
          </p:cNvSpPr>
          <p:nvPr/>
        </p:nvSpPr>
        <p:spPr>
          <a:xfrm xmlns:a="http://schemas.openxmlformats.org/drawingml/2006/main">
            <a:off x="6076950" y="1381125"/>
            <a:ext cx="5715000" cy="1619250"/>
          </a:xfrm>
          <a:prstGeom xmlns:a="http://schemas.openxmlformats.org/drawingml/2006/main" prst="roundRect">
            <a:avLst>
              <a:gd name="adj" fmla="val 4706"/>
            </a:avLst>
          </a:prstGeom>
          <a:solidFill xmlns:a="http://schemas.openxmlformats.org/drawingml/2006/main">
            <a:srgbClr val="E8F5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D2F5A2-5D22-4473-BDB7-EF6ACB7DE4AB}"/>
              </a:ext>
            </a:extLst>
          </p:cNvPr>
          <p:cNvSpPr>
            <a:spLocks xmlns:a="http://schemas.openxmlformats.org/drawingml/2006/main" noGrp="1"/>
          </p:cNvSpPr>
          <p:nvPr/>
        </p:nvSpPr>
        <p:spPr>
          <a:xfrm xmlns:a="http://schemas.openxmlformats.org/drawingml/2006/main">
            <a:off x="6362700" y="161925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49B6D"/>
                </a:solidFill>
                <a:latin typeface="Arial"/>
                <a:ea typeface="Arial"/>
                <a:cs typeface="Arial"/>
              </a:defRPr>
            </a:pPr>
            <a:r>
              <a:rPr sz="2025" b="1">
                <a:solidFill>
                  <a:srgbClr val="149B6D"/>
                </a:solidFill>
                <a:latin typeface="Arial"/>
                <a:ea typeface="Arial"/>
                <a:cs typeface="Arial"/>
              </a:rPr>
              <a:t>RQ2</a:t>
            </a:r>
          </a:p>
        </p:txBody>
      </p:sp>
      <p:sp>
        <p:nvSpPr>
          <p:cNvPr id="8" name="">
            <a:extLst xmlns:a="http://schemas.openxmlformats.org/drawingml/2006/main">
              <a:ext uri="{FF2B5EF4-FFF2-40B4-BE49-F238E27FC236}">
                <a16:creationId xmlns:a16="http://schemas.microsoft.com/office/drawing/2014/main" id="{2DAF4709-E5ED-4DC5-8DC8-FBCFA2FDF62B}"/>
              </a:ext>
            </a:extLst>
          </p:cNvPr>
          <p:cNvSpPr>
            <a:spLocks xmlns:a="http://schemas.openxmlformats.org/drawingml/2006/main" noGrp="1"/>
          </p:cNvSpPr>
          <p:nvPr/>
        </p:nvSpPr>
        <p:spPr>
          <a:xfrm xmlns:a="http://schemas.openxmlformats.org/drawingml/2006/main">
            <a:off x="6362700" y="204787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11318"/>
                </a:solidFill>
                <a:latin typeface="Arial"/>
                <a:ea typeface="Arial"/>
                <a:cs typeface="Arial"/>
              </a:defRPr>
            </a:pPr>
            <a:r>
              <a:rPr sz="1875" b="1">
                <a:solidFill>
                  <a:srgbClr val="111318"/>
                </a:solidFill>
                <a:latin typeface="Arial"/>
                <a:ea typeface="Arial"/>
                <a:cs typeface="Arial"/>
              </a:rPr>
              <a:t>Does cross-flow context improve detection beyond independent flow classification?</a:t>
            </a:r>
          </a:p>
        </p:txBody>
      </p:sp>
      <p:sp>
        <p:nvSpPr>
          <p:cNvPr id="9" name="">
            <a:extLst xmlns:a="http://schemas.openxmlformats.org/drawingml/2006/main">
              <a:ext uri="{FF2B5EF4-FFF2-40B4-BE49-F238E27FC236}">
                <a16:creationId xmlns:a16="http://schemas.microsoft.com/office/drawing/2014/main" id="{C803CB34-9CC6-4730-BC01-75505151D3E6}"/>
              </a:ext>
            </a:extLst>
          </p:cNvPr>
          <p:cNvSpPr>
            <a:spLocks xmlns:a="http://schemas.openxmlformats.org/drawingml/2006/main" noGrp="1"/>
          </p:cNvSpPr>
          <p:nvPr/>
        </p:nvSpPr>
        <p:spPr>
          <a:xfrm xmlns:a="http://schemas.openxmlformats.org/drawingml/2006/main">
            <a:off x="400050" y="352425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11318"/>
                </a:solidFill>
                <a:latin typeface="Arial"/>
                <a:ea typeface="Arial"/>
                <a:cs typeface="Arial"/>
              </a:defRPr>
            </a:pPr>
            <a:r>
              <a:rPr sz="2250" b="1">
                <a:solidFill>
                  <a:srgbClr val="111318"/>
                </a:solidFill>
                <a:latin typeface="Arial"/>
                <a:ea typeface="Arial"/>
                <a:cs typeface="Arial"/>
              </a:rPr>
              <a:t>Contributions</a:t>
            </a:r>
          </a:p>
        </p:txBody>
      </p:sp>
      <p:sp>
        <p:nvSpPr>
          <p:cNvPr id="10" name="">
            <a:extLst xmlns:a="http://schemas.openxmlformats.org/drawingml/2006/main">
              <a:ext uri="{FF2B5EF4-FFF2-40B4-BE49-F238E27FC236}">
                <a16:creationId xmlns:a16="http://schemas.microsoft.com/office/drawing/2014/main" id="{147DC20B-93A5-4150-B914-317DA5D143BE}"/>
              </a:ext>
            </a:extLst>
          </p:cNvPr>
          <p:cNvSpPr>
            <a:spLocks xmlns:a="http://schemas.openxmlformats.org/drawingml/2006/main" noGrp="1"/>
          </p:cNvSpPr>
          <p:nvPr/>
        </p:nvSpPr>
        <p:spPr>
          <a:xfrm xmlns:a="http://schemas.openxmlformats.org/drawingml/2006/main">
            <a:off x="400050" y="4048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D0F04D48-9CD6-41E4-ADBD-3535B869896A}"/>
              </a:ext>
            </a:extLst>
          </p:cNvPr>
          <p:cNvSpPr>
            <a:spLocks xmlns:a="http://schemas.openxmlformats.org/drawingml/2006/main" noGrp="1"/>
          </p:cNvSpPr>
          <p:nvPr/>
        </p:nvSpPr>
        <p:spPr>
          <a:xfrm xmlns:a="http://schemas.openxmlformats.org/drawingml/2006/main">
            <a:off x="723900" y="4048125"/>
            <a:ext cx="1053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Aligned PCAP-to-learning pipeline with leakage controls</a:t>
            </a:r>
          </a:p>
        </p:txBody>
      </p:sp>
      <p:sp>
        <p:nvSpPr>
          <p:cNvPr id="12" name="">
            <a:extLst xmlns:a="http://schemas.openxmlformats.org/drawingml/2006/main">
              <a:ext uri="{FF2B5EF4-FFF2-40B4-BE49-F238E27FC236}">
                <a16:creationId xmlns:a16="http://schemas.microsoft.com/office/drawing/2014/main" id="{8136CA7A-AE93-4124-B946-7503611ACCC0}"/>
              </a:ext>
            </a:extLst>
          </p:cNvPr>
          <p:cNvSpPr>
            <a:spLocks xmlns:a="http://schemas.openxmlformats.org/drawingml/2006/main" noGrp="1"/>
          </p:cNvSpPr>
          <p:nvPr/>
        </p:nvSpPr>
        <p:spPr>
          <a:xfrm xmlns:a="http://schemas.openxmlformats.org/drawingml/2006/main">
            <a:off x="400050" y="45148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78253CBF-CC8C-4989-9B14-894BFE97BE1F}"/>
              </a:ext>
            </a:extLst>
          </p:cNvPr>
          <p:cNvSpPr>
            <a:spLocks xmlns:a="http://schemas.openxmlformats.org/drawingml/2006/main" noGrp="1"/>
          </p:cNvSpPr>
          <p:nvPr/>
        </p:nvSpPr>
        <p:spPr>
          <a:xfrm xmlns:a="http://schemas.openxmlformats.org/drawingml/2006/main">
            <a:off x="723900" y="4514850"/>
            <a:ext cx="1053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Time-aware intra-flow Transformer with statistical conditioning</a:t>
            </a:r>
          </a:p>
        </p:txBody>
      </p:sp>
      <p:sp>
        <p:nvSpPr>
          <p:cNvPr id="14" name="">
            <a:extLst xmlns:a="http://schemas.openxmlformats.org/drawingml/2006/main">
              <a:ext uri="{FF2B5EF4-FFF2-40B4-BE49-F238E27FC236}">
                <a16:creationId xmlns:a16="http://schemas.microsoft.com/office/drawing/2014/main" id="{C18DEA87-7CF8-4618-94C6-43F9957003BA}"/>
              </a:ext>
            </a:extLst>
          </p:cNvPr>
          <p:cNvSpPr>
            <a:spLocks xmlns:a="http://schemas.openxmlformats.org/drawingml/2006/main" noGrp="1"/>
          </p:cNvSpPr>
          <p:nvPr/>
        </p:nvSpPr>
        <p:spPr>
          <a:xfrm xmlns:a="http://schemas.openxmlformats.org/drawingml/2006/main">
            <a:off x="400050" y="498157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A7D4D56-A233-443A-B02F-F6A822FBCEB7}"/>
              </a:ext>
            </a:extLst>
          </p:cNvPr>
          <p:cNvSpPr>
            <a:spLocks xmlns:a="http://schemas.openxmlformats.org/drawingml/2006/main" noGrp="1"/>
          </p:cNvSpPr>
          <p:nvPr/>
        </p:nvSpPr>
        <p:spPr>
          <a:xfrm xmlns:a="http://schemas.openxmlformats.org/drawingml/2006/main">
            <a:off x="723900" y="4981575"/>
            <a:ext cx="1053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Target-query attention over relation-specific historical flows</a:t>
            </a:r>
          </a:p>
        </p:txBody>
      </p:sp>
      <p:sp>
        <p:nvSpPr>
          <p:cNvPr id="16" name="">
            <a:extLst xmlns:a="http://schemas.openxmlformats.org/drawingml/2006/main">
              <a:ext uri="{FF2B5EF4-FFF2-40B4-BE49-F238E27FC236}">
                <a16:creationId xmlns:a16="http://schemas.microsoft.com/office/drawing/2014/main" id="{3821EBF2-5AB3-4859-87E9-0C7733963244}"/>
              </a:ext>
            </a:extLst>
          </p:cNvPr>
          <p:cNvSpPr>
            <a:spLocks xmlns:a="http://schemas.openxmlformats.org/drawingml/2006/main" noGrp="1"/>
          </p:cNvSpPr>
          <p:nvPr/>
        </p:nvSpPr>
        <p:spPr>
          <a:xfrm xmlns:a="http://schemas.openxmlformats.org/drawingml/2006/main">
            <a:off x="400050" y="54483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EAB5B24-28BD-424A-AFD2-AFCAECF9410D}"/>
              </a:ext>
            </a:extLst>
          </p:cNvPr>
          <p:cNvSpPr>
            <a:spLocks xmlns:a="http://schemas.openxmlformats.org/drawingml/2006/main" noGrp="1"/>
          </p:cNvSpPr>
          <p:nvPr/>
        </p:nvSpPr>
        <p:spPr>
          <a:xfrm xmlns:a="http://schemas.openxmlformats.org/drawingml/2006/main">
            <a:off x="723900" y="5448300"/>
            <a:ext cx="1053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Chronological internal and external evaluation</a:t>
            </a:r>
          </a:p>
        </p:txBody>
      </p:sp>
    </p:spTree>
    <p:extLst>
      <p:ext uri="{BB962C8B-B14F-4D97-AF65-F5344CB8AC3E}">
        <p14:creationId xmlns:p14="http://schemas.microsoft.com/office/powerpoint/2010/main" val="13496041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5B2C17C-F012-4D81-A26E-BD583E8BF361}"/>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The dataset is large, chronological, and strongly imbalanced</a:t>
            </a:r>
          </a:p>
        </p:txBody>
      </p:sp>
      <p:sp>
        <p:nvSpPr>
          <p:cNvPr id="2" name="">
            <a:extLst xmlns:a="http://schemas.openxmlformats.org/drawingml/2006/main">
              <a:ext uri="{FF2B5EF4-FFF2-40B4-BE49-F238E27FC236}">
                <a16:creationId xmlns:a16="http://schemas.microsoft.com/office/drawing/2014/main" id="{0B0A6DDE-440D-497D-8817-CAEF0EE3CA62}"/>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B51B6FF-01F8-4CC9-8709-B8A04F459F9B}"/>
              </a:ext>
            </a:extLst>
          </p:cNvPr>
          <p:cNvSpPr>
            <a:spLocks xmlns:a="http://schemas.openxmlformats.org/drawingml/2006/main" noGrp="1"/>
          </p:cNvSpPr>
          <p:nvPr/>
        </p:nvSpPr>
        <p:spPr>
          <a:xfrm xmlns:a="http://schemas.openxmlformats.org/drawingml/2006/main">
            <a:off x="571500" y="13811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677B8"/>
                </a:solidFill>
                <a:latin typeface="Arial"/>
                <a:ea typeface="Arial"/>
                <a:cs typeface="Arial"/>
              </a:defRPr>
            </a:pPr>
            <a:r>
              <a:rPr sz="3600" b="1">
                <a:solidFill>
                  <a:srgbClr val="1677B8"/>
                </a:solidFill>
                <a:latin typeface="Arial"/>
                <a:ea typeface="Arial"/>
                <a:cs typeface="Arial"/>
              </a:rPr>
              <a:t>8.62 GB</a:t>
            </a:r>
          </a:p>
        </p:txBody>
      </p:sp>
      <p:sp>
        <p:nvSpPr>
          <p:cNvPr id="4" name="">
            <a:extLst xmlns:a="http://schemas.openxmlformats.org/drawingml/2006/main">
              <a:ext uri="{FF2B5EF4-FFF2-40B4-BE49-F238E27FC236}">
                <a16:creationId xmlns:a16="http://schemas.microsoft.com/office/drawing/2014/main" id="{0C86D0C8-CABD-4623-B903-777569E12879}"/>
              </a:ext>
            </a:extLst>
          </p:cNvPr>
          <p:cNvSpPr>
            <a:spLocks xmlns:a="http://schemas.openxmlformats.org/drawingml/2006/main" noGrp="1"/>
          </p:cNvSpPr>
          <p:nvPr/>
        </p:nvSpPr>
        <p:spPr>
          <a:xfrm xmlns:a="http://schemas.openxmlformats.org/drawingml/2006/main">
            <a:off x="571500" y="2047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enterprise PCAP</a:t>
            </a:r>
          </a:p>
        </p:txBody>
      </p:sp>
      <p:sp>
        <p:nvSpPr>
          <p:cNvPr id="5" name="">
            <a:extLst xmlns:a="http://schemas.openxmlformats.org/drawingml/2006/main">
              <a:ext uri="{FF2B5EF4-FFF2-40B4-BE49-F238E27FC236}">
                <a16:creationId xmlns:a16="http://schemas.microsoft.com/office/drawing/2014/main" id="{7B3E4C5E-3093-4D73-9FBC-868C0E08D94A}"/>
              </a:ext>
            </a:extLst>
          </p:cNvPr>
          <p:cNvSpPr>
            <a:spLocks xmlns:a="http://schemas.openxmlformats.org/drawingml/2006/main" noGrp="1"/>
          </p:cNvSpPr>
          <p:nvPr/>
        </p:nvSpPr>
        <p:spPr>
          <a:xfrm xmlns:a="http://schemas.openxmlformats.org/drawingml/2006/main">
            <a:off x="3667125" y="13811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677B8"/>
                </a:solidFill>
                <a:latin typeface="Arial"/>
                <a:ea typeface="Arial"/>
                <a:cs typeface="Arial"/>
              </a:defRPr>
            </a:pPr>
            <a:r>
              <a:rPr sz="3600" b="1">
                <a:solidFill>
                  <a:srgbClr val="1677B8"/>
                </a:solidFill>
                <a:latin typeface="Arial"/>
                <a:ea typeface="Arial"/>
                <a:cs typeface="Arial"/>
              </a:rPr>
              <a:t>11.75 M</a:t>
            </a:r>
          </a:p>
        </p:txBody>
      </p:sp>
      <p:sp>
        <p:nvSpPr>
          <p:cNvPr id="6" name="">
            <a:extLst xmlns:a="http://schemas.openxmlformats.org/drawingml/2006/main">
              <a:ext uri="{FF2B5EF4-FFF2-40B4-BE49-F238E27FC236}">
                <a16:creationId xmlns:a16="http://schemas.microsoft.com/office/drawing/2014/main" id="{67C27A3F-B0ED-451B-889E-95804F1EBC66}"/>
              </a:ext>
            </a:extLst>
          </p:cNvPr>
          <p:cNvSpPr>
            <a:spLocks xmlns:a="http://schemas.openxmlformats.org/drawingml/2006/main" noGrp="1"/>
          </p:cNvSpPr>
          <p:nvPr/>
        </p:nvSpPr>
        <p:spPr>
          <a:xfrm xmlns:a="http://schemas.openxmlformats.org/drawingml/2006/main">
            <a:off x="3667125" y="2047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packet records</a:t>
            </a:r>
          </a:p>
        </p:txBody>
      </p:sp>
      <p:sp>
        <p:nvSpPr>
          <p:cNvPr id="7" name="">
            <a:extLst xmlns:a="http://schemas.openxmlformats.org/drawingml/2006/main">
              <a:ext uri="{FF2B5EF4-FFF2-40B4-BE49-F238E27FC236}">
                <a16:creationId xmlns:a16="http://schemas.microsoft.com/office/drawing/2014/main" id="{AF97B26E-4410-4AF2-966B-34C492F7048C}"/>
              </a:ext>
            </a:extLst>
          </p:cNvPr>
          <p:cNvSpPr>
            <a:spLocks xmlns:a="http://schemas.openxmlformats.org/drawingml/2006/main" noGrp="1"/>
          </p:cNvSpPr>
          <p:nvPr/>
        </p:nvSpPr>
        <p:spPr>
          <a:xfrm xmlns:a="http://schemas.openxmlformats.org/drawingml/2006/main">
            <a:off x="6762750" y="13811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9B6D"/>
                </a:solidFill>
                <a:latin typeface="Arial"/>
                <a:ea typeface="Arial"/>
                <a:cs typeface="Arial"/>
              </a:defRPr>
            </a:pPr>
            <a:r>
              <a:rPr sz="3600" b="1">
                <a:solidFill>
                  <a:srgbClr val="149B6D"/>
                </a:solidFill>
                <a:latin typeface="Arial"/>
                <a:ea typeface="Arial"/>
                <a:cs typeface="Arial"/>
              </a:rPr>
              <a:t>421,898</a:t>
            </a:r>
          </a:p>
        </p:txBody>
      </p:sp>
      <p:sp>
        <p:nvSpPr>
          <p:cNvPr id="8" name="">
            <a:extLst xmlns:a="http://schemas.openxmlformats.org/drawingml/2006/main">
              <a:ext uri="{FF2B5EF4-FFF2-40B4-BE49-F238E27FC236}">
                <a16:creationId xmlns:a16="http://schemas.microsoft.com/office/drawing/2014/main" id="{F14AFAF3-1DD0-4D7E-9144-32AEF8D4D05D}"/>
              </a:ext>
            </a:extLst>
          </p:cNvPr>
          <p:cNvSpPr>
            <a:spLocks xmlns:a="http://schemas.openxmlformats.org/drawingml/2006/main" noGrp="1"/>
          </p:cNvSpPr>
          <p:nvPr/>
        </p:nvSpPr>
        <p:spPr>
          <a:xfrm xmlns:a="http://schemas.openxmlformats.org/drawingml/2006/main">
            <a:off x="6762750" y="2047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flow records</a:t>
            </a:r>
          </a:p>
        </p:txBody>
      </p:sp>
      <p:sp>
        <p:nvSpPr>
          <p:cNvPr id="9" name="">
            <a:extLst xmlns:a="http://schemas.openxmlformats.org/drawingml/2006/main">
              <a:ext uri="{FF2B5EF4-FFF2-40B4-BE49-F238E27FC236}">
                <a16:creationId xmlns:a16="http://schemas.microsoft.com/office/drawing/2014/main" id="{DBC21ABF-BEEB-425D-AAE5-14D3C033A000}"/>
              </a:ext>
            </a:extLst>
          </p:cNvPr>
          <p:cNvSpPr>
            <a:spLocks xmlns:a="http://schemas.openxmlformats.org/drawingml/2006/main" noGrp="1"/>
          </p:cNvSpPr>
          <p:nvPr/>
        </p:nvSpPr>
        <p:spPr>
          <a:xfrm xmlns:a="http://schemas.openxmlformats.org/drawingml/2006/main">
            <a:off x="9525000" y="138112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E9A000"/>
                </a:solidFill>
                <a:latin typeface="Arial"/>
                <a:ea typeface="Arial"/>
                <a:cs typeface="Arial"/>
              </a:defRPr>
            </a:pPr>
            <a:r>
              <a:rPr sz="3600" b="1">
                <a:solidFill>
                  <a:srgbClr val="E9A000"/>
                </a:solidFill>
                <a:latin typeface="Arial"/>
                <a:ea typeface="Arial"/>
                <a:cs typeface="Arial"/>
              </a:rPr>
              <a:t>3.945%</a:t>
            </a:r>
          </a:p>
        </p:txBody>
      </p:sp>
      <p:sp>
        <p:nvSpPr>
          <p:cNvPr id="10" name="">
            <a:extLst xmlns:a="http://schemas.openxmlformats.org/drawingml/2006/main">
              <a:ext uri="{FF2B5EF4-FFF2-40B4-BE49-F238E27FC236}">
                <a16:creationId xmlns:a16="http://schemas.microsoft.com/office/drawing/2014/main" id="{A69F5FC7-156E-42D3-94EA-772463EAD665}"/>
              </a:ext>
            </a:extLst>
          </p:cNvPr>
          <p:cNvSpPr>
            <a:spLocks xmlns:a="http://schemas.openxmlformats.org/drawingml/2006/main" noGrp="1"/>
          </p:cNvSpPr>
          <p:nvPr/>
        </p:nvSpPr>
        <p:spPr>
          <a:xfrm xmlns:a="http://schemas.openxmlformats.org/drawingml/2006/main">
            <a:off x="9525000" y="20478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class-1 prevalence</a:t>
            </a:r>
          </a:p>
        </p:txBody>
      </p:sp>
      <p:sp>
        <p:nvSpPr>
          <p:cNvPr id="11" name="">
            <a:extLst xmlns:a="http://schemas.openxmlformats.org/drawingml/2006/main">
              <a:ext uri="{FF2B5EF4-FFF2-40B4-BE49-F238E27FC236}">
                <a16:creationId xmlns:a16="http://schemas.microsoft.com/office/drawing/2014/main" id="{873088C1-BEC4-4EA9-B898-C5078D4464C6}"/>
              </a:ext>
            </a:extLst>
          </p:cNvPr>
          <p:cNvSpPr>
            <a:spLocks xmlns:a="http://schemas.openxmlformats.org/drawingml/2006/main" noGrp="1"/>
          </p:cNvSpPr>
          <p:nvPr/>
        </p:nvSpPr>
        <p:spPr>
          <a:xfrm xmlns:a="http://schemas.openxmlformats.org/drawingml/2006/main">
            <a:off x="428625" y="3524250"/>
            <a:ext cx="1714500" cy="876300"/>
          </a:xfrm>
          <a:prstGeom xmlns:a="http://schemas.openxmlformats.org/drawingml/2006/main" prst="roundRect">
            <a:avLst>
              <a:gd name="adj" fmla="val 8696"/>
            </a:avLst>
          </a:prstGeom>
          <a:solidFill xmlns:a="http://schemas.openxmlformats.org/drawingml/2006/main">
            <a:srgbClr val="F1F3F5"/>
          </a:solidFill>
          <a:ln xmlns:a="http://schemas.openxmlformats.org/drawingml/2006/main" w="9525">
            <a:solidFill>
              <a:srgbClr val="C8CDD4"/>
            </a:solidFill>
            <a:prstDash val="solid"/>
          </a:ln>
        </p:spPr>
      </p:sp>
      <p:sp>
        <p:nvSpPr>
          <p:cNvPr id="12" name="">
            <a:extLst xmlns:a="http://schemas.openxmlformats.org/drawingml/2006/main">
              <a:ext uri="{FF2B5EF4-FFF2-40B4-BE49-F238E27FC236}">
                <a16:creationId xmlns:a16="http://schemas.microsoft.com/office/drawing/2014/main" id="{51E2B61A-1F99-4F06-AE01-A83496B17649}"/>
              </a:ext>
            </a:extLst>
          </p:cNvPr>
          <p:cNvSpPr>
            <a:spLocks xmlns:a="http://schemas.openxmlformats.org/drawingml/2006/main" noGrp="1"/>
          </p:cNvSpPr>
          <p:nvPr/>
        </p:nvSpPr>
        <p:spPr>
          <a:xfrm xmlns:a="http://schemas.openxmlformats.org/drawingml/2006/main">
            <a:off x="523875" y="36195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PCAP</a:t>
            </a:r>
          </a:p>
        </p:txBody>
      </p:sp>
      <p:sp>
        <p:nvSpPr>
          <p:cNvPr id="13" name="">
            <a:extLst xmlns:a="http://schemas.openxmlformats.org/drawingml/2006/main">
              <a:ext uri="{FF2B5EF4-FFF2-40B4-BE49-F238E27FC236}">
                <a16:creationId xmlns:a16="http://schemas.microsoft.com/office/drawing/2014/main" id="{0872A9F8-C2E3-40AE-BC9D-46FBAB165445}"/>
              </a:ext>
            </a:extLst>
          </p:cNvPr>
          <p:cNvSpPr>
            <a:spLocks xmlns:a="http://schemas.openxmlformats.org/drawingml/2006/main" noGrp="1"/>
          </p:cNvSpPr>
          <p:nvPr/>
        </p:nvSpPr>
        <p:spPr>
          <a:xfrm xmlns:a="http://schemas.openxmlformats.org/drawingml/2006/main">
            <a:off x="2143125" y="3781425"/>
            <a:ext cx="523875"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14" name="">
            <a:extLst xmlns:a="http://schemas.openxmlformats.org/drawingml/2006/main">
              <a:ext uri="{FF2B5EF4-FFF2-40B4-BE49-F238E27FC236}">
                <a16:creationId xmlns:a16="http://schemas.microsoft.com/office/drawing/2014/main" id="{11AF5813-1ADA-4281-83CE-38D653753E87}"/>
              </a:ext>
            </a:extLst>
          </p:cNvPr>
          <p:cNvSpPr>
            <a:spLocks xmlns:a="http://schemas.openxmlformats.org/drawingml/2006/main" noGrp="1"/>
          </p:cNvSpPr>
          <p:nvPr/>
        </p:nvSpPr>
        <p:spPr>
          <a:xfrm xmlns:a="http://schemas.openxmlformats.org/drawingml/2006/main">
            <a:off x="2714625" y="3524250"/>
            <a:ext cx="1714500" cy="876300"/>
          </a:xfrm>
          <a:prstGeom xmlns:a="http://schemas.openxmlformats.org/drawingml/2006/main" prst="roundRect">
            <a:avLst>
              <a:gd name="adj" fmla="val 8696"/>
            </a:avLst>
          </a:prstGeom>
          <a:solidFill xmlns:a="http://schemas.openxmlformats.org/drawingml/2006/main">
            <a:srgbClr val="F1F3F5"/>
          </a:solidFill>
          <a:ln xmlns:a="http://schemas.openxmlformats.org/drawingml/2006/main" w="9525">
            <a:solidFill>
              <a:srgbClr val="C8CDD4"/>
            </a:solidFill>
            <a:prstDash val="solid"/>
          </a:ln>
        </p:spPr>
      </p:sp>
      <p:sp>
        <p:nvSpPr>
          <p:cNvPr id="15" name="">
            <a:extLst xmlns:a="http://schemas.openxmlformats.org/drawingml/2006/main">
              <a:ext uri="{FF2B5EF4-FFF2-40B4-BE49-F238E27FC236}">
                <a16:creationId xmlns:a16="http://schemas.microsoft.com/office/drawing/2014/main" id="{F94722AA-A2BA-4A13-BEBB-DFC1D09B3CD6}"/>
              </a:ext>
            </a:extLst>
          </p:cNvPr>
          <p:cNvSpPr>
            <a:spLocks xmlns:a="http://schemas.openxmlformats.org/drawingml/2006/main" noGrp="1"/>
          </p:cNvSpPr>
          <p:nvPr/>
        </p:nvSpPr>
        <p:spPr>
          <a:xfrm xmlns:a="http://schemas.openxmlformats.org/drawingml/2006/main">
            <a:off x="2809875" y="36195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Suricata +</a:t>
            </a:r>
          </a:p>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custom logger</a:t>
            </a:r>
          </a:p>
        </p:txBody>
      </p:sp>
      <p:sp>
        <p:nvSpPr>
          <p:cNvPr id="16" name="">
            <a:extLst xmlns:a="http://schemas.openxmlformats.org/drawingml/2006/main">
              <a:ext uri="{FF2B5EF4-FFF2-40B4-BE49-F238E27FC236}">
                <a16:creationId xmlns:a16="http://schemas.microsoft.com/office/drawing/2014/main" id="{3930DB2F-A861-448D-BF57-7F18ED6FAB71}"/>
              </a:ext>
            </a:extLst>
          </p:cNvPr>
          <p:cNvSpPr>
            <a:spLocks xmlns:a="http://schemas.openxmlformats.org/drawingml/2006/main" noGrp="1"/>
          </p:cNvSpPr>
          <p:nvPr/>
        </p:nvSpPr>
        <p:spPr>
          <a:xfrm xmlns:a="http://schemas.openxmlformats.org/drawingml/2006/main">
            <a:off x="4429125" y="3781425"/>
            <a:ext cx="523875"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17" name="">
            <a:extLst xmlns:a="http://schemas.openxmlformats.org/drawingml/2006/main">
              <a:ext uri="{FF2B5EF4-FFF2-40B4-BE49-F238E27FC236}">
                <a16:creationId xmlns:a16="http://schemas.microsoft.com/office/drawing/2014/main" id="{990679D6-A250-4A7F-8D14-6F273A287E6A}"/>
              </a:ext>
            </a:extLst>
          </p:cNvPr>
          <p:cNvSpPr>
            <a:spLocks xmlns:a="http://schemas.openxmlformats.org/drawingml/2006/main" noGrp="1"/>
          </p:cNvSpPr>
          <p:nvPr/>
        </p:nvSpPr>
        <p:spPr>
          <a:xfrm xmlns:a="http://schemas.openxmlformats.org/drawingml/2006/main">
            <a:off x="5000625" y="3524250"/>
            <a:ext cx="1714500" cy="876300"/>
          </a:xfrm>
          <a:prstGeom xmlns:a="http://schemas.openxmlformats.org/drawingml/2006/main" prst="roundRect">
            <a:avLst>
              <a:gd name="adj" fmla="val 8696"/>
            </a:avLst>
          </a:prstGeom>
          <a:solidFill xmlns:a="http://schemas.openxmlformats.org/drawingml/2006/main">
            <a:srgbClr val="F1F3F5"/>
          </a:solidFill>
          <a:ln xmlns:a="http://schemas.openxmlformats.org/drawingml/2006/main" w="9525">
            <a:solidFill>
              <a:srgbClr val="C8CDD4"/>
            </a:solidFill>
            <a:prstDash val="solid"/>
          </a:ln>
        </p:spPr>
      </p:sp>
      <p:sp>
        <p:nvSpPr>
          <p:cNvPr id="18" name="">
            <a:extLst xmlns:a="http://schemas.openxmlformats.org/drawingml/2006/main">
              <a:ext uri="{FF2B5EF4-FFF2-40B4-BE49-F238E27FC236}">
                <a16:creationId xmlns:a16="http://schemas.microsoft.com/office/drawing/2014/main" id="{2892B7CB-4192-4129-80F0-A5DE2514A543}"/>
              </a:ext>
            </a:extLst>
          </p:cNvPr>
          <p:cNvSpPr>
            <a:spLocks xmlns:a="http://schemas.openxmlformats.org/drawingml/2006/main" noGrp="1"/>
          </p:cNvSpPr>
          <p:nvPr/>
        </p:nvSpPr>
        <p:spPr>
          <a:xfrm xmlns:a="http://schemas.openxmlformats.org/drawingml/2006/main">
            <a:off x="5095875" y="36195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aligned packet</a:t>
            </a:r>
          </a:p>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&amp; flow CSVs</a:t>
            </a:r>
          </a:p>
        </p:txBody>
      </p:sp>
      <p:sp>
        <p:nvSpPr>
          <p:cNvPr id="19" name="">
            <a:extLst xmlns:a="http://schemas.openxmlformats.org/drawingml/2006/main">
              <a:ext uri="{FF2B5EF4-FFF2-40B4-BE49-F238E27FC236}">
                <a16:creationId xmlns:a16="http://schemas.microsoft.com/office/drawing/2014/main" id="{9E764FEF-B5E7-4746-9FDB-BC3EB7ED19AA}"/>
              </a:ext>
            </a:extLst>
          </p:cNvPr>
          <p:cNvSpPr>
            <a:spLocks xmlns:a="http://schemas.openxmlformats.org/drawingml/2006/main" noGrp="1"/>
          </p:cNvSpPr>
          <p:nvPr/>
        </p:nvSpPr>
        <p:spPr>
          <a:xfrm xmlns:a="http://schemas.openxmlformats.org/drawingml/2006/main">
            <a:off x="6715125" y="3781425"/>
            <a:ext cx="523875"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20" name="">
            <a:extLst xmlns:a="http://schemas.openxmlformats.org/drawingml/2006/main">
              <a:ext uri="{FF2B5EF4-FFF2-40B4-BE49-F238E27FC236}">
                <a16:creationId xmlns:a16="http://schemas.microsoft.com/office/drawing/2014/main" id="{472EEE01-17F0-4DF0-AF2E-4F3E3329BFB6}"/>
              </a:ext>
            </a:extLst>
          </p:cNvPr>
          <p:cNvSpPr>
            <a:spLocks xmlns:a="http://schemas.openxmlformats.org/drawingml/2006/main" noGrp="1"/>
          </p:cNvSpPr>
          <p:nvPr/>
        </p:nvSpPr>
        <p:spPr>
          <a:xfrm xmlns:a="http://schemas.openxmlformats.org/drawingml/2006/main">
            <a:off x="7286625" y="3524250"/>
            <a:ext cx="1714500" cy="876300"/>
          </a:xfrm>
          <a:prstGeom xmlns:a="http://schemas.openxmlformats.org/drawingml/2006/main" prst="roundRect">
            <a:avLst>
              <a:gd name="adj" fmla="val 8696"/>
            </a:avLst>
          </a:prstGeom>
          <a:solidFill xmlns:a="http://schemas.openxmlformats.org/drawingml/2006/main">
            <a:srgbClr val="F1F3F5"/>
          </a:solidFill>
          <a:ln xmlns:a="http://schemas.openxmlformats.org/drawingml/2006/main" w="9525">
            <a:solidFill>
              <a:srgbClr val="C8CDD4"/>
            </a:solidFill>
            <a:prstDash val="solid"/>
          </a:ln>
        </p:spPr>
      </p:sp>
      <p:sp>
        <p:nvSpPr>
          <p:cNvPr id="21" name="">
            <a:extLst xmlns:a="http://schemas.openxmlformats.org/drawingml/2006/main">
              <a:ext uri="{FF2B5EF4-FFF2-40B4-BE49-F238E27FC236}">
                <a16:creationId xmlns:a16="http://schemas.microsoft.com/office/drawing/2014/main" id="{6D339F73-335B-4F7C-BFC7-72ECF62B4D59}"/>
              </a:ext>
            </a:extLst>
          </p:cNvPr>
          <p:cNvSpPr>
            <a:spLocks xmlns:a="http://schemas.openxmlformats.org/drawingml/2006/main" noGrp="1"/>
          </p:cNvSpPr>
          <p:nvPr/>
        </p:nvSpPr>
        <p:spPr>
          <a:xfrm xmlns:a="http://schemas.openxmlformats.org/drawingml/2006/main">
            <a:off x="7381875" y="36195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70 / 10 / 20%</a:t>
            </a:r>
          </a:p>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chronological split</a:t>
            </a:r>
          </a:p>
        </p:txBody>
      </p:sp>
      <p:sp>
        <p:nvSpPr>
          <p:cNvPr id="22" name="">
            <a:extLst xmlns:a="http://schemas.openxmlformats.org/drawingml/2006/main">
              <a:ext uri="{FF2B5EF4-FFF2-40B4-BE49-F238E27FC236}">
                <a16:creationId xmlns:a16="http://schemas.microsoft.com/office/drawing/2014/main" id="{72AEB761-3040-4F3B-8834-BB40635F3353}"/>
              </a:ext>
            </a:extLst>
          </p:cNvPr>
          <p:cNvSpPr>
            <a:spLocks xmlns:a="http://schemas.openxmlformats.org/drawingml/2006/main" noGrp="1"/>
          </p:cNvSpPr>
          <p:nvPr/>
        </p:nvSpPr>
        <p:spPr>
          <a:xfrm xmlns:a="http://schemas.openxmlformats.org/drawingml/2006/main">
            <a:off x="9001125" y="3781425"/>
            <a:ext cx="523875"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23" name="">
            <a:extLst xmlns:a="http://schemas.openxmlformats.org/drawingml/2006/main">
              <a:ext uri="{FF2B5EF4-FFF2-40B4-BE49-F238E27FC236}">
                <a16:creationId xmlns:a16="http://schemas.microsoft.com/office/drawing/2014/main" id="{9D12A593-4C06-471D-8082-1F18C3170589}"/>
              </a:ext>
            </a:extLst>
          </p:cNvPr>
          <p:cNvSpPr>
            <a:spLocks xmlns:a="http://schemas.openxmlformats.org/drawingml/2006/main" noGrp="1"/>
          </p:cNvSpPr>
          <p:nvPr/>
        </p:nvSpPr>
        <p:spPr>
          <a:xfrm xmlns:a="http://schemas.openxmlformats.org/drawingml/2006/main">
            <a:off x="9572625" y="3524250"/>
            <a:ext cx="1714500" cy="876300"/>
          </a:xfrm>
          <a:prstGeom xmlns:a="http://schemas.openxmlformats.org/drawingml/2006/main" prst="roundRect">
            <a:avLst>
              <a:gd name="adj" fmla="val 8696"/>
            </a:avLst>
          </a:prstGeom>
          <a:solidFill xmlns:a="http://schemas.openxmlformats.org/drawingml/2006/main">
            <a:srgbClr val="E8F5EE"/>
          </a:solidFill>
          <a:ln xmlns:a="http://schemas.openxmlformats.org/drawingml/2006/main" w="9525">
            <a:solidFill>
              <a:srgbClr val="149B6D"/>
            </a:solidFill>
            <a:prstDash val="solid"/>
          </a:ln>
        </p:spPr>
      </p:sp>
      <p:sp>
        <p:nvSpPr>
          <p:cNvPr id="24" name="">
            <a:extLst xmlns:a="http://schemas.openxmlformats.org/drawingml/2006/main">
              <a:ext uri="{FF2B5EF4-FFF2-40B4-BE49-F238E27FC236}">
                <a16:creationId xmlns:a16="http://schemas.microsoft.com/office/drawing/2014/main" id="{89E243A9-3DA3-451F-883A-CEFE7A4E1BD4}"/>
              </a:ext>
            </a:extLst>
          </p:cNvPr>
          <p:cNvSpPr>
            <a:spLocks xmlns:a="http://schemas.openxmlformats.org/drawingml/2006/main" noGrp="1"/>
          </p:cNvSpPr>
          <p:nvPr/>
        </p:nvSpPr>
        <p:spPr>
          <a:xfrm xmlns:a="http://schemas.openxmlformats.org/drawingml/2006/main">
            <a:off x="9667875" y="36195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model tensors</a:t>
            </a:r>
          </a:p>
        </p:txBody>
      </p:sp>
      <p:sp>
        <p:nvSpPr>
          <p:cNvPr id="25" name="">
            <a:extLst xmlns:a="http://schemas.openxmlformats.org/drawingml/2006/main">
              <a:ext uri="{FF2B5EF4-FFF2-40B4-BE49-F238E27FC236}">
                <a16:creationId xmlns:a16="http://schemas.microsoft.com/office/drawing/2014/main" id="{DE2576BF-A642-447A-A71A-8EDB10536D78}"/>
              </a:ext>
            </a:extLst>
          </p:cNvPr>
          <p:cNvSpPr>
            <a:spLocks xmlns:a="http://schemas.openxmlformats.org/drawingml/2006/main" noGrp="1"/>
          </p:cNvSpPr>
          <p:nvPr/>
        </p:nvSpPr>
        <p:spPr>
          <a:xfrm xmlns:a="http://schemas.openxmlformats.org/drawingml/2006/main">
            <a:off x="571500" y="533400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318"/>
                </a:solidFill>
                <a:latin typeface="Arial"/>
                <a:ea typeface="Arial"/>
                <a:cs typeface="Arial"/>
              </a:defRPr>
            </a:pPr>
            <a:r>
              <a:rPr sz="1875" b="1">
                <a:solidFill>
                  <a:srgbClr val="111318"/>
                </a:solidFill>
                <a:latin typeface="Arial"/>
                <a:ea typeface="Arial"/>
                <a:cs typeface="Arial"/>
              </a:rPr>
              <a:t>Weak labels: class 1 means at least one Suricata alert in the flow.</a:t>
            </a:r>
          </a:p>
        </p:txBody>
      </p:sp>
    </p:spTree>
    <p:extLst>
      <p:ext uri="{BB962C8B-B14F-4D97-AF65-F5344CB8AC3E}">
        <p14:creationId xmlns:p14="http://schemas.microsoft.com/office/powerpoint/2010/main" val="621681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4CE144-8ADF-4CBC-9B8C-78C02B809E35}"/>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The model preserves two levels of traffic structure</a:t>
            </a:r>
          </a:p>
        </p:txBody>
      </p:sp>
      <p:sp>
        <p:nvSpPr>
          <p:cNvPr id="2" name="">
            <a:extLst xmlns:a="http://schemas.openxmlformats.org/drawingml/2006/main">
              <a:ext uri="{FF2B5EF4-FFF2-40B4-BE49-F238E27FC236}">
                <a16:creationId xmlns:a16="http://schemas.microsoft.com/office/drawing/2014/main" id="{38B91E81-1A53-494A-AEB0-CC09FD17F379}"/>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06</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66fff1af63b468a"/>
          <a:stretch xmlns:a="http://schemas.openxmlformats.org/drawingml/2006/main"/>
        </p:blipFill>
        <p:spPr>
          <a:xfrm xmlns:a="http://schemas.openxmlformats.org/drawingml/2006/main">
            <a:off x="523875" y="1508489"/>
            <a:ext cx="11144250" cy="39362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8A04DA-CA3E-4B67-BAAF-247F112A7C5A}"/>
              </a:ext>
            </a:extLst>
          </p:cNvPr>
          <p:cNvSpPr>
            <a:spLocks xmlns:a="http://schemas.openxmlformats.org/drawingml/2006/main" noGrp="1"/>
          </p:cNvSpPr>
          <p:nvPr/>
        </p:nvSpPr>
        <p:spPr>
          <a:xfrm xmlns:a="http://schemas.openxmlformats.org/drawingml/2006/main">
            <a:off x="762000" y="5715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11318"/>
                </a:solidFill>
                <a:latin typeface="Arial"/>
                <a:ea typeface="Arial"/>
                <a:cs typeface="Arial"/>
              </a:defRPr>
            </a:pPr>
            <a:r>
              <a:rPr sz="1800" b="1">
                <a:solidFill>
                  <a:srgbClr val="111318"/>
                </a:solidFill>
                <a:latin typeface="Arial"/>
                <a:ea typeface="Arial"/>
                <a:cs typeface="Arial"/>
              </a:rPr>
              <a:t>Stage 1 learns how a flow develops. Stage 2 asks whether earlier related flows change its meaning.</a:t>
            </a:r>
          </a:p>
        </p:txBody>
      </p:sp>
    </p:spTree>
    <p:extLst>
      <p:ext uri="{BB962C8B-B14F-4D97-AF65-F5344CB8AC3E}">
        <p14:creationId xmlns:p14="http://schemas.microsoft.com/office/powerpoint/2010/main" val="17137629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B8FC39-01F2-49A5-86B5-CBACD00A0449}"/>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Stage 1 encodes packet order and elapsed time separately</a:t>
            </a:r>
          </a:p>
        </p:txBody>
      </p:sp>
      <p:sp>
        <p:nvSpPr>
          <p:cNvPr id="2" name="">
            <a:extLst xmlns:a="http://schemas.openxmlformats.org/drawingml/2006/main">
              <a:ext uri="{FF2B5EF4-FFF2-40B4-BE49-F238E27FC236}">
                <a16:creationId xmlns:a16="http://schemas.microsoft.com/office/drawing/2014/main" id="{08B735AE-E679-45F1-A334-3B70A3FFB31E}"/>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A0D78B6-B6EA-4038-B2C6-A553859EC49D}"/>
              </a:ext>
            </a:extLst>
          </p:cNvPr>
          <p:cNvSpPr>
            <a:spLocks xmlns:a="http://schemas.openxmlformats.org/drawingml/2006/main" noGrp="1"/>
          </p:cNvSpPr>
          <p:nvPr/>
        </p:nvSpPr>
        <p:spPr>
          <a:xfrm xmlns:a="http://schemas.openxmlformats.org/drawingml/2006/main">
            <a:off x="619125" y="1476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677B8"/>
                </a:solidFill>
                <a:latin typeface="Arial"/>
                <a:ea typeface="Arial"/>
                <a:cs typeface="Arial"/>
              </a:defRPr>
            </a:pPr>
            <a:r>
              <a:rPr sz="1950" b="1">
                <a:solidFill>
                  <a:srgbClr val="1677B8"/>
                </a:solidFill>
                <a:latin typeface="Arial"/>
                <a:ea typeface="Arial"/>
                <a:cs typeface="Arial"/>
              </a:rPr>
              <a:t>Packet position</a:t>
            </a:r>
          </a:p>
        </p:txBody>
      </p:sp>
      <p:sp>
        <p:nvSpPr>
          <p:cNvPr id="4" name="">
            <a:extLst xmlns:a="http://schemas.openxmlformats.org/drawingml/2006/main">
              <a:ext uri="{FF2B5EF4-FFF2-40B4-BE49-F238E27FC236}">
                <a16:creationId xmlns:a16="http://schemas.microsoft.com/office/drawing/2014/main" id="{3DD73E39-D6B2-4CC1-80A1-0DFA5DF415AB}"/>
              </a:ext>
            </a:extLst>
          </p:cNvPr>
          <p:cNvSpPr>
            <a:spLocks xmlns:a="http://schemas.openxmlformats.org/drawingml/2006/main" noGrp="1"/>
          </p:cNvSpPr>
          <p:nvPr/>
        </p:nvSpPr>
        <p:spPr>
          <a:xfrm xmlns:a="http://schemas.openxmlformats.org/drawingml/2006/main">
            <a:off x="619125" y="19050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Where does the packet occur?</a:t>
            </a:r>
          </a:p>
        </p:txBody>
      </p:sp>
      <p:sp>
        <p:nvSpPr>
          <p:cNvPr id="5" name="">
            <a:extLst xmlns:a="http://schemas.openxmlformats.org/drawingml/2006/main">
              <a:ext uri="{FF2B5EF4-FFF2-40B4-BE49-F238E27FC236}">
                <a16:creationId xmlns:a16="http://schemas.microsoft.com/office/drawing/2014/main" id="{3BA3D770-15BC-4B59-AD31-73B3C56F8E3F}"/>
              </a:ext>
            </a:extLst>
          </p:cNvPr>
          <p:cNvSpPr>
            <a:spLocks xmlns:a="http://schemas.openxmlformats.org/drawingml/2006/main" noGrp="1"/>
          </p:cNvSpPr>
          <p:nvPr/>
        </p:nvSpPr>
        <p:spPr>
          <a:xfrm xmlns:a="http://schemas.openxmlformats.org/drawingml/2006/main">
            <a:off x="619125" y="24288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677B8"/>
                </a:solidFill>
                <a:latin typeface="Arial"/>
                <a:ea typeface="Arial"/>
                <a:cs typeface="Arial"/>
              </a:defRPr>
            </a:pPr>
            <a:r>
              <a:rPr sz="2100" b="1">
                <a:solidFill>
                  <a:srgbClr val="1677B8"/>
                </a:solidFill>
                <a:latin typeface="Arial"/>
                <a:ea typeface="Arial"/>
                <a:cs typeface="Arial"/>
              </a:rPr>
              <a:t>1     2     3     4     5</a:t>
            </a:r>
          </a:p>
        </p:txBody>
      </p:sp>
      <p:sp>
        <p:nvSpPr>
          <p:cNvPr id="6" name="">
            <a:extLst xmlns:a="http://schemas.openxmlformats.org/drawingml/2006/main">
              <a:ext uri="{FF2B5EF4-FFF2-40B4-BE49-F238E27FC236}">
                <a16:creationId xmlns:a16="http://schemas.microsoft.com/office/drawing/2014/main" id="{791514D0-F85E-4345-B529-F21A18ADF8AB}"/>
              </a:ext>
            </a:extLst>
          </p:cNvPr>
          <p:cNvSpPr>
            <a:spLocks xmlns:a="http://schemas.openxmlformats.org/drawingml/2006/main" noGrp="1"/>
          </p:cNvSpPr>
          <p:nvPr/>
        </p:nvSpPr>
        <p:spPr>
          <a:xfrm xmlns:a="http://schemas.openxmlformats.org/drawingml/2006/main">
            <a:off x="4476750" y="147637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E9A000"/>
                </a:solidFill>
                <a:latin typeface="Arial"/>
                <a:ea typeface="Arial"/>
                <a:cs typeface="Arial"/>
              </a:defRPr>
            </a:pPr>
            <a:r>
              <a:rPr sz="1950" b="1">
                <a:solidFill>
                  <a:srgbClr val="E9A000"/>
                </a:solidFill>
                <a:latin typeface="Arial"/>
                <a:ea typeface="Arial"/>
                <a:cs typeface="Arial"/>
              </a:rPr>
              <a:t>Cumulative time</a:t>
            </a:r>
          </a:p>
        </p:txBody>
      </p:sp>
      <p:sp>
        <p:nvSpPr>
          <p:cNvPr id="7" name="">
            <a:extLst xmlns:a="http://schemas.openxmlformats.org/drawingml/2006/main">
              <a:ext uri="{FF2B5EF4-FFF2-40B4-BE49-F238E27FC236}">
                <a16:creationId xmlns:a16="http://schemas.microsoft.com/office/drawing/2014/main" id="{979A0021-0D37-4482-BDFF-506E6D2A07CA}"/>
              </a:ext>
            </a:extLst>
          </p:cNvPr>
          <p:cNvSpPr>
            <a:spLocks xmlns:a="http://schemas.openxmlformats.org/drawingml/2006/main" noGrp="1"/>
          </p:cNvSpPr>
          <p:nvPr/>
        </p:nvSpPr>
        <p:spPr>
          <a:xfrm xmlns:a="http://schemas.openxmlformats.org/drawingml/2006/main">
            <a:off x="4476750" y="19050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How much time has elapsed?</a:t>
            </a:r>
          </a:p>
        </p:txBody>
      </p:sp>
      <p:sp>
        <p:nvSpPr>
          <p:cNvPr id="8" name="">
            <a:extLst xmlns:a="http://schemas.openxmlformats.org/drawingml/2006/main">
              <a:ext uri="{FF2B5EF4-FFF2-40B4-BE49-F238E27FC236}">
                <a16:creationId xmlns:a16="http://schemas.microsoft.com/office/drawing/2014/main" id="{486DC967-9BFB-4954-9435-A6A4974E48BA}"/>
              </a:ext>
            </a:extLst>
          </p:cNvPr>
          <p:cNvSpPr>
            <a:spLocks xmlns:a="http://schemas.openxmlformats.org/drawingml/2006/main" noGrp="1"/>
          </p:cNvSpPr>
          <p:nvPr/>
        </p:nvSpPr>
        <p:spPr>
          <a:xfrm xmlns:a="http://schemas.openxmlformats.org/drawingml/2006/main">
            <a:off x="4476750" y="24288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E9A000"/>
                </a:solidFill>
                <a:latin typeface="Arial"/>
                <a:ea typeface="Arial"/>
                <a:cs typeface="Arial"/>
              </a:defRPr>
            </a:pPr>
            <a:r>
              <a:rPr sz="2025" b="1">
                <a:solidFill>
                  <a:srgbClr val="E9A000"/>
                </a:solidFill>
                <a:latin typeface="Arial"/>
                <a:ea typeface="Arial"/>
                <a:cs typeface="Arial"/>
              </a:rPr>
              <a:t>0 μs   8 μs   13 μs        2.1 s</a:t>
            </a:r>
          </a:p>
        </p:txBody>
      </p:sp>
      <p:sp>
        <p:nvSpPr>
          <p:cNvPr id="9" name="">
            <a:extLst xmlns:a="http://schemas.openxmlformats.org/drawingml/2006/main">
              <a:ext uri="{FF2B5EF4-FFF2-40B4-BE49-F238E27FC236}">
                <a16:creationId xmlns:a16="http://schemas.microsoft.com/office/drawing/2014/main" id="{8C6D1559-1BFD-43D2-88BA-7D2F38770D6F}"/>
              </a:ext>
            </a:extLst>
          </p:cNvPr>
          <p:cNvSpPr>
            <a:spLocks xmlns:a="http://schemas.openxmlformats.org/drawingml/2006/main" noGrp="1"/>
          </p:cNvSpPr>
          <p:nvPr/>
        </p:nvSpPr>
        <p:spPr>
          <a:xfrm xmlns:a="http://schemas.openxmlformats.org/drawingml/2006/main">
            <a:off x="8382000" y="2428875"/>
            <a:ext cx="809625" cy="323850"/>
          </a:xfrm>
          <a:prstGeom xmlns:a="http://schemas.openxmlformats.org/drawingml/2006/main" prst="rightArrow">
            <a:avLst/>
          </a:prstGeom>
          <a:solidFill xmlns:a="http://schemas.openxmlformats.org/drawingml/2006/main">
            <a:srgbClr val="1677B8"/>
          </a:solidFill>
          <a:ln xmlns:a="http://schemas.openxmlformats.org/drawingml/2006/main" w="0">
            <a:solidFill>
              <a:srgbClr val="1677B8"/>
            </a:solidFill>
            <a:prstDash val="solid"/>
          </a:ln>
        </p:spPr>
      </p:sp>
      <p:sp>
        <p:nvSpPr>
          <p:cNvPr id="10" name="">
            <a:extLst xmlns:a="http://schemas.openxmlformats.org/drawingml/2006/main">
              <a:ext uri="{FF2B5EF4-FFF2-40B4-BE49-F238E27FC236}">
                <a16:creationId xmlns:a16="http://schemas.microsoft.com/office/drawing/2014/main" id="{1D9AE107-AA35-4870-8991-A62F680F886B}"/>
              </a:ext>
            </a:extLst>
          </p:cNvPr>
          <p:cNvSpPr>
            <a:spLocks xmlns:a="http://schemas.openxmlformats.org/drawingml/2006/main" noGrp="1"/>
          </p:cNvSpPr>
          <p:nvPr/>
        </p:nvSpPr>
        <p:spPr>
          <a:xfrm xmlns:a="http://schemas.openxmlformats.org/drawingml/2006/main">
            <a:off x="9429750" y="1857375"/>
            <a:ext cx="2143125" cy="1333500"/>
          </a:xfrm>
          <a:prstGeom xmlns:a="http://schemas.openxmlformats.org/drawingml/2006/main" prst="roundRect">
            <a:avLst>
              <a:gd name="adj" fmla="val 5714"/>
            </a:avLst>
          </a:prstGeom>
          <a:solidFill xmlns:a="http://schemas.openxmlformats.org/drawingml/2006/main">
            <a:srgbClr val="EAF6FC"/>
          </a:solidFill>
          <a:ln xmlns:a="http://schemas.openxmlformats.org/drawingml/2006/main" w="9525">
            <a:solidFill>
              <a:srgbClr val="1677B8"/>
            </a:solidFill>
            <a:prstDash val="solid"/>
          </a:ln>
        </p:spPr>
      </p:sp>
      <p:sp>
        <p:nvSpPr>
          <p:cNvPr id="11" name="">
            <a:extLst xmlns:a="http://schemas.openxmlformats.org/drawingml/2006/main">
              <a:ext uri="{FF2B5EF4-FFF2-40B4-BE49-F238E27FC236}">
                <a16:creationId xmlns:a16="http://schemas.microsoft.com/office/drawing/2014/main" id="{ECF0C66F-0B76-46F9-952F-FFE996DB8327}"/>
              </a:ext>
            </a:extLst>
          </p:cNvPr>
          <p:cNvSpPr>
            <a:spLocks xmlns:a="http://schemas.openxmlformats.org/drawingml/2006/main" noGrp="1"/>
          </p:cNvSpPr>
          <p:nvPr/>
        </p:nvSpPr>
        <p:spPr>
          <a:xfrm xmlns:a="http://schemas.openxmlformats.org/drawingml/2006/main">
            <a:off x="9620250" y="2000250"/>
            <a:ext cx="1762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318"/>
                </a:solidFill>
                <a:latin typeface="Arial"/>
                <a:ea typeface="Arial"/>
                <a:cs typeface="Arial"/>
              </a:defRPr>
            </a:pPr>
            <a:r>
              <a:rPr sz="1875" b="1">
                <a:solidFill>
                  <a:srgbClr val="111318"/>
                </a:solidFill>
                <a:latin typeface="Arial"/>
                <a:ea typeface="Arial"/>
                <a:cs typeface="Arial"/>
              </a:rPr>
              <a:t>Time-aware</a:t>
            </a:r>
          </a:p>
          <a:p xmlns:a="http://schemas.openxmlformats.org/drawingml/2006/main">
            <a:pPr algn="ctr">
              <a:defRPr sz="1875" b="1">
                <a:solidFill>
                  <a:srgbClr val="111318"/>
                </a:solidFill>
                <a:latin typeface="Arial"/>
                <a:ea typeface="Arial"/>
                <a:cs typeface="Arial"/>
              </a:defRPr>
            </a:pPr>
            <a:r>
              <a:rPr sz="1875" b="1">
                <a:solidFill>
                  <a:srgbClr val="111318"/>
                </a:solidFill>
                <a:latin typeface="Arial"/>
                <a:ea typeface="Arial"/>
                <a:cs typeface="Arial"/>
              </a:rPr>
              <a:t>sinusoidal</a:t>
            </a:r>
          </a:p>
          <a:p xmlns:a="http://schemas.openxmlformats.org/drawingml/2006/main">
            <a:pPr algn="ctr">
              <a:defRPr sz="1875" b="1">
                <a:solidFill>
                  <a:srgbClr val="111318"/>
                </a:solidFill>
                <a:latin typeface="Arial"/>
                <a:ea typeface="Arial"/>
                <a:cs typeface="Arial"/>
              </a:defRPr>
            </a:pPr>
            <a:r>
              <a:rPr sz="1875" b="1">
                <a:solidFill>
                  <a:srgbClr val="111318"/>
                </a:solidFill>
                <a:latin typeface="Arial"/>
                <a:ea typeface="Arial"/>
                <a:cs typeface="Arial"/>
              </a:rPr>
              <a:t>encoding</a:t>
            </a:r>
          </a:p>
        </p:txBody>
      </p:sp>
      <p:sp>
        <p:nvSpPr>
          <p:cNvPr id="12" name="">
            <a:extLst xmlns:a="http://schemas.openxmlformats.org/drawingml/2006/main">
              <a:ext uri="{FF2B5EF4-FFF2-40B4-BE49-F238E27FC236}">
                <a16:creationId xmlns:a16="http://schemas.microsoft.com/office/drawing/2014/main" id="{EB1AE9DE-BD07-40EA-86CA-B11FCC74F8B1}"/>
              </a:ext>
            </a:extLst>
          </p:cNvPr>
          <p:cNvSpPr>
            <a:spLocks xmlns:a="http://schemas.openxmlformats.org/drawingml/2006/main" noGrp="1"/>
          </p:cNvSpPr>
          <p:nvPr/>
        </p:nvSpPr>
        <p:spPr>
          <a:xfrm xmlns:a="http://schemas.openxmlformats.org/drawingml/2006/main">
            <a:off x="619125" y="3810000"/>
            <a:ext cx="109537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FA3AD5-6AA5-4059-A3CB-0B2DE96D4BD7}"/>
              </a:ext>
            </a:extLst>
          </p:cNvPr>
          <p:cNvSpPr>
            <a:spLocks xmlns:a="http://schemas.openxmlformats.org/drawingml/2006/main" noGrp="1"/>
          </p:cNvSpPr>
          <p:nvPr/>
        </p:nvSpPr>
        <p:spPr>
          <a:xfrm xmlns:a="http://schemas.openxmlformats.org/drawingml/2006/main">
            <a:off x="904875" y="4048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677B8"/>
                </a:solidFill>
                <a:latin typeface="Arial"/>
                <a:ea typeface="Arial"/>
                <a:cs typeface="Arial"/>
              </a:defRPr>
            </a:pPr>
            <a:r>
              <a:rPr sz="1875" b="1">
                <a:solidFill>
                  <a:srgbClr val="1677B8"/>
                </a:solidFill>
                <a:latin typeface="Arial"/>
                <a:ea typeface="Arial"/>
                <a:cs typeface="Arial"/>
              </a:rPr>
              <a:t>Why both?</a:t>
            </a:r>
          </a:p>
        </p:txBody>
      </p:sp>
      <p:sp>
        <p:nvSpPr>
          <p:cNvPr id="14" name="">
            <a:extLst xmlns:a="http://schemas.openxmlformats.org/drawingml/2006/main">
              <a:ext uri="{FF2B5EF4-FFF2-40B4-BE49-F238E27FC236}">
                <a16:creationId xmlns:a16="http://schemas.microsoft.com/office/drawing/2014/main" id="{D9822C51-9D9E-47BB-8D6F-27B37F5B0CCF}"/>
              </a:ext>
            </a:extLst>
          </p:cNvPr>
          <p:cNvSpPr>
            <a:spLocks xmlns:a="http://schemas.openxmlformats.org/drawingml/2006/main" noGrp="1"/>
          </p:cNvSpPr>
          <p:nvPr/>
        </p:nvSpPr>
        <p:spPr>
          <a:xfrm xmlns:a="http://schemas.openxmlformats.org/drawingml/2006/main">
            <a:off x="904875" y="4476750"/>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318"/>
                </a:solidFill>
                <a:latin typeface="Arial"/>
                <a:ea typeface="Arial"/>
                <a:cs typeface="Arial"/>
              </a:defRPr>
            </a:pPr>
            <a:r>
              <a:rPr sz="1950" b="1">
                <a:solidFill>
                  <a:srgbClr val="111318"/>
                </a:solidFill>
                <a:latin typeface="Arial"/>
                <a:ea typeface="Arial"/>
                <a:cs typeface="Arial"/>
              </a:rPr>
              <a:t>Identical packet order can represent a burst or a slow interaction. Position and elapsed time provide complementary evidence.</a:t>
            </a:r>
          </a:p>
        </p:txBody>
      </p:sp>
    </p:spTree>
    <p:extLst>
      <p:ext uri="{BB962C8B-B14F-4D97-AF65-F5344CB8AC3E}">
        <p14:creationId xmlns:p14="http://schemas.microsoft.com/office/powerpoint/2010/main" val="6514502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CB5E0B-8F94-4328-9903-0A924E8AC53D}"/>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Stage 1 combines packet evidence with aggregate statistics</a:t>
            </a:r>
          </a:p>
        </p:txBody>
      </p:sp>
      <p:sp>
        <p:nvSpPr>
          <p:cNvPr id="2" name="">
            <a:extLst xmlns:a="http://schemas.openxmlformats.org/drawingml/2006/main">
              <a:ext uri="{FF2B5EF4-FFF2-40B4-BE49-F238E27FC236}">
                <a16:creationId xmlns:a16="http://schemas.microsoft.com/office/drawing/2014/main" id="{B3EC076D-08B5-4C3A-91CC-868F7BE4B851}"/>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94f119ccaf44052"/>
          <a:stretch xmlns:a="http://schemas.openxmlformats.org/drawingml/2006/main"/>
        </p:blipFill>
        <p:spPr>
          <a:xfrm xmlns:a="http://schemas.openxmlformats.org/drawingml/2006/main">
            <a:off x="2728913" y="1143000"/>
            <a:ext cx="6734175"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BB4EF6-4079-4C7B-B305-D7A65C08FC26}"/>
              </a:ext>
            </a:extLst>
          </p:cNvPr>
          <p:cNvSpPr>
            <a:spLocks xmlns:a="http://schemas.openxmlformats.org/drawingml/2006/main" noGrp="1"/>
          </p:cNvSpPr>
          <p:nvPr/>
        </p:nvSpPr>
        <p:spPr>
          <a:xfrm xmlns:a="http://schemas.openxmlformats.org/drawingml/2006/main">
            <a:off x="666750" y="60007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Arial"/>
                <a:ea typeface="Arial"/>
                <a:cs typeface="Arial"/>
              </a:defRPr>
            </a:pPr>
            <a:r>
              <a:rPr sz="1650" b="1">
                <a:solidFill>
                  <a:srgbClr val="111318"/>
                </a:solidFill>
                <a:latin typeface="Arial"/>
                <a:ea typeface="Arial"/>
                <a:cs typeface="Arial"/>
              </a:rPr>
              <a:t>Key design: flow statistics condition packet tokens through a bounded residual, rather than being copied to every packet.</a:t>
            </a:r>
          </a:p>
        </p:txBody>
      </p:sp>
    </p:spTree>
    <p:extLst>
      <p:ext uri="{BB962C8B-B14F-4D97-AF65-F5344CB8AC3E}">
        <p14:creationId xmlns:p14="http://schemas.microsoft.com/office/powerpoint/2010/main" val="8397106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AEDE2A0-6077-4025-95A4-1312AF255436}"/>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Stage 2 retrieves only earlier related flow embeddings</a:t>
            </a:r>
          </a:p>
        </p:txBody>
      </p:sp>
      <p:sp>
        <p:nvSpPr>
          <p:cNvPr id="2" name="">
            <a:extLst xmlns:a="http://schemas.openxmlformats.org/drawingml/2006/main">
              <a:ext uri="{FF2B5EF4-FFF2-40B4-BE49-F238E27FC236}">
                <a16:creationId xmlns:a16="http://schemas.microsoft.com/office/drawing/2014/main" id="{7784505A-1226-45A0-924E-2AA3C2FE7F97}"/>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08A8945-08C0-4C97-A20C-9A21C14394AE}"/>
              </a:ext>
            </a:extLst>
          </p:cNvPr>
          <p:cNvSpPr>
            <a:spLocks xmlns:a="http://schemas.openxmlformats.org/drawingml/2006/main" noGrp="1"/>
          </p:cNvSpPr>
          <p:nvPr/>
        </p:nvSpPr>
        <p:spPr>
          <a:xfrm xmlns:a="http://schemas.openxmlformats.org/drawingml/2006/main">
            <a:off x="762000" y="2095500"/>
            <a:ext cx="1190625" cy="685800"/>
          </a:xfrm>
          <a:prstGeom xmlns:a="http://schemas.openxmlformats.org/drawingml/2006/main" prst="roundRect">
            <a:avLst>
              <a:gd name="adj" fmla="val 11111"/>
            </a:avLst>
          </a:prstGeom>
          <a:solidFill xmlns:a="http://schemas.openxmlformats.org/drawingml/2006/main">
            <a:srgbClr val="E8F5EE"/>
          </a:solidFill>
          <a:ln xmlns:a="http://schemas.openxmlformats.org/drawingml/2006/main" w="9525">
            <a:solidFill>
              <a:srgbClr val="149B6D"/>
            </a:solidFill>
            <a:prstDash val="solid"/>
          </a:ln>
        </p:spPr>
      </p:sp>
      <p:sp>
        <p:nvSpPr>
          <p:cNvPr id="4" name="">
            <a:extLst xmlns:a="http://schemas.openxmlformats.org/drawingml/2006/main">
              <a:ext uri="{FF2B5EF4-FFF2-40B4-BE49-F238E27FC236}">
                <a16:creationId xmlns:a16="http://schemas.microsoft.com/office/drawing/2014/main" id="{11061EBC-E178-4FA7-B4A3-7541C2B4AB67}"/>
              </a:ext>
            </a:extLst>
          </p:cNvPr>
          <p:cNvSpPr>
            <a:spLocks xmlns:a="http://schemas.openxmlformats.org/drawingml/2006/main" noGrp="1"/>
          </p:cNvSpPr>
          <p:nvPr/>
        </p:nvSpPr>
        <p:spPr>
          <a:xfrm xmlns:a="http://schemas.openxmlformats.org/drawingml/2006/main">
            <a:off x="857250" y="2209800"/>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Arial"/>
                <a:ea typeface="Arial"/>
                <a:cs typeface="Arial"/>
              </a:defRPr>
            </a:pPr>
            <a:r>
              <a:rPr sz="1725" b="1">
                <a:solidFill>
                  <a:srgbClr val="111318"/>
                </a:solidFill>
                <a:latin typeface="Arial"/>
                <a:ea typeface="Arial"/>
                <a:cs typeface="Arial"/>
              </a:rPr>
              <a:t>z(t-4)</a:t>
            </a:r>
          </a:p>
        </p:txBody>
      </p:sp>
      <p:sp>
        <p:nvSpPr>
          <p:cNvPr id="5" name="">
            <a:extLst xmlns:a="http://schemas.openxmlformats.org/drawingml/2006/main">
              <a:ext uri="{FF2B5EF4-FFF2-40B4-BE49-F238E27FC236}">
                <a16:creationId xmlns:a16="http://schemas.microsoft.com/office/drawing/2014/main" id="{A5427410-17EA-41F2-BE58-679C1CC6C9F5}"/>
              </a:ext>
            </a:extLst>
          </p:cNvPr>
          <p:cNvSpPr>
            <a:spLocks xmlns:a="http://schemas.openxmlformats.org/drawingml/2006/main" noGrp="1"/>
          </p:cNvSpPr>
          <p:nvPr/>
        </p:nvSpPr>
        <p:spPr>
          <a:xfrm xmlns:a="http://schemas.openxmlformats.org/drawingml/2006/main">
            <a:off x="2428875" y="2095500"/>
            <a:ext cx="1190625" cy="685800"/>
          </a:xfrm>
          <a:prstGeom xmlns:a="http://schemas.openxmlformats.org/drawingml/2006/main" prst="roundRect">
            <a:avLst>
              <a:gd name="adj" fmla="val 11111"/>
            </a:avLst>
          </a:prstGeom>
          <a:solidFill xmlns:a="http://schemas.openxmlformats.org/drawingml/2006/main">
            <a:srgbClr val="E8F5EE"/>
          </a:solidFill>
          <a:ln xmlns:a="http://schemas.openxmlformats.org/drawingml/2006/main" w="9525">
            <a:solidFill>
              <a:srgbClr val="149B6D"/>
            </a:solidFill>
            <a:prstDash val="solid"/>
          </a:ln>
        </p:spPr>
      </p:sp>
      <p:sp>
        <p:nvSpPr>
          <p:cNvPr id="6" name="">
            <a:extLst xmlns:a="http://schemas.openxmlformats.org/drawingml/2006/main">
              <a:ext uri="{FF2B5EF4-FFF2-40B4-BE49-F238E27FC236}">
                <a16:creationId xmlns:a16="http://schemas.microsoft.com/office/drawing/2014/main" id="{FF326568-9AB2-4C16-B8BF-391041C58A3D}"/>
              </a:ext>
            </a:extLst>
          </p:cNvPr>
          <p:cNvSpPr>
            <a:spLocks xmlns:a="http://schemas.openxmlformats.org/drawingml/2006/main" noGrp="1"/>
          </p:cNvSpPr>
          <p:nvPr/>
        </p:nvSpPr>
        <p:spPr>
          <a:xfrm xmlns:a="http://schemas.openxmlformats.org/drawingml/2006/main">
            <a:off x="2524125" y="2209800"/>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Arial"/>
                <a:ea typeface="Arial"/>
                <a:cs typeface="Arial"/>
              </a:defRPr>
            </a:pPr>
            <a:r>
              <a:rPr sz="1725" b="1">
                <a:solidFill>
                  <a:srgbClr val="111318"/>
                </a:solidFill>
                <a:latin typeface="Arial"/>
                <a:ea typeface="Arial"/>
                <a:cs typeface="Arial"/>
              </a:rPr>
              <a:t>z(t-3)</a:t>
            </a:r>
          </a:p>
        </p:txBody>
      </p:sp>
      <p:sp>
        <p:nvSpPr>
          <p:cNvPr id="7" name="">
            <a:extLst xmlns:a="http://schemas.openxmlformats.org/drawingml/2006/main">
              <a:ext uri="{FF2B5EF4-FFF2-40B4-BE49-F238E27FC236}">
                <a16:creationId xmlns:a16="http://schemas.microsoft.com/office/drawing/2014/main" id="{4F468A4D-185C-4E30-9001-3CD3E55DF8BD}"/>
              </a:ext>
            </a:extLst>
          </p:cNvPr>
          <p:cNvSpPr>
            <a:spLocks xmlns:a="http://schemas.openxmlformats.org/drawingml/2006/main" noGrp="1"/>
          </p:cNvSpPr>
          <p:nvPr/>
        </p:nvSpPr>
        <p:spPr>
          <a:xfrm xmlns:a="http://schemas.openxmlformats.org/drawingml/2006/main">
            <a:off x="4095750" y="2095500"/>
            <a:ext cx="1190625" cy="685800"/>
          </a:xfrm>
          <a:prstGeom xmlns:a="http://schemas.openxmlformats.org/drawingml/2006/main" prst="roundRect">
            <a:avLst>
              <a:gd name="adj" fmla="val 11111"/>
            </a:avLst>
          </a:prstGeom>
          <a:solidFill xmlns:a="http://schemas.openxmlformats.org/drawingml/2006/main">
            <a:srgbClr val="E8F5EE"/>
          </a:solidFill>
          <a:ln xmlns:a="http://schemas.openxmlformats.org/drawingml/2006/main" w="9525">
            <a:solidFill>
              <a:srgbClr val="149B6D"/>
            </a:solidFill>
            <a:prstDash val="solid"/>
          </a:ln>
        </p:spPr>
      </p:sp>
      <p:sp>
        <p:nvSpPr>
          <p:cNvPr id="8" name="">
            <a:extLst xmlns:a="http://schemas.openxmlformats.org/drawingml/2006/main">
              <a:ext uri="{FF2B5EF4-FFF2-40B4-BE49-F238E27FC236}">
                <a16:creationId xmlns:a16="http://schemas.microsoft.com/office/drawing/2014/main" id="{9EE3589A-FAB4-4D17-AD10-923A48CF0386}"/>
              </a:ext>
            </a:extLst>
          </p:cNvPr>
          <p:cNvSpPr>
            <a:spLocks xmlns:a="http://schemas.openxmlformats.org/drawingml/2006/main" noGrp="1"/>
          </p:cNvSpPr>
          <p:nvPr/>
        </p:nvSpPr>
        <p:spPr>
          <a:xfrm xmlns:a="http://schemas.openxmlformats.org/drawingml/2006/main">
            <a:off x="4191000" y="2209800"/>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Arial"/>
                <a:ea typeface="Arial"/>
                <a:cs typeface="Arial"/>
              </a:defRPr>
            </a:pPr>
            <a:r>
              <a:rPr sz="1725" b="1">
                <a:solidFill>
                  <a:srgbClr val="111318"/>
                </a:solidFill>
                <a:latin typeface="Arial"/>
                <a:ea typeface="Arial"/>
                <a:cs typeface="Arial"/>
              </a:rPr>
              <a:t>z(t-2)</a:t>
            </a:r>
          </a:p>
        </p:txBody>
      </p:sp>
      <p:sp>
        <p:nvSpPr>
          <p:cNvPr id="9" name="">
            <a:extLst xmlns:a="http://schemas.openxmlformats.org/drawingml/2006/main">
              <a:ext uri="{FF2B5EF4-FFF2-40B4-BE49-F238E27FC236}">
                <a16:creationId xmlns:a16="http://schemas.microsoft.com/office/drawing/2014/main" id="{23B39514-D287-404B-8A71-58D789D3C866}"/>
              </a:ext>
            </a:extLst>
          </p:cNvPr>
          <p:cNvSpPr>
            <a:spLocks xmlns:a="http://schemas.openxmlformats.org/drawingml/2006/main" noGrp="1"/>
          </p:cNvSpPr>
          <p:nvPr/>
        </p:nvSpPr>
        <p:spPr>
          <a:xfrm xmlns:a="http://schemas.openxmlformats.org/drawingml/2006/main">
            <a:off x="5762625" y="2095500"/>
            <a:ext cx="1190625" cy="685800"/>
          </a:xfrm>
          <a:prstGeom xmlns:a="http://schemas.openxmlformats.org/drawingml/2006/main" prst="roundRect">
            <a:avLst>
              <a:gd name="adj" fmla="val 11111"/>
            </a:avLst>
          </a:prstGeom>
          <a:solidFill xmlns:a="http://schemas.openxmlformats.org/drawingml/2006/main">
            <a:srgbClr val="E8F5EE"/>
          </a:solidFill>
          <a:ln xmlns:a="http://schemas.openxmlformats.org/drawingml/2006/main" w="9525">
            <a:solidFill>
              <a:srgbClr val="149B6D"/>
            </a:solidFill>
            <a:prstDash val="solid"/>
          </a:ln>
        </p:spPr>
      </p:sp>
      <p:sp>
        <p:nvSpPr>
          <p:cNvPr id="10" name="">
            <a:extLst xmlns:a="http://schemas.openxmlformats.org/drawingml/2006/main">
              <a:ext uri="{FF2B5EF4-FFF2-40B4-BE49-F238E27FC236}">
                <a16:creationId xmlns:a16="http://schemas.microsoft.com/office/drawing/2014/main" id="{B0C988C0-8247-4F8F-B3D0-E1A87E2B2621}"/>
              </a:ext>
            </a:extLst>
          </p:cNvPr>
          <p:cNvSpPr>
            <a:spLocks xmlns:a="http://schemas.openxmlformats.org/drawingml/2006/main" noGrp="1"/>
          </p:cNvSpPr>
          <p:nvPr/>
        </p:nvSpPr>
        <p:spPr>
          <a:xfrm xmlns:a="http://schemas.openxmlformats.org/drawingml/2006/main">
            <a:off x="5857875" y="2209800"/>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Arial"/>
                <a:ea typeface="Arial"/>
                <a:cs typeface="Arial"/>
              </a:defRPr>
            </a:pPr>
            <a:r>
              <a:rPr sz="1725" b="1">
                <a:solidFill>
                  <a:srgbClr val="111318"/>
                </a:solidFill>
                <a:latin typeface="Arial"/>
                <a:ea typeface="Arial"/>
                <a:cs typeface="Arial"/>
              </a:rPr>
              <a:t>z(t-1)</a:t>
            </a:r>
          </a:p>
        </p:txBody>
      </p:sp>
      <p:sp>
        <p:nvSpPr>
          <p:cNvPr id="11" name="">
            <a:extLst xmlns:a="http://schemas.openxmlformats.org/drawingml/2006/main">
              <a:ext uri="{FF2B5EF4-FFF2-40B4-BE49-F238E27FC236}">
                <a16:creationId xmlns:a16="http://schemas.microsoft.com/office/drawing/2014/main" id="{53B4DC79-BFFE-412E-A968-F982CEFEAAC4}"/>
              </a:ext>
            </a:extLst>
          </p:cNvPr>
          <p:cNvSpPr>
            <a:spLocks xmlns:a="http://schemas.openxmlformats.org/drawingml/2006/main" noGrp="1"/>
          </p:cNvSpPr>
          <p:nvPr/>
        </p:nvSpPr>
        <p:spPr>
          <a:xfrm xmlns:a="http://schemas.openxmlformats.org/drawingml/2006/main">
            <a:off x="7191375" y="2266950"/>
            <a:ext cx="809625" cy="323850"/>
          </a:xfrm>
          <a:prstGeom xmlns:a="http://schemas.openxmlformats.org/drawingml/2006/main" prst="rightArrow">
            <a:avLst/>
          </a:prstGeom>
          <a:solidFill xmlns:a="http://schemas.openxmlformats.org/drawingml/2006/main">
            <a:srgbClr val="149B6D"/>
          </a:solidFill>
          <a:ln xmlns:a="http://schemas.openxmlformats.org/drawingml/2006/main" w="0">
            <a:solidFill>
              <a:srgbClr val="149B6D"/>
            </a:solidFill>
            <a:prstDash val="solid"/>
          </a:ln>
        </p:spPr>
      </p:sp>
      <p:sp>
        <p:nvSpPr>
          <p:cNvPr id="12" name="">
            <a:extLst xmlns:a="http://schemas.openxmlformats.org/drawingml/2006/main">
              <a:ext uri="{FF2B5EF4-FFF2-40B4-BE49-F238E27FC236}">
                <a16:creationId xmlns:a16="http://schemas.microsoft.com/office/drawing/2014/main" id="{7B333B4B-8EA2-4DE1-8090-7819420A8614}"/>
              </a:ext>
            </a:extLst>
          </p:cNvPr>
          <p:cNvSpPr>
            <a:spLocks xmlns:a="http://schemas.openxmlformats.org/drawingml/2006/main" noGrp="1"/>
          </p:cNvSpPr>
          <p:nvPr/>
        </p:nvSpPr>
        <p:spPr>
          <a:xfrm xmlns:a="http://schemas.openxmlformats.org/drawingml/2006/main">
            <a:off x="8334375" y="1857375"/>
            <a:ext cx="2000250" cy="1143000"/>
          </a:xfrm>
          <a:prstGeom xmlns:a="http://schemas.openxmlformats.org/drawingml/2006/main" prst="roundRect">
            <a:avLst>
              <a:gd name="adj" fmla="val 6667"/>
            </a:avLst>
          </a:prstGeom>
          <a:solidFill xmlns:a="http://schemas.openxmlformats.org/drawingml/2006/main">
            <a:srgbClr val="FFF1D6"/>
          </a:solidFill>
          <a:ln xmlns:a="http://schemas.openxmlformats.org/drawingml/2006/main" w="9525">
            <a:solidFill>
              <a:srgbClr val="E9A000"/>
            </a:solidFill>
            <a:prstDash val="solid"/>
          </a:ln>
        </p:spPr>
      </p:sp>
      <p:sp>
        <p:nvSpPr>
          <p:cNvPr id="13" name="">
            <a:extLst xmlns:a="http://schemas.openxmlformats.org/drawingml/2006/main">
              <a:ext uri="{FF2B5EF4-FFF2-40B4-BE49-F238E27FC236}">
                <a16:creationId xmlns:a16="http://schemas.microsoft.com/office/drawing/2014/main" id="{E5D4D57B-1FC6-45D4-B290-CEA5D886CD5E}"/>
              </a:ext>
            </a:extLst>
          </p:cNvPr>
          <p:cNvSpPr>
            <a:spLocks xmlns:a="http://schemas.openxmlformats.org/drawingml/2006/main" noGrp="1"/>
          </p:cNvSpPr>
          <p:nvPr/>
        </p:nvSpPr>
        <p:spPr>
          <a:xfrm xmlns:a="http://schemas.openxmlformats.org/drawingml/2006/main">
            <a:off x="8572500" y="2047875"/>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11318"/>
                </a:solidFill>
                <a:latin typeface="Arial"/>
                <a:ea typeface="Arial"/>
                <a:cs typeface="Arial"/>
              </a:defRPr>
            </a:pPr>
            <a:r>
              <a:rPr sz="1950" b="1">
                <a:solidFill>
                  <a:srgbClr val="111318"/>
                </a:solidFill>
                <a:latin typeface="Arial"/>
                <a:ea typeface="Arial"/>
                <a:cs typeface="Arial"/>
              </a:rPr>
              <a:t>target z(t)</a:t>
            </a:r>
          </a:p>
          <a:p xmlns:a="http://schemas.openxmlformats.org/drawingml/2006/main">
            <a:pPr algn="ctr">
              <a:defRPr sz="1950" b="1">
                <a:solidFill>
                  <a:srgbClr val="111318"/>
                </a:solidFill>
                <a:latin typeface="Arial"/>
                <a:ea typeface="Arial"/>
                <a:cs typeface="Arial"/>
              </a:defRPr>
            </a:pPr>
            <a:r>
              <a:rPr sz="1950" b="1">
                <a:solidFill>
                  <a:srgbClr val="111318"/>
                </a:solidFill>
                <a:latin typeface="Arial"/>
                <a:ea typeface="Arial"/>
                <a:cs typeface="Arial"/>
              </a:rPr>
              <a:t>= query</a:t>
            </a:r>
          </a:p>
        </p:txBody>
      </p:sp>
      <p:sp>
        <p:nvSpPr>
          <p:cNvPr id="14" name="">
            <a:extLst xmlns:a="http://schemas.openxmlformats.org/drawingml/2006/main">
              <a:ext uri="{FF2B5EF4-FFF2-40B4-BE49-F238E27FC236}">
                <a16:creationId xmlns:a16="http://schemas.microsoft.com/office/drawing/2014/main" id="{28072F4B-F4B8-4AC6-BF39-E88C37961A56}"/>
              </a:ext>
            </a:extLst>
          </p:cNvPr>
          <p:cNvSpPr>
            <a:spLocks xmlns:a="http://schemas.openxmlformats.org/drawingml/2006/main" noGrp="1"/>
          </p:cNvSpPr>
          <p:nvPr/>
        </p:nvSpPr>
        <p:spPr>
          <a:xfrm xmlns:a="http://schemas.openxmlformats.org/drawingml/2006/main">
            <a:off x="666750" y="37147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11318"/>
                </a:solidFill>
                <a:latin typeface="Arial"/>
                <a:ea typeface="Arial"/>
                <a:cs typeface="Arial"/>
              </a:defRPr>
            </a:pPr>
            <a:r>
              <a:rPr sz="2025" b="1">
                <a:solidFill>
                  <a:srgbClr val="111318"/>
                </a:solidFill>
                <a:latin typeface="Arial"/>
                <a:ea typeface="Arial"/>
                <a:cs typeface="Arial"/>
              </a:rPr>
              <a:t>Possible relations</a:t>
            </a:r>
          </a:p>
        </p:txBody>
      </p:sp>
      <p:sp>
        <p:nvSpPr>
          <p:cNvPr id="15" name="">
            <a:extLst xmlns:a="http://schemas.openxmlformats.org/drawingml/2006/main">
              <a:ext uri="{FF2B5EF4-FFF2-40B4-BE49-F238E27FC236}">
                <a16:creationId xmlns:a16="http://schemas.microsoft.com/office/drawing/2014/main" id="{177E1AB7-BE00-41C0-A102-4DFD57BFA432}"/>
              </a:ext>
            </a:extLst>
          </p:cNvPr>
          <p:cNvSpPr>
            <a:spLocks xmlns:a="http://schemas.openxmlformats.org/drawingml/2006/main" noGrp="1"/>
          </p:cNvSpPr>
          <p:nvPr/>
        </p:nvSpPr>
        <p:spPr>
          <a:xfrm xmlns:a="http://schemas.openxmlformats.org/drawingml/2006/main">
            <a:off x="666750" y="41910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5E9AA159-EABE-4FC2-ABAC-B86B8D90F8C3}"/>
              </a:ext>
            </a:extLst>
          </p:cNvPr>
          <p:cNvSpPr>
            <a:spLocks xmlns:a="http://schemas.openxmlformats.org/drawingml/2006/main" noGrp="1"/>
          </p:cNvSpPr>
          <p:nvPr/>
        </p:nvSpPr>
        <p:spPr>
          <a:xfrm xmlns:a="http://schemas.openxmlformats.org/drawingml/2006/main">
            <a:off x="990600" y="4191000"/>
            <a:ext cx="4438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same source host</a:t>
            </a:r>
          </a:p>
        </p:txBody>
      </p:sp>
      <p:sp>
        <p:nvSpPr>
          <p:cNvPr id="17" name="">
            <a:extLst xmlns:a="http://schemas.openxmlformats.org/drawingml/2006/main">
              <a:ext uri="{FF2B5EF4-FFF2-40B4-BE49-F238E27FC236}">
                <a16:creationId xmlns:a16="http://schemas.microsoft.com/office/drawing/2014/main" id="{454EF1C2-D32B-4A85-8BA2-9E70AEFD511A}"/>
              </a:ext>
            </a:extLst>
          </p:cNvPr>
          <p:cNvSpPr>
            <a:spLocks xmlns:a="http://schemas.openxmlformats.org/drawingml/2006/main" noGrp="1"/>
          </p:cNvSpPr>
          <p:nvPr/>
        </p:nvSpPr>
        <p:spPr>
          <a:xfrm xmlns:a="http://schemas.openxmlformats.org/drawingml/2006/main">
            <a:off x="666750" y="46291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2CB245B8-1501-42AA-ADB2-DAB559CBB188}"/>
              </a:ext>
            </a:extLst>
          </p:cNvPr>
          <p:cNvSpPr>
            <a:spLocks xmlns:a="http://schemas.openxmlformats.org/drawingml/2006/main" noGrp="1"/>
          </p:cNvSpPr>
          <p:nvPr/>
        </p:nvSpPr>
        <p:spPr>
          <a:xfrm xmlns:a="http://schemas.openxmlformats.org/drawingml/2006/main">
            <a:off x="990600" y="4629150"/>
            <a:ext cx="4438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same destination host</a:t>
            </a:r>
          </a:p>
        </p:txBody>
      </p:sp>
      <p:sp>
        <p:nvSpPr>
          <p:cNvPr id="19" name="">
            <a:extLst xmlns:a="http://schemas.openxmlformats.org/drawingml/2006/main">
              <a:ext uri="{FF2B5EF4-FFF2-40B4-BE49-F238E27FC236}">
                <a16:creationId xmlns:a16="http://schemas.microsoft.com/office/drawing/2014/main" id="{B2EED155-4521-493C-908D-057C0F09FC7C}"/>
              </a:ext>
            </a:extLst>
          </p:cNvPr>
          <p:cNvSpPr>
            <a:spLocks xmlns:a="http://schemas.openxmlformats.org/drawingml/2006/main" noGrp="1"/>
          </p:cNvSpPr>
          <p:nvPr/>
        </p:nvSpPr>
        <p:spPr>
          <a:xfrm xmlns:a="http://schemas.openxmlformats.org/drawingml/2006/main">
            <a:off x="666750" y="50673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AC15000-065E-44F2-91D9-A4629A16A2EB}"/>
              </a:ext>
            </a:extLst>
          </p:cNvPr>
          <p:cNvSpPr>
            <a:spLocks xmlns:a="http://schemas.openxmlformats.org/drawingml/2006/main" noGrp="1"/>
          </p:cNvSpPr>
          <p:nvPr/>
        </p:nvSpPr>
        <p:spPr>
          <a:xfrm xmlns:a="http://schemas.openxmlformats.org/drawingml/2006/main">
            <a:off x="990600" y="5067300"/>
            <a:ext cx="4438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shared endpoint</a:t>
            </a:r>
          </a:p>
        </p:txBody>
      </p:sp>
      <p:sp>
        <p:nvSpPr>
          <p:cNvPr id="21" name="">
            <a:extLst xmlns:a="http://schemas.openxmlformats.org/drawingml/2006/main">
              <a:ext uri="{FF2B5EF4-FFF2-40B4-BE49-F238E27FC236}">
                <a16:creationId xmlns:a16="http://schemas.microsoft.com/office/drawing/2014/main" id="{290B9066-28E8-4621-8441-9AC7E233CEB5}"/>
              </a:ext>
            </a:extLst>
          </p:cNvPr>
          <p:cNvSpPr>
            <a:spLocks xmlns:a="http://schemas.openxmlformats.org/drawingml/2006/main" noGrp="1"/>
          </p:cNvSpPr>
          <p:nvPr/>
        </p:nvSpPr>
        <p:spPr>
          <a:xfrm xmlns:a="http://schemas.openxmlformats.org/drawingml/2006/main">
            <a:off x="666750" y="550545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93560AA4-959E-46C3-9C91-61E593F452F0}"/>
              </a:ext>
            </a:extLst>
          </p:cNvPr>
          <p:cNvSpPr>
            <a:spLocks xmlns:a="http://schemas.openxmlformats.org/drawingml/2006/main" noGrp="1"/>
          </p:cNvSpPr>
          <p:nvPr/>
        </p:nvSpPr>
        <p:spPr>
          <a:xfrm xmlns:a="http://schemas.openxmlformats.org/drawingml/2006/main">
            <a:off x="990600" y="5505450"/>
            <a:ext cx="4438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global time-only recency</a:t>
            </a:r>
          </a:p>
        </p:txBody>
      </p:sp>
      <p:sp>
        <p:nvSpPr>
          <p:cNvPr id="23" name="">
            <a:extLst xmlns:a="http://schemas.openxmlformats.org/drawingml/2006/main">
              <a:ext uri="{FF2B5EF4-FFF2-40B4-BE49-F238E27FC236}">
                <a16:creationId xmlns:a16="http://schemas.microsoft.com/office/drawing/2014/main" id="{5CD262EA-4452-4C23-83FE-0A4C104E7827}"/>
              </a:ext>
            </a:extLst>
          </p:cNvPr>
          <p:cNvSpPr>
            <a:spLocks xmlns:a="http://schemas.openxmlformats.org/drawingml/2006/main" noGrp="1"/>
          </p:cNvSpPr>
          <p:nvPr/>
        </p:nvSpPr>
        <p:spPr>
          <a:xfrm xmlns:a="http://schemas.openxmlformats.org/drawingml/2006/main">
            <a:off x="6191250" y="3857625"/>
            <a:ext cx="4953000" cy="1285875"/>
          </a:xfrm>
          <a:prstGeom xmlns:a="http://schemas.openxmlformats.org/drawingml/2006/main" prst="roundRect">
            <a:avLst>
              <a:gd name="adj" fmla="val 5926"/>
            </a:avLst>
          </a:prstGeom>
          <a:solidFill xmlns:a="http://schemas.openxmlformats.org/drawingml/2006/main">
            <a:srgbClr val="F1F3F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EFD79B-5812-4A29-BD56-451714FA40FB}"/>
              </a:ext>
            </a:extLst>
          </p:cNvPr>
          <p:cNvSpPr>
            <a:spLocks xmlns:a="http://schemas.openxmlformats.org/drawingml/2006/main" noGrp="1"/>
          </p:cNvSpPr>
          <p:nvPr/>
        </p:nvSpPr>
        <p:spPr>
          <a:xfrm xmlns:a="http://schemas.openxmlformats.org/drawingml/2006/main">
            <a:off x="6477000" y="40481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E9A000"/>
                </a:solidFill>
                <a:latin typeface="Arial"/>
                <a:ea typeface="Arial"/>
                <a:cs typeface="Arial"/>
              </a:defRPr>
            </a:pPr>
            <a:r>
              <a:rPr sz="1725" b="1">
                <a:solidFill>
                  <a:srgbClr val="E9A000"/>
                </a:solidFill>
                <a:latin typeface="Arial"/>
                <a:ea typeface="Arial"/>
                <a:cs typeface="Arial"/>
              </a:rPr>
              <a:t>Important scope</a:t>
            </a:r>
          </a:p>
        </p:txBody>
      </p:sp>
      <p:sp>
        <p:nvSpPr>
          <p:cNvPr id="25" name="">
            <a:extLst xmlns:a="http://schemas.openxmlformats.org/drawingml/2006/main">
              <a:ext uri="{FF2B5EF4-FFF2-40B4-BE49-F238E27FC236}">
                <a16:creationId xmlns:a16="http://schemas.microsoft.com/office/drawing/2014/main" id="{C46F53D1-1C89-489F-86D0-8A3CC81B9BF5}"/>
              </a:ext>
            </a:extLst>
          </p:cNvPr>
          <p:cNvSpPr>
            <a:spLocks xmlns:a="http://schemas.openxmlformats.org/drawingml/2006/main" noGrp="1"/>
          </p:cNvSpPr>
          <p:nvPr/>
        </p:nvSpPr>
        <p:spPr>
          <a:xfrm xmlns:a="http://schemas.openxmlformats.org/drawingml/2006/main">
            <a:off x="6477000" y="44386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318"/>
                </a:solidFill>
                <a:latin typeface="Arial"/>
                <a:ea typeface="Arial"/>
                <a:cs typeface="Arial"/>
              </a:defRPr>
            </a:pPr>
            <a:r>
              <a:rPr sz="1800" b="1">
                <a:solidFill>
                  <a:srgbClr val="111318"/>
                </a:solidFill>
                <a:latin typeface="Arial"/>
                <a:ea typeface="Arial"/>
                <a:cs typeface="Arial"/>
              </a:rPr>
              <a:t>“Causal” means start-time ordered.</a:t>
            </a:r>
          </a:p>
          <a:p xmlns:a="http://schemas.openxmlformats.org/drawingml/2006/main">
            <a:pPr algn="l">
              <a:defRPr sz="1800" b="1">
                <a:solidFill>
                  <a:srgbClr val="111318"/>
                </a:solidFill>
                <a:latin typeface="Arial"/>
                <a:ea typeface="Arial"/>
                <a:cs typeface="Arial"/>
              </a:defRPr>
            </a:pPr>
            <a:r>
              <a:rPr sz="1800" b="1">
                <a:solidFill>
                  <a:srgbClr val="111318"/>
                </a:solidFill>
                <a:latin typeface="Arial"/>
                <a:ea typeface="Arial"/>
                <a:cs typeface="Arial"/>
              </a:rPr>
              <a:t>Strict streaming availability is not yet enforced.</a:t>
            </a:r>
          </a:p>
        </p:txBody>
      </p:sp>
    </p:spTree>
    <p:extLst>
      <p:ext uri="{BB962C8B-B14F-4D97-AF65-F5344CB8AC3E}">
        <p14:creationId xmlns:p14="http://schemas.microsoft.com/office/powerpoint/2010/main" val="54617226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AE8B71-9BB7-4926-A77E-2B84E233DB1D}"/>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The evaluation emphasises minority-class and operational errors</a:t>
            </a:r>
          </a:p>
        </p:txBody>
      </p:sp>
      <p:sp>
        <p:nvSpPr>
          <p:cNvPr id="2" name="">
            <a:extLst xmlns:a="http://schemas.openxmlformats.org/drawingml/2006/main">
              <a:ext uri="{FF2B5EF4-FFF2-40B4-BE49-F238E27FC236}">
                <a16:creationId xmlns:a16="http://schemas.microsoft.com/office/drawing/2014/main" id="{867DF3F1-E058-429B-985E-287D687DA1A7}"/>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131398A-4C45-4C85-B01D-2C1F60B81307}"/>
              </a:ext>
            </a:extLst>
          </p:cNvPr>
          <p:cNvSpPr>
            <a:spLocks xmlns:a="http://schemas.openxmlformats.org/drawingml/2006/main" noGrp="1"/>
          </p:cNvSpPr>
          <p:nvPr/>
        </p:nvSpPr>
        <p:spPr>
          <a:xfrm xmlns:a="http://schemas.openxmlformats.org/drawingml/2006/main">
            <a:off x="523875" y="1381125"/>
            <a:ext cx="5334000" cy="1381125"/>
          </a:xfrm>
          <a:prstGeom xmlns:a="http://schemas.openxmlformats.org/drawingml/2006/main" prst="roundRect">
            <a:avLst>
              <a:gd name="adj" fmla="val 5517"/>
            </a:avLst>
          </a:prstGeom>
          <a:solidFill xmlns:a="http://schemas.openxmlformats.org/drawingml/2006/main">
            <a:srgbClr val="EAF6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FA0F70-E67B-4ACF-A5F7-CA145EDDACDC}"/>
              </a:ext>
            </a:extLst>
          </p:cNvPr>
          <p:cNvSpPr>
            <a:spLocks xmlns:a="http://schemas.openxmlformats.org/drawingml/2006/main" noGrp="1"/>
          </p:cNvSpPr>
          <p:nvPr/>
        </p:nvSpPr>
        <p:spPr>
          <a:xfrm xmlns:a="http://schemas.openxmlformats.org/drawingml/2006/main">
            <a:off x="762000" y="157162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677B8"/>
                </a:solidFill>
                <a:latin typeface="Arial"/>
                <a:ea typeface="Arial"/>
                <a:cs typeface="Arial"/>
              </a:defRPr>
            </a:pPr>
            <a:r>
              <a:rPr sz="1950" b="1">
                <a:solidFill>
                  <a:srgbClr val="1677B8"/>
                </a:solidFill>
                <a:latin typeface="Arial"/>
                <a:ea typeface="Arial"/>
                <a:cs typeface="Arial"/>
              </a:rPr>
              <a:t>Macro-F1</a:t>
            </a:r>
          </a:p>
        </p:txBody>
      </p:sp>
      <p:sp>
        <p:nvSpPr>
          <p:cNvPr id="5" name="">
            <a:extLst xmlns:a="http://schemas.openxmlformats.org/drawingml/2006/main">
              <a:ext uri="{FF2B5EF4-FFF2-40B4-BE49-F238E27FC236}">
                <a16:creationId xmlns:a16="http://schemas.microsoft.com/office/drawing/2014/main" id="{8B5B33BD-2174-4C74-938E-A229B498B8AA}"/>
              </a:ext>
            </a:extLst>
          </p:cNvPr>
          <p:cNvSpPr>
            <a:spLocks xmlns:a="http://schemas.openxmlformats.org/drawingml/2006/main" noGrp="1"/>
          </p:cNvSpPr>
          <p:nvPr/>
        </p:nvSpPr>
        <p:spPr>
          <a:xfrm xmlns:a="http://schemas.openxmlformats.org/drawingml/2006/main">
            <a:off x="762000" y="200025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equal weight to both classes</a:t>
            </a:r>
          </a:p>
        </p:txBody>
      </p:sp>
      <p:sp>
        <p:nvSpPr>
          <p:cNvPr id="6" name="">
            <a:extLst xmlns:a="http://schemas.openxmlformats.org/drawingml/2006/main">
              <a:ext uri="{FF2B5EF4-FFF2-40B4-BE49-F238E27FC236}">
                <a16:creationId xmlns:a16="http://schemas.microsoft.com/office/drawing/2014/main" id="{713C76E8-6A67-43F3-BDC2-4784C6D1B244}"/>
              </a:ext>
            </a:extLst>
          </p:cNvPr>
          <p:cNvSpPr>
            <a:spLocks xmlns:a="http://schemas.openxmlformats.org/drawingml/2006/main" noGrp="1"/>
          </p:cNvSpPr>
          <p:nvPr/>
        </p:nvSpPr>
        <p:spPr>
          <a:xfrm xmlns:a="http://schemas.openxmlformats.org/drawingml/2006/main">
            <a:off x="6238875" y="1381125"/>
            <a:ext cx="5334000" cy="1381125"/>
          </a:xfrm>
          <a:prstGeom xmlns:a="http://schemas.openxmlformats.org/drawingml/2006/main" prst="roundRect">
            <a:avLst>
              <a:gd name="adj" fmla="val 5517"/>
            </a:avLst>
          </a:prstGeom>
          <a:solidFill xmlns:a="http://schemas.openxmlformats.org/drawingml/2006/main">
            <a:srgbClr val="F1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E7F77D-62C6-44B2-B5E9-76E86D8828F3}"/>
              </a:ext>
            </a:extLst>
          </p:cNvPr>
          <p:cNvSpPr>
            <a:spLocks xmlns:a="http://schemas.openxmlformats.org/drawingml/2006/main" noGrp="1"/>
          </p:cNvSpPr>
          <p:nvPr/>
        </p:nvSpPr>
        <p:spPr>
          <a:xfrm xmlns:a="http://schemas.openxmlformats.org/drawingml/2006/main">
            <a:off x="6477000" y="157162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318"/>
                </a:solidFill>
                <a:latin typeface="Arial"/>
                <a:ea typeface="Arial"/>
                <a:cs typeface="Arial"/>
              </a:defRPr>
            </a:pPr>
            <a:r>
              <a:rPr sz="1950" b="1">
                <a:solidFill>
                  <a:srgbClr val="111318"/>
                </a:solidFill>
                <a:latin typeface="Arial"/>
                <a:ea typeface="Arial"/>
                <a:cs typeface="Arial"/>
              </a:rPr>
              <a:t>Average Precision</a:t>
            </a:r>
          </a:p>
        </p:txBody>
      </p:sp>
      <p:sp>
        <p:nvSpPr>
          <p:cNvPr id="8" name="">
            <a:extLst xmlns:a="http://schemas.openxmlformats.org/drawingml/2006/main">
              <a:ext uri="{FF2B5EF4-FFF2-40B4-BE49-F238E27FC236}">
                <a16:creationId xmlns:a16="http://schemas.microsoft.com/office/drawing/2014/main" id="{3460420D-743E-4BD7-BB7D-9A7D16660F29}"/>
              </a:ext>
            </a:extLst>
          </p:cNvPr>
          <p:cNvSpPr>
            <a:spLocks xmlns:a="http://schemas.openxmlformats.org/drawingml/2006/main" noGrp="1"/>
          </p:cNvSpPr>
          <p:nvPr/>
        </p:nvSpPr>
        <p:spPr>
          <a:xfrm xmlns:a="http://schemas.openxmlformats.org/drawingml/2006/main">
            <a:off x="6477000" y="200025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ranking quality for class 1</a:t>
            </a:r>
          </a:p>
        </p:txBody>
      </p:sp>
      <p:sp>
        <p:nvSpPr>
          <p:cNvPr id="9" name="">
            <a:extLst xmlns:a="http://schemas.openxmlformats.org/drawingml/2006/main">
              <a:ext uri="{FF2B5EF4-FFF2-40B4-BE49-F238E27FC236}">
                <a16:creationId xmlns:a16="http://schemas.microsoft.com/office/drawing/2014/main" id="{C3DDA1CB-438A-40B3-9CCB-AEB877832D7B}"/>
              </a:ext>
            </a:extLst>
          </p:cNvPr>
          <p:cNvSpPr>
            <a:spLocks xmlns:a="http://schemas.openxmlformats.org/drawingml/2006/main" noGrp="1"/>
          </p:cNvSpPr>
          <p:nvPr/>
        </p:nvSpPr>
        <p:spPr>
          <a:xfrm xmlns:a="http://schemas.openxmlformats.org/drawingml/2006/main">
            <a:off x="523875" y="3190875"/>
            <a:ext cx="5334000" cy="1381125"/>
          </a:xfrm>
          <a:prstGeom xmlns:a="http://schemas.openxmlformats.org/drawingml/2006/main" prst="roundRect">
            <a:avLst>
              <a:gd name="adj" fmla="val 5517"/>
            </a:avLst>
          </a:prstGeom>
          <a:solidFill xmlns:a="http://schemas.openxmlformats.org/drawingml/2006/main">
            <a:srgbClr val="F1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9B5A94-FA86-412E-B78F-B7D061B2DFBF}"/>
              </a:ext>
            </a:extLst>
          </p:cNvPr>
          <p:cNvSpPr>
            <a:spLocks xmlns:a="http://schemas.openxmlformats.org/drawingml/2006/main" noGrp="1"/>
          </p:cNvSpPr>
          <p:nvPr/>
        </p:nvSpPr>
        <p:spPr>
          <a:xfrm xmlns:a="http://schemas.openxmlformats.org/drawingml/2006/main">
            <a:off x="762000" y="33813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318"/>
                </a:solidFill>
                <a:latin typeface="Arial"/>
                <a:ea typeface="Arial"/>
                <a:cs typeface="Arial"/>
              </a:defRPr>
            </a:pPr>
            <a:r>
              <a:rPr sz="1950" b="1">
                <a:solidFill>
                  <a:srgbClr val="111318"/>
                </a:solidFill>
                <a:latin typeface="Arial"/>
                <a:ea typeface="Arial"/>
                <a:cs typeface="Arial"/>
              </a:rPr>
              <a:t>Class-1 F1</a:t>
            </a:r>
          </a:p>
        </p:txBody>
      </p:sp>
      <p:sp>
        <p:nvSpPr>
          <p:cNvPr id="11" name="">
            <a:extLst xmlns:a="http://schemas.openxmlformats.org/drawingml/2006/main">
              <a:ext uri="{FF2B5EF4-FFF2-40B4-BE49-F238E27FC236}">
                <a16:creationId xmlns:a16="http://schemas.microsoft.com/office/drawing/2014/main" id="{863E1193-5907-45CF-9CAE-2793B65D4B1C}"/>
              </a:ext>
            </a:extLst>
          </p:cNvPr>
          <p:cNvSpPr>
            <a:spLocks xmlns:a="http://schemas.openxmlformats.org/drawingml/2006/main" noGrp="1"/>
          </p:cNvSpPr>
          <p:nvPr/>
        </p:nvSpPr>
        <p:spPr>
          <a:xfrm xmlns:a="http://schemas.openxmlformats.org/drawingml/2006/main">
            <a:off x="762000" y="38100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positive precision–recall balance</a:t>
            </a:r>
          </a:p>
        </p:txBody>
      </p:sp>
      <p:sp>
        <p:nvSpPr>
          <p:cNvPr id="12" name="">
            <a:extLst xmlns:a="http://schemas.openxmlformats.org/drawingml/2006/main">
              <a:ext uri="{FF2B5EF4-FFF2-40B4-BE49-F238E27FC236}">
                <a16:creationId xmlns:a16="http://schemas.microsoft.com/office/drawing/2014/main" id="{B76DE408-9BC3-4A66-8BC4-2B24F88D56A8}"/>
              </a:ext>
            </a:extLst>
          </p:cNvPr>
          <p:cNvSpPr>
            <a:spLocks xmlns:a="http://schemas.openxmlformats.org/drawingml/2006/main" noGrp="1"/>
          </p:cNvSpPr>
          <p:nvPr/>
        </p:nvSpPr>
        <p:spPr>
          <a:xfrm xmlns:a="http://schemas.openxmlformats.org/drawingml/2006/main">
            <a:off x="6238875" y="3190875"/>
            <a:ext cx="5334000" cy="1381125"/>
          </a:xfrm>
          <a:prstGeom xmlns:a="http://schemas.openxmlformats.org/drawingml/2006/main" prst="roundRect">
            <a:avLst>
              <a:gd name="adj" fmla="val 5517"/>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6AF6331-5E55-477E-9769-B2BA32D188A9}"/>
              </a:ext>
            </a:extLst>
          </p:cNvPr>
          <p:cNvSpPr>
            <a:spLocks xmlns:a="http://schemas.openxmlformats.org/drawingml/2006/main" noGrp="1"/>
          </p:cNvSpPr>
          <p:nvPr/>
        </p:nvSpPr>
        <p:spPr>
          <a:xfrm xmlns:a="http://schemas.openxmlformats.org/drawingml/2006/main">
            <a:off x="6477000" y="33813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11318"/>
                </a:solidFill>
                <a:latin typeface="Arial"/>
                <a:ea typeface="Arial"/>
                <a:cs typeface="Arial"/>
              </a:defRPr>
            </a:pPr>
            <a:r>
              <a:rPr sz="1950" b="1">
                <a:solidFill>
                  <a:srgbClr val="111318"/>
                </a:solidFill>
                <a:latin typeface="Arial"/>
                <a:ea typeface="Arial"/>
                <a:cs typeface="Arial"/>
              </a:rPr>
              <a:t>FPR + FP / FN</a:t>
            </a:r>
          </a:p>
        </p:txBody>
      </p:sp>
      <p:sp>
        <p:nvSpPr>
          <p:cNvPr id="14" name="">
            <a:extLst xmlns:a="http://schemas.openxmlformats.org/drawingml/2006/main">
              <a:ext uri="{FF2B5EF4-FFF2-40B4-BE49-F238E27FC236}">
                <a16:creationId xmlns:a16="http://schemas.microsoft.com/office/drawing/2014/main" id="{98AED27F-1147-4EF6-A39E-B6B25A1F7847}"/>
              </a:ext>
            </a:extLst>
          </p:cNvPr>
          <p:cNvSpPr>
            <a:spLocks xmlns:a="http://schemas.openxmlformats.org/drawingml/2006/main" noGrp="1"/>
          </p:cNvSpPr>
          <p:nvPr/>
        </p:nvSpPr>
        <p:spPr>
          <a:xfrm xmlns:a="http://schemas.openxmlformats.org/drawingml/2006/main">
            <a:off x="6477000" y="38100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operational error burden</a:t>
            </a:r>
          </a:p>
        </p:txBody>
      </p:sp>
      <p:sp>
        <p:nvSpPr>
          <p:cNvPr id="15" name="">
            <a:extLst xmlns:a="http://schemas.openxmlformats.org/drawingml/2006/main">
              <a:ext uri="{FF2B5EF4-FFF2-40B4-BE49-F238E27FC236}">
                <a16:creationId xmlns:a16="http://schemas.microsoft.com/office/drawing/2014/main" id="{FA59D1CF-ED14-4845-B50C-283F5FE5AF4B}"/>
              </a:ext>
            </a:extLst>
          </p:cNvPr>
          <p:cNvSpPr>
            <a:spLocks xmlns:a="http://schemas.openxmlformats.org/drawingml/2006/main" noGrp="1"/>
          </p:cNvSpPr>
          <p:nvPr/>
        </p:nvSpPr>
        <p:spPr>
          <a:xfrm xmlns:a="http://schemas.openxmlformats.org/drawingml/2006/main">
            <a:off x="666750" y="5334000"/>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Arial"/>
                <a:ea typeface="Arial"/>
                <a:cs typeface="Arial"/>
              </a:defRPr>
            </a:pPr>
            <a:r>
              <a:rPr sz="1725" b="1">
                <a:solidFill>
                  <a:srgbClr val="111318"/>
                </a:solidFill>
                <a:latin typeface="Arial"/>
                <a:ea typeface="Arial"/>
                <a:cs typeface="Arial"/>
              </a:rPr>
              <a:t>Checkpoint: best validation AP   |   Threshold: best validation class-1 F1   |   Test remains untouched</a:t>
            </a:r>
          </a:p>
        </p:txBody>
      </p:sp>
    </p:spTree>
    <p:extLst>
      <p:ext uri="{BB962C8B-B14F-4D97-AF65-F5344CB8AC3E}">
        <p14:creationId xmlns:p14="http://schemas.microsoft.com/office/powerpoint/2010/main" val="28187290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4C3FC8-3944-4734-888F-E02B2CC29093}"/>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Stage 1 benefits from explicit position and time</a:t>
            </a:r>
          </a:p>
        </p:txBody>
      </p:sp>
      <p:sp>
        <p:nvSpPr>
          <p:cNvPr id="2" name="">
            <a:extLst xmlns:a="http://schemas.openxmlformats.org/drawingml/2006/main">
              <a:ext uri="{FF2B5EF4-FFF2-40B4-BE49-F238E27FC236}">
                <a16:creationId xmlns:a16="http://schemas.microsoft.com/office/drawing/2014/main" id="{69791EAA-7C87-4265-9349-DA8DAB7BFF79}"/>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868c102104e4ac2"/>
          <a:stretch xmlns:a="http://schemas.openxmlformats.org/drawingml/2006/main"/>
        </p:blipFill>
        <p:spPr>
          <a:xfrm xmlns:a="http://schemas.openxmlformats.org/drawingml/2006/main">
            <a:off x="2586935" y="1095375"/>
            <a:ext cx="701813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740E033-516F-4D3C-9068-A41F66CDB15C}"/>
              </a:ext>
            </a:extLst>
          </p:cNvPr>
          <p:cNvSpPr>
            <a:spLocks xmlns:a="http://schemas.openxmlformats.org/drawingml/2006/main" noGrp="1"/>
          </p:cNvSpPr>
          <p:nvPr/>
        </p:nvSpPr>
        <p:spPr>
          <a:xfrm xmlns:a="http://schemas.openxmlformats.org/drawingml/2006/main">
            <a:off x="523875" y="6019800"/>
            <a:ext cx="1114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Arial"/>
                <a:ea typeface="Arial"/>
                <a:cs typeface="Arial"/>
              </a:defRPr>
            </a:pPr>
            <a:r>
              <a:rPr sz="1575" b="1">
                <a:solidFill>
                  <a:srgbClr val="111318"/>
                </a:solidFill>
                <a:latin typeface="Arial"/>
                <a:ea typeface="Arial"/>
                <a:cs typeface="Arial"/>
              </a:rPr>
              <a:t>Position + time: macro-F1 0.8882 and AP 0.8564 — above aggregation, recurrent, convolutional and encoding controls.</a:t>
            </a:r>
          </a:p>
        </p:txBody>
      </p:sp>
    </p:spTree>
    <p:extLst>
      <p:ext uri="{BB962C8B-B14F-4D97-AF65-F5344CB8AC3E}">
        <p14:creationId xmlns:p14="http://schemas.microsoft.com/office/powerpoint/2010/main" val="18587614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2B9BF6-5AE4-40B2-8231-3F386795BC4C}"/>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Separate statistical conditioning gives the best Stage 1 fusion</a:t>
            </a:r>
          </a:p>
        </p:txBody>
      </p:sp>
      <p:sp>
        <p:nvSpPr>
          <p:cNvPr id="2" name="">
            <a:extLst xmlns:a="http://schemas.openxmlformats.org/drawingml/2006/main">
              <a:ext uri="{FF2B5EF4-FFF2-40B4-BE49-F238E27FC236}">
                <a16:creationId xmlns:a16="http://schemas.microsoft.com/office/drawing/2014/main" id="{CA3AAFBE-2D26-4E1A-8B45-D889CE32F4EE}"/>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af4b2eacb44ab7"/>
          <a:stretch xmlns:a="http://schemas.openxmlformats.org/drawingml/2006/main"/>
        </p:blipFill>
        <p:spPr>
          <a:xfrm xmlns:a="http://schemas.openxmlformats.org/drawingml/2006/main">
            <a:off x="745921" y="1143000"/>
            <a:ext cx="10700157"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CF4661-01A4-4307-8AC0-CD880A9CACDE}"/>
              </a:ext>
            </a:extLst>
          </p:cNvPr>
          <p:cNvSpPr>
            <a:spLocks xmlns:a="http://schemas.openxmlformats.org/drawingml/2006/main" noGrp="1"/>
          </p:cNvSpPr>
          <p:nvPr/>
        </p:nvSpPr>
        <p:spPr>
          <a:xfrm xmlns:a="http://schemas.openxmlformats.org/drawingml/2006/main">
            <a:off x="1143000" y="59055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149B6D"/>
                </a:solidFill>
                <a:latin typeface="Arial"/>
                <a:ea typeface="Arial"/>
                <a:cs typeface="Arial"/>
              </a:defRPr>
            </a:pPr>
            <a:r>
              <a:rPr sz="2175" b="1">
                <a:solidFill>
                  <a:srgbClr val="149B6D"/>
                </a:solidFill>
                <a:latin typeface="Arial"/>
                <a:ea typeface="Arial"/>
                <a:cs typeface="Arial"/>
              </a:rPr>
              <a:t>Scheme C: macro-F1 0.8954 | AP 0.8763 | 267 FP | 293 FN</a:t>
            </a:r>
          </a:p>
        </p:txBody>
      </p:sp>
    </p:spTree>
    <p:extLst>
      <p:ext uri="{BB962C8B-B14F-4D97-AF65-F5344CB8AC3E}">
        <p14:creationId xmlns:p14="http://schemas.microsoft.com/office/powerpoint/2010/main" val="74766480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95B80A-0B36-4DFE-90D6-6B9628DECACA}"/>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Source-host history gives the strongest contextual balance</a:t>
            </a:r>
          </a:p>
        </p:txBody>
      </p:sp>
      <p:sp>
        <p:nvSpPr>
          <p:cNvPr id="2" name="">
            <a:extLst xmlns:a="http://schemas.openxmlformats.org/drawingml/2006/main">
              <a:ext uri="{FF2B5EF4-FFF2-40B4-BE49-F238E27FC236}">
                <a16:creationId xmlns:a16="http://schemas.microsoft.com/office/drawing/2014/main" id="{1F4E570F-B3E0-4701-8FFC-98E565BFC087}"/>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4f70a23f4b41fb"/>
          <a:stretch xmlns:a="http://schemas.openxmlformats.org/drawingml/2006/main"/>
        </p:blipFill>
        <p:spPr>
          <a:xfrm xmlns:a="http://schemas.openxmlformats.org/drawingml/2006/main">
            <a:off x="574024" y="1143000"/>
            <a:ext cx="11043952"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017553-E10A-4F4D-A0DB-2899EA8E1E00}"/>
              </a:ext>
            </a:extLst>
          </p:cNvPr>
          <p:cNvSpPr>
            <a:spLocks xmlns:a="http://schemas.openxmlformats.org/drawingml/2006/main" noGrp="1"/>
          </p:cNvSpPr>
          <p:nvPr/>
        </p:nvSpPr>
        <p:spPr>
          <a:xfrm xmlns:a="http://schemas.openxmlformats.org/drawingml/2006/main">
            <a:off x="1047750" y="5953125"/>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49B6D"/>
                </a:solidFill>
                <a:latin typeface="Arial"/>
                <a:ea typeface="Arial"/>
                <a:cs typeface="Arial"/>
              </a:defRPr>
            </a:pPr>
            <a:r>
              <a:rPr sz="2100" b="1">
                <a:solidFill>
                  <a:srgbClr val="149B6D"/>
                </a:solidFill>
                <a:latin typeface="Arial"/>
                <a:ea typeface="Arial"/>
                <a:cs typeface="Arial"/>
              </a:rPr>
              <a:t>Source host: macro-F1 0.9275 | AP 0.9345 | FPR 0.5429%</a:t>
            </a:r>
          </a:p>
        </p:txBody>
      </p:sp>
    </p:spTree>
    <p:extLst>
      <p:ext uri="{BB962C8B-B14F-4D97-AF65-F5344CB8AC3E}">
        <p14:creationId xmlns:p14="http://schemas.microsoft.com/office/powerpoint/2010/main" val="104739455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5D4C24-E8CF-46B1-B5F2-77107A9381F4}"/>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Target-query attention improves ranking and both error types</a:t>
            </a:r>
          </a:p>
        </p:txBody>
      </p:sp>
      <p:sp>
        <p:nvSpPr>
          <p:cNvPr id="2" name="">
            <a:extLst xmlns:a="http://schemas.openxmlformats.org/drawingml/2006/main">
              <a:ext uri="{FF2B5EF4-FFF2-40B4-BE49-F238E27FC236}">
                <a16:creationId xmlns:a16="http://schemas.microsoft.com/office/drawing/2014/main" id="{FEF02E12-9F69-43B7-ADFB-8E7C66B575E1}"/>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f50dbb2ac1840c9"/>
          <a:stretch xmlns:a="http://schemas.openxmlformats.org/drawingml/2006/main"/>
        </p:blipFill>
        <p:spPr>
          <a:xfrm xmlns:a="http://schemas.openxmlformats.org/drawingml/2006/main">
            <a:off x="743126" y="1143000"/>
            <a:ext cx="10705749"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1F8175-B812-4130-93A3-E1E364323DD7}"/>
              </a:ext>
            </a:extLst>
          </p:cNvPr>
          <p:cNvSpPr>
            <a:spLocks xmlns:a="http://schemas.openxmlformats.org/drawingml/2006/main" noGrp="1"/>
          </p:cNvSpPr>
          <p:nvPr/>
        </p:nvSpPr>
        <p:spPr>
          <a:xfrm xmlns:a="http://schemas.openxmlformats.org/drawingml/2006/main">
            <a:off x="1047750" y="5953125"/>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677B8"/>
                </a:solidFill>
                <a:latin typeface="Arial"/>
                <a:ea typeface="Arial"/>
                <a:cs typeface="Arial"/>
              </a:defRPr>
            </a:pPr>
            <a:r>
              <a:rPr sz="2100" b="1">
                <a:solidFill>
                  <a:srgbClr val="1677B8"/>
                </a:solidFill>
                <a:latin typeface="Arial"/>
                <a:ea typeface="Arial"/>
                <a:cs typeface="Arial"/>
              </a:rPr>
              <a:t>Proposed: macro-F1 0.9275 | class-1 F1 0.8610 | AP 0.9345</a:t>
            </a:r>
          </a:p>
        </p:txBody>
      </p:sp>
    </p:spTree>
    <p:extLst>
      <p:ext uri="{BB962C8B-B14F-4D97-AF65-F5344CB8AC3E}">
        <p14:creationId xmlns:p14="http://schemas.microsoft.com/office/powerpoint/2010/main" val="17622622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BD04A46-D34E-48FE-B46A-27E8DE28655F}"/>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Useful discrimination transfers, but not uniformly</a:t>
            </a:r>
          </a:p>
        </p:txBody>
      </p:sp>
      <p:sp>
        <p:nvSpPr>
          <p:cNvPr id="2" name="">
            <a:extLst xmlns:a="http://schemas.openxmlformats.org/drawingml/2006/main">
              <a:ext uri="{FF2B5EF4-FFF2-40B4-BE49-F238E27FC236}">
                <a16:creationId xmlns:a16="http://schemas.microsoft.com/office/drawing/2014/main" id="{1C7AE16A-0136-4DE2-8D63-BF628B892278}"/>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77CD2745-C87F-44FE-90CB-77A40CD23A93}"/>
              </a:ext>
            </a:extLst>
          </p:cNvPr>
          <p:cNvSpPr>
            <a:spLocks xmlns:a="http://schemas.openxmlformats.org/drawingml/2006/main" noGrp="1"/>
          </p:cNvSpPr>
          <p:nvPr/>
        </p:nvSpPr>
        <p:spPr>
          <a:xfrm xmlns:a="http://schemas.openxmlformats.org/drawingml/2006/main">
            <a:off x="523875" y="14763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677B8"/>
                </a:solidFill>
                <a:latin typeface="Arial"/>
                <a:ea typeface="Arial"/>
                <a:cs typeface="Arial"/>
              </a:defRPr>
            </a:pPr>
            <a:r>
              <a:rPr sz="1950" b="1">
                <a:solidFill>
                  <a:srgbClr val="1677B8"/>
                </a:solidFill>
                <a:latin typeface="Arial"/>
                <a:ea typeface="Arial"/>
                <a:cs typeface="Arial"/>
              </a:rPr>
              <a:t>CICIDS2017</a:t>
            </a:r>
          </a:p>
        </p:txBody>
      </p:sp>
      <p:sp>
        <p:nvSpPr>
          <p:cNvPr id="4" name="">
            <a:extLst xmlns:a="http://schemas.openxmlformats.org/drawingml/2006/main">
              <a:ext uri="{FF2B5EF4-FFF2-40B4-BE49-F238E27FC236}">
                <a16:creationId xmlns:a16="http://schemas.microsoft.com/office/drawing/2014/main" id="{9D0E42AF-33BA-44D4-87CD-B04987894ED2}"/>
              </a:ext>
            </a:extLst>
          </p:cNvPr>
          <p:cNvSpPr>
            <a:spLocks xmlns:a="http://schemas.openxmlformats.org/drawingml/2006/main" noGrp="1"/>
          </p:cNvSpPr>
          <p:nvPr/>
        </p:nvSpPr>
        <p:spPr>
          <a:xfrm xmlns:a="http://schemas.openxmlformats.org/drawingml/2006/main">
            <a:off x="523875" y="19526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Five × 20,000-flow windows</a:t>
            </a:r>
          </a:p>
        </p:txBody>
      </p:sp>
      <p:sp>
        <p:nvSpPr>
          <p:cNvPr id="5" name="">
            <a:extLst xmlns:a="http://schemas.openxmlformats.org/drawingml/2006/main">
              <a:ext uri="{FF2B5EF4-FFF2-40B4-BE49-F238E27FC236}">
                <a16:creationId xmlns:a16="http://schemas.microsoft.com/office/drawing/2014/main" id="{70C1CDF3-347E-433E-81CD-FBE9277B94F1}"/>
              </a:ext>
            </a:extLst>
          </p:cNvPr>
          <p:cNvSpPr>
            <a:spLocks xmlns:a="http://schemas.openxmlformats.org/drawingml/2006/main" noGrp="1"/>
          </p:cNvSpPr>
          <p:nvPr/>
        </p:nvSpPr>
        <p:spPr>
          <a:xfrm xmlns:a="http://schemas.openxmlformats.org/drawingml/2006/main">
            <a:off x="523875" y="2476500"/>
            <a:ext cx="304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1677B8"/>
                </a:solidFill>
                <a:latin typeface="Arial"/>
                <a:ea typeface="Arial"/>
                <a:cs typeface="Arial"/>
              </a:defRPr>
            </a:pPr>
            <a:r>
              <a:rPr sz="4050" b="1">
                <a:solidFill>
                  <a:srgbClr val="1677B8"/>
                </a:solidFill>
                <a:latin typeface="Arial"/>
                <a:ea typeface="Arial"/>
                <a:cs typeface="Arial"/>
              </a:rPr>
              <a:t>0.8966</a:t>
            </a:r>
          </a:p>
        </p:txBody>
      </p:sp>
      <p:sp>
        <p:nvSpPr>
          <p:cNvPr id="6" name="">
            <a:extLst xmlns:a="http://schemas.openxmlformats.org/drawingml/2006/main">
              <a:ext uri="{FF2B5EF4-FFF2-40B4-BE49-F238E27FC236}">
                <a16:creationId xmlns:a16="http://schemas.microsoft.com/office/drawing/2014/main" id="{25B2F94A-08ED-4933-BEE2-E05E1AA23F8D}"/>
              </a:ext>
            </a:extLst>
          </p:cNvPr>
          <p:cNvSpPr>
            <a:spLocks xmlns:a="http://schemas.openxmlformats.org/drawingml/2006/main" noGrp="1"/>
          </p:cNvSpPr>
          <p:nvPr/>
        </p:nvSpPr>
        <p:spPr>
          <a:xfrm xmlns:a="http://schemas.openxmlformats.org/drawingml/2006/main">
            <a:off x="523875" y="319087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pooled macro-F1</a:t>
            </a:r>
          </a:p>
        </p:txBody>
      </p:sp>
      <p:sp>
        <p:nvSpPr>
          <p:cNvPr id="7" name="">
            <a:extLst xmlns:a="http://schemas.openxmlformats.org/drawingml/2006/main">
              <a:ext uri="{FF2B5EF4-FFF2-40B4-BE49-F238E27FC236}">
                <a16:creationId xmlns:a16="http://schemas.microsoft.com/office/drawing/2014/main" id="{079E25F3-A759-47AF-8F58-88D3AC859DC9}"/>
              </a:ext>
            </a:extLst>
          </p:cNvPr>
          <p:cNvSpPr>
            <a:spLocks xmlns:a="http://schemas.openxmlformats.org/drawingml/2006/main" noGrp="1"/>
          </p:cNvSpPr>
          <p:nvPr/>
        </p:nvSpPr>
        <p:spPr>
          <a:xfrm xmlns:a="http://schemas.openxmlformats.org/drawingml/2006/main">
            <a:off x="523875" y="3857625"/>
            <a:ext cx="342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11318"/>
                </a:solidFill>
                <a:latin typeface="Arial"/>
                <a:ea typeface="Arial"/>
                <a:cs typeface="Arial"/>
              </a:defRPr>
            </a:pPr>
            <a:r>
              <a:rPr sz="2625" b="1">
                <a:solidFill>
                  <a:srgbClr val="111318"/>
                </a:solidFill>
                <a:latin typeface="Arial"/>
                <a:ea typeface="Arial"/>
                <a:cs typeface="Arial"/>
              </a:rPr>
              <a:t>0.8536–0.9226</a:t>
            </a:r>
          </a:p>
        </p:txBody>
      </p:sp>
      <p:sp>
        <p:nvSpPr>
          <p:cNvPr id="8" name="">
            <a:extLst xmlns:a="http://schemas.openxmlformats.org/drawingml/2006/main">
              <a:ext uri="{FF2B5EF4-FFF2-40B4-BE49-F238E27FC236}">
                <a16:creationId xmlns:a16="http://schemas.microsoft.com/office/drawing/2014/main" id="{ACA927E5-F78A-4765-A70D-CFDF62A81944}"/>
              </a:ext>
            </a:extLst>
          </p:cNvPr>
          <p:cNvSpPr>
            <a:spLocks xmlns:a="http://schemas.openxmlformats.org/drawingml/2006/main" noGrp="1"/>
          </p:cNvSpPr>
          <p:nvPr/>
        </p:nvSpPr>
        <p:spPr>
          <a:xfrm xmlns:a="http://schemas.openxmlformats.org/drawingml/2006/main">
            <a:off x="523875" y="44005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window-level macro-F1 range</a:t>
            </a:r>
          </a:p>
        </p:txBody>
      </p:sp>
      <p:sp>
        <p:nvSpPr>
          <p:cNvPr id="9" name="">
            <a:extLst xmlns:a="http://schemas.openxmlformats.org/drawingml/2006/main">
              <a:ext uri="{FF2B5EF4-FFF2-40B4-BE49-F238E27FC236}">
                <a16:creationId xmlns:a16="http://schemas.microsoft.com/office/drawing/2014/main" id="{AD4A999E-DFEC-4D1B-B6E6-84C9F9F8C4F2}"/>
              </a:ext>
            </a:extLst>
          </p:cNvPr>
          <p:cNvSpPr>
            <a:spLocks xmlns:a="http://schemas.openxmlformats.org/drawingml/2006/main" noGrp="1"/>
          </p:cNvSpPr>
          <p:nvPr/>
        </p:nvSpPr>
        <p:spPr>
          <a:xfrm xmlns:a="http://schemas.openxmlformats.org/drawingml/2006/main">
            <a:off x="4762500" y="1285875"/>
            <a:ext cx="19050" cy="4095750"/>
          </a:xfrm>
          <a:prstGeom xmlns:a="http://schemas.openxmlformats.org/drawingml/2006/main" prst="rect">
            <a:avLst/>
          </a:prstGeom>
          <a:solidFill xmlns:a="http://schemas.openxmlformats.org/drawingml/2006/main">
            <a:srgbClr val="C8CD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A82690-05D8-43AB-9908-16E2D8CABA32}"/>
              </a:ext>
            </a:extLst>
          </p:cNvPr>
          <p:cNvSpPr>
            <a:spLocks xmlns:a="http://schemas.openxmlformats.org/drawingml/2006/main" noGrp="1"/>
          </p:cNvSpPr>
          <p:nvPr/>
        </p:nvSpPr>
        <p:spPr>
          <a:xfrm xmlns:a="http://schemas.openxmlformats.org/drawingml/2006/main">
            <a:off x="5524500" y="14763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49B6D"/>
                </a:solidFill>
                <a:latin typeface="Arial"/>
                <a:ea typeface="Arial"/>
                <a:cs typeface="Arial"/>
              </a:defRPr>
            </a:pPr>
            <a:r>
              <a:rPr sz="1950" b="1">
                <a:solidFill>
                  <a:srgbClr val="149B6D"/>
                </a:solidFill>
                <a:latin typeface="Arial"/>
                <a:ea typeface="Arial"/>
                <a:cs typeface="Arial"/>
              </a:rPr>
              <a:t>Company cross-server</a:t>
            </a:r>
          </a:p>
        </p:txBody>
      </p:sp>
      <p:sp>
        <p:nvSpPr>
          <p:cNvPr id="11" name="">
            <a:extLst xmlns:a="http://schemas.openxmlformats.org/drawingml/2006/main">
              <a:ext uri="{FF2B5EF4-FFF2-40B4-BE49-F238E27FC236}">
                <a16:creationId xmlns:a16="http://schemas.microsoft.com/office/drawing/2014/main" id="{BAFAEBC8-2B57-4BBA-AC5F-B83EDEEB1812}"/>
              </a:ext>
            </a:extLst>
          </p:cNvPr>
          <p:cNvSpPr>
            <a:spLocks xmlns:a="http://schemas.openxmlformats.org/drawingml/2006/main" noGrp="1"/>
          </p:cNvSpPr>
          <p:nvPr/>
        </p:nvSpPr>
        <p:spPr>
          <a:xfrm xmlns:a="http://schemas.openxmlformats.org/drawingml/2006/main">
            <a:off x="5524500" y="19526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38,513 flows | 3.285% positive</a:t>
            </a:r>
          </a:p>
        </p:txBody>
      </p:sp>
      <p:sp>
        <p:nvSpPr>
          <p:cNvPr id="12" name="">
            <a:extLst xmlns:a="http://schemas.openxmlformats.org/drawingml/2006/main">
              <a:ext uri="{FF2B5EF4-FFF2-40B4-BE49-F238E27FC236}">
                <a16:creationId xmlns:a16="http://schemas.microsoft.com/office/drawing/2014/main" id="{F5FA9375-BAF7-4AB3-A175-69DCB60EBE7F}"/>
              </a:ext>
            </a:extLst>
          </p:cNvPr>
          <p:cNvSpPr>
            <a:spLocks xmlns:a="http://schemas.openxmlformats.org/drawingml/2006/main" noGrp="1"/>
          </p:cNvSpPr>
          <p:nvPr/>
        </p:nvSpPr>
        <p:spPr>
          <a:xfrm xmlns:a="http://schemas.openxmlformats.org/drawingml/2006/main">
            <a:off x="5524500" y="2476500"/>
            <a:ext cx="304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149B6D"/>
                </a:solidFill>
                <a:latin typeface="Arial"/>
                <a:ea typeface="Arial"/>
                <a:cs typeface="Arial"/>
              </a:defRPr>
            </a:pPr>
            <a:r>
              <a:rPr sz="4050" b="1">
                <a:solidFill>
                  <a:srgbClr val="149B6D"/>
                </a:solidFill>
                <a:latin typeface="Arial"/>
                <a:ea typeface="Arial"/>
                <a:cs typeface="Arial"/>
              </a:rPr>
              <a:t>0.9026</a:t>
            </a:r>
          </a:p>
        </p:txBody>
      </p:sp>
      <p:sp>
        <p:nvSpPr>
          <p:cNvPr id="13" name="">
            <a:extLst xmlns:a="http://schemas.openxmlformats.org/drawingml/2006/main">
              <a:ext uri="{FF2B5EF4-FFF2-40B4-BE49-F238E27FC236}">
                <a16:creationId xmlns:a16="http://schemas.microsoft.com/office/drawing/2014/main" id="{6E382CFA-A8AD-43DB-98F6-0059AD9D7E76}"/>
              </a:ext>
            </a:extLst>
          </p:cNvPr>
          <p:cNvSpPr>
            <a:spLocks xmlns:a="http://schemas.openxmlformats.org/drawingml/2006/main" noGrp="1"/>
          </p:cNvSpPr>
          <p:nvPr/>
        </p:nvSpPr>
        <p:spPr>
          <a:xfrm xmlns:a="http://schemas.openxmlformats.org/drawingml/2006/main">
            <a:off x="5524500" y="319087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macro-F1</a:t>
            </a:r>
          </a:p>
        </p:txBody>
      </p:sp>
      <p:sp>
        <p:nvSpPr>
          <p:cNvPr id="14" name="">
            <a:extLst xmlns:a="http://schemas.openxmlformats.org/drawingml/2006/main">
              <a:ext uri="{FF2B5EF4-FFF2-40B4-BE49-F238E27FC236}">
                <a16:creationId xmlns:a16="http://schemas.microsoft.com/office/drawing/2014/main" id="{06B9478B-543D-473E-9DFF-A6520551CAA3}"/>
              </a:ext>
            </a:extLst>
          </p:cNvPr>
          <p:cNvSpPr>
            <a:spLocks xmlns:a="http://schemas.openxmlformats.org/drawingml/2006/main" noGrp="1"/>
          </p:cNvSpPr>
          <p:nvPr/>
        </p:nvSpPr>
        <p:spPr>
          <a:xfrm xmlns:a="http://schemas.openxmlformats.org/drawingml/2006/main">
            <a:off x="8953500" y="2476500"/>
            <a:ext cx="238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E9A000"/>
                </a:solidFill>
                <a:latin typeface="Arial"/>
                <a:ea typeface="Arial"/>
                <a:cs typeface="Arial"/>
              </a:defRPr>
            </a:pPr>
            <a:r>
              <a:rPr sz="4050" b="1">
                <a:solidFill>
                  <a:srgbClr val="E9A000"/>
                </a:solidFill>
                <a:latin typeface="Arial"/>
                <a:ea typeface="Arial"/>
                <a:cs typeface="Arial"/>
              </a:rPr>
              <a:t>0.8771</a:t>
            </a:r>
          </a:p>
        </p:txBody>
      </p:sp>
      <p:sp>
        <p:nvSpPr>
          <p:cNvPr id="15" name="">
            <a:extLst xmlns:a="http://schemas.openxmlformats.org/drawingml/2006/main">
              <a:ext uri="{FF2B5EF4-FFF2-40B4-BE49-F238E27FC236}">
                <a16:creationId xmlns:a16="http://schemas.microsoft.com/office/drawing/2014/main" id="{C218B6FF-881D-46D5-BFD8-EF46E5FCF001}"/>
              </a:ext>
            </a:extLst>
          </p:cNvPr>
          <p:cNvSpPr>
            <a:spLocks xmlns:a="http://schemas.openxmlformats.org/drawingml/2006/main" noGrp="1"/>
          </p:cNvSpPr>
          <p:nvPr/>
        </p:nvSpPr>
        <p:spPr>
          <a:xfrm xmlns:a="http://schemas.openxmlformats.org/drawingml/2006/main">
            <a:off x="8953500" y="3190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5E6673"/>
                </a:solidFill>
                <a:latin typeface="Arial"/>
                <a:ea typeface="Arial"/>
                <a:cs typeface="Arial"/>
              </a:defRPr>
            </a:pPr>
            <a:r>
              <a:rPr sz="1650" b="0">
                <a:solidFill>
                  <a:srgbClr val="5E6673"/>
                </a:solidFill>
                <a:latin typeface="Arial"/>
                <a:ea typeface="Arial"/>
                <a:cs typeface="Arial"/>
              </a:rPr>
              <a:t>average precision</a:t>
            </a:r>
          </a:p>
        </p:txBody>
      </p:sp>
      <p:sp>
        <p:nvSpPr>
          <p:cNvPr id="16" name="">
            <a:extLst xmlns:a="http://schemas.openxmlformats.org/drawingml/2006/main">
              <a:ext uri="{FF2B5EF4-FFF2-40B4-BE49-F238E27FC236}">
                <a16:creationId xmlns:a16="http://schemas.microsoft.com/office/drawing/2014/main" id="{9E21595F-3FE9-4D0B-A178-31FB0DAAD1FA}"/>
              </a:ext>
            </a:extLst>
          </p:cNvPr>
          <p:cNvSpPr>
            <a:spLocks xmlns:a="http://schemas.openxmlformats.org/drawingml/2006/main" noGrp="1"/>
          </p:cNvSpPr>
          <p:nvPr/>
        </p:nvSpPr>
        <p:spPr>
          <a:xfrm xmlns:a="http://schemas.openxmlformats.org/drawingml/2006/main">
            <a:off x="5524500" y="4095750"/>
            <a:ext cx="571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11318"/>
                </a:solidFill>
                <a:latin typeface="Arial"/>
                <a:ea typeface="Arial"/>
                <a:cs typeface="Arial"/>
              </a:defRPr>
            </a:pPr>
            <a:r>
              <a:rPr sz="1875" b="1">
                <a:solidFill>
                  <a:srgbClr val="111318"/>
                </a:solidFill>
                <a:latin typeface="Arial"/>
                <a:ea typeface="Arial"/>
                <a:cs typeface="Arial"/>
              </a:rPr>
              <a:t>Conclusion: transfer is promising, but temporal and environmental shift changes the error balance.</a:t>
            </a:r>
          </a:p>
        </p:txBody>
      </p:sp>
    </p:spTree>
    <p:extLst>
      <p:ext uri="{BB962C8B-B14F-4D97-AF65-F5344CB8AC3E}">
        <p14:creationId xmlns:p14="http://schemas.microsoft.com/office/powerpoint/2010/main" val="10636574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E2A9A1-965B-4CEE-942E-12683F59A62E}"/>
              </a:ext>
            </a:extLst>
          </p:cNvPr>
          <p:cNvSpPr>
            <a:spLocks xmlns:a="http://schemas.openxmlformats.org/drawingml/2006/main" noGrp="1"/>
          </p:cNvSpPr>
          <p:nvPr/>
        </p:nvSpPr>
        <p:spPr>
          <a:xfrm xmlns:a="http://schemas.openxmlformats.org/drawingml/2006/main">
            <a:off x="400050" y="28575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318"/>
                </a:solidFill>
                <a:latin typeface="Arial"/>
                <a:ea typeface="Arial"/>
                <a:cs typeface="Arial"/>
              </a:defRPr>
            </a:pPr>
            <a:r>
              <a:rPr sz="2850" b="1">
                <a:solidFill>
                  <a:srgbClr val="111318"/>
                </a:solidFill>
                <a:latin typeface="Arial"/>
                <a:ea typeface="Arial"/>
                <a:cs typeface="Arial"/>
              </a:rPr>
              <a:t>The conclusions are strong within a deliberately limited scope</a:t>
            </a:r>
          </a:p>
        </p:txBody>
      </p:sp>
      <p:sp>
        <p:nvSpPr>
          <p:cNvPr id="2" name="">
            <a:extLst xmlns:a="http://schemas.openxmlformats.org/drawingml/2006/main">
              <a:ext uri="{FF2B5EF4-FFF2-40B4-BE49-F238E27FC236}">
                <a16:creationId xmlns:a16="http://schemas.microsoft.com/office/drawing/2014/main" id="{8C62B0D5-8525-46CB-92B3-D979BEB2E210}"/>
              </a:ext>
            </a:extLst>
          </p:cNvPr>
          <p:cNvSpPr>
            <a:spLocks xmlns:a="http://schemas.openxmlformats.org/drawingml/2006/main" noGrp="1"/>
          </p:cNvSpPr>
          <p:nvPr/>
        </p:nvSpPr>
        <p:spPr>
          <a:xfrm xmlns:a="http://schemas.openxmlformats.org/drawingml/2006/main">
            <a:off x="11239500" y="62960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E6673"/>
                </a:solidFill>
                <a:latin typeface="Arial"/>
                <a:ea typeface="Arial"/>
                <a:cs typeface="Arial"/>
              </a:defRPr>
            </a:pPr>
            <a:r>
              <a:rPr sz="975" b="0">
                <a:solidFill>
                  <a:srgbClr val="5E6673"/>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6DD310A-ECFA-45D4-B0CE-E28EA1A751E4}"/>
              </a:ext>
            </a:extLst>
          </p:cNvPr>
          <p:cNvSpPr>
            <a:spLocks xmlns:a="http://schemas.openxmlformats.org/drawingml/2006/main" noGrp="1"/>
          </p:cNvSpPr>
          <p:nvPr/>
        </p:nvSpPr>
        <p:spPr>
          <a:xfrm xmlns:a="http://schemas.openxmlformats.org/drawingml/2006/main">
            <a:off x="523875" y="138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49B6D"/>
                </a:solidFill>
                <a:latin typeface="Arial"/>
                <a:ea typeface="Arial"/>
                <a:cs typeface="Arial"/>
              </a:defRPr>
            </a:pPr>
            <a:r>
              <a:rPr sz="2025" b="1">
                <a:solidFill>
                  <a:srgbClr val="149B6D"/>
                </a:solidFill>
                <a:latin typeface="Arial"/>
                <a:ea typeface="Arial"/>
                <a:cs typeface="Arial"/>
              </a:rPr>
              <a:t>What the evidence supports</a:t>
            </a:r>
          </a:p>
        </p:txBody>
      </p:sp>
      <p:sp>
        <p:nvSpPr>
          <p:cNvPr id="4" name="">
            <a:extLst xmlns:a="http://schemas.openxmlformats.org/drawingml/2006/main">
              <a:ext uri="{FF2B5EF4-FFF2-40B4-BE49-F238E27FC236}">
                <a16:creationId xmlns:a16="http://schemas.microsoft.com/office/drawing/2014/main" id="{A164B170-DA0F-4403-9806-2921C7981355}"/>
              </a:ext>
            </a:extLst>
          </p:cNvPr>
          <p:cNvSpPr>
            <a:spLocks xmlns:a="http://schemas.openxmlformats.org/drawingml/2006/main" noGrp="1"/>
          </p:cNvSpPr>
          <p:nvPr/>
        </p:nvSpPr>
        <p:spPr>
          <a:xfrm xmlns:a="http://schemas.openxmlformats.org/drawingml/2006/main">
            <a:off x="523875" y="1952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C4B95F0D-D853-4735-B336-272DBD6CB7F2}"/>
              </a:ext>
            </a:extLst>
          </p:cNvPr>
          <p:cNvSpPr>
            <a:spLocks xmlns:a="http://schemas.openxmlformats.org/drawingml/2006/main" noGrp="1"/>
          </p:cNvSpPr>
          <p:nvPr/>
        </p:nvSpPr>
        <p:spPr>
          <a:xfrm xmlns:a="http://schemas.openxmlformats.org/drawingml/2006/main">
            <a:off x="847725" y="19526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Packet order and elapsed time are complementary</a:t>
            </a:r>
          </a:p>
        </p:txBody>
      </p:sp>
      <p:sp>
        <p:nvSpPr>
          <p:cNvPr id="6" name="">
            <a:extLst xmlns:a="http://schemas.openxmlformats.org/drawingml/2006/main">
              <a:ext uri="{FF2B5EF4-FFF2-40B4-BE49-F238E27FC236}">
                <a16:creationId xmlns:a16="http://schemas.microsoft.com/office/drawing/2014/main" id="{1CAE4DE2-E427-4375-9BE4-6B02FFB3E5F8}"/>
              </a:ext>
            </a:extLst>
          </p:cNvPr>
          <p:cNvSpPr>
            <a:spLocks xmlns:a="http://schemas.openxmlformats.org/drawingml/2006/main" noGrp="1"/>
          </p:cNvSpPr>
          <p:nvPr/>
        </p:nvSpPr>
        <p:spPr>
          <a:xfrm xmlns:a="http://schemas.openxmlformats.org/drawingml/2006/main">
            <a:off x="523875" y="2524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555542D-3CFD-4BEA-B763-4C91DC9DA123}"/>
              </a:ext>
            </a:extLst>
          </p:cNvPr>
          <p:cNvSpPr>
            <a:spLocks xmlns:a="http://schemas.openxmlformats.org/drawingml/2006/main" noGrp="1"/>
          </p:cNvSpPr>
          <p:nvPr/>
        </p:nvSpPr>
        <p:spPr>
          <a:xfrm xmlns:a="http://schemas.openxmlformats.org/drawingml/2006/main">
            <a:off x="847725" y="25241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Aggregate statistics still add information</a:t>
            </a:r>
          </a:p>
        </p:txBody>
      </p:sp>
      <p:sp>
        <p:nvSpPr>
          <p:cNvPr id="8" name="">
            <a:extLst xmlns:a="http://schemas.openxmlformats.org/drawingml/2006/main">
              <a:ext uri="{FF2B5EF4-FFF2-40B4-BE49-F238E27FC236}">
                <a16:creationId xmlns:a16="http://schemas.microsoft.com/office/drawing/2014/main" id="{9FDFD1A9-2497-463D-B10D-E25797078AC5}"/>
              </a:ext>
            </a:extLst>
          </p:cNvPr>
          <p:cNvSpPr>
            <a:spLocks xmlns:a="http://schemas.openxmlformats.org/drawingml/2006/main" noGrp="1"/>
          </p:cNvSpPr>
          <p:nvPr/>
        </p:nvSpPr>
        <p:spPr>
          <a:xfrm xmlns:a="http://schemas.openxmlformats.org/drawingml/2006/main">
            <a:off x="523875" y="3095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AFE4B8F-7BF3-4035-9716-3188259A223E}"/>
              </a:ext>
            </a:extLst>
          </p:cNvPr>
          <p:cNvSpPr>
            <a:spLocks xmlns:a="http://schemas.openxmlformats.org/drawingml/2006/main" noGrp="1"/>
          </p:cNvSpPr>
          <p:nvPr/>
        </p:nvSpPr>
        <p:spPr>
          <a:xfrm xmlns:a="http://schemas.openxmlformats.org/drawingml/2006/main">
            <a:off x="847725" y="30956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Selective source-host context improves the tested detector</a:t>
            </a:r>
          </a:p>
        </p:txBody>
      </p:sp>
      <p:sp>
        <p:nvSpPr>
          <p:cNvPr id="10" name="">
            <a:extLst xmlns:a="http://schemas.openxmlformats.org/drawingml/2006/main">
              <a:ext uri="{FF2B5EF4-FFF2-40B4-BE49-F238E27FC236}">
                <a16:creationId xmlns:a16="http://schemas.microsoft.com/office/drawing/2014/main" id="{2FF4F001-A79B-435D-BEBA-8D19D8001C9D}"/>
              </a:ext>
            </a:extLst>
          </p:cNvPr>
          <p:cNvSpPr>
            <a:spLocks xmlns:a="http://schemas.openxmlformats.org/drawingml/2006/main" noGrp="1"/>
          </p:cNvSpPr>
          <p:nvPr/>
        </p:nvSpPr>
        <p:spPr>
          <a:xfrm xmlns:a="http://schemas.openxmlformats.org/drawingml/2006/main">
            <a:off x="523875" y="3667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FE1BE2E-547A-4247-925A-688AEC2D7AF4}"/>
              </a:ext>
            </a:extLst>
          </p:cNvPr>
          <p:cNvSpPr>
            <a:spLocks xmlns:a="http://schemas.openxmlformats.org/drawingml/2006/main" noGrp="1"/>
          </p:cNvSpPr>
          <p:nvPr/>
        </p:nvSpPr>
        <p:spPr>
          <a:xfrm xmlns:a="http://schemas.openxmlformats.org/drawingml/2006/main">
            <a:off x="847725" y="36671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External performance remains useful but variable</a:t>
            </a:r>
          </a:p>
        </p:txBody>
      </p:sp>
      <p:sp>
        <p:nvSpPr>
          <p:cNvPr id="12" name="">
            <a:extLst xmlns:a="http://schemas.openxmlformats.org/drawingml/2006/main">
              <a:ext uri="{FF2B5EF4-FFF2-40B4-BE49-F238E27FC236}">
                <a16:creationId xmlns:a16="http://schemas.microsoft.com/office/drawing/2014/main" id="{1E2F5730-D923-462F-8EBB-67A1EF66C887}"/>
              </a:ext>
            </a:extLst>
          </p:cNvPr>
          <p:cNvSpPr>
            <a:spLocks xmlns:a="http://schemas.openxmlformats.org/drawingml/2006/main" noGrp="1"/>
          </p:cNvSpPr>
          <p:nvPr/>
        </p:nvSpPr>
        <p:spPr>
          <a:xfrm xmlns:a="http://schemas.openxmlformats.org/drawingml/2006/main">
            <a:off x="6477000" y="138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E9A000"/>
                </a:solidFill>
                <a:latin typeface="Arial"/>
                <a:ea typeface="Arial"/>
                <a:cs typeface="Arial"/>
              </a:defRPr>
            </a:pPr>
            <a:r>
              <a:rPr sz="2025" b="1">
                <a:solidFill>
                  <a:srgbClr val="E9A000"/>
                </a:solidFill>
                <a:latin typeface="Arial"/>
                <a:ea typeface="Arial"/>
                <a:cs typeface="Arial"/>
              </a:rPr>
              <a:t>What it does not yet establish</a:t>
            </a:r>
          </a:p>
        </p:txBody>
      </p:sp>
      <p:sp>
        <p:nvSpPr>
          <p:cNvPr id="13" name="">
            <a:extLst xmlns:a="http://schemas.openxmlformats.org/drawingml/2006/main">
              <a:ext uri="{FF2B5EF4-FFF2-40B4-BE49-F238E27FC236}">
                <a16:creationId xmlns:a16="http://schemas.microsoft.com/office/drawing/2014/main" id="{9FB84296-3C57-41C4-9E8D-9A9EA1498C49}"/>
              </a:ext>
            </a:extLst>
          </p:cNvPr>
          <p:cNvSpPr>
            <a:spLocks xmlns:a="http://schemas.openxmlformats.org/drawingml/2006/main" noGrp="1"/>
          </p:cNvSpPr>
          <p:nvPr/>
        </p:nvSpPr>
        <p:spPr>
          <a:xfrm xmlns:a="http://schemas.openxmlformats.org/drawingml/2006/main">
            <a:off x="6477000" y="1952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3EE6EBA9-CC0E-469E-B2D4-8275CA7C1CB8}"/>
              </a:ext>
            </a:extLst>
          </p:cNvPr>
          <p:cNvSpPr>
            <a:spLocks xmlns:a="http://schemas.openxmlformats.org/drawingml/2006/main" noGrp="1"/>
          </p:cNvSpPr>
          <p:nvPr/>
        </p:nvSpPr>
        <p:spPr>
          <a:xfrm xmlns:a="http://schemas.openxmlformats.org/drawingml/2006/main">
            <a:off x="6800850" y="19526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Independently verified attack ground truth</a:t>
            </a:r>
          </a:p>
        </p:txBody>
      </p:sp>
      <p:sp>
        <p:nvSpPr>
          <p:cNvPr id="15" name="">
            <a:extLst xmlns:a="http://schemas.openxmlformats.org/drawingml/2006/main">
              <a:ext uri="{FF2B5EF4-FFF2-40B4-BE49-F238E27FC236}">
                <a16:creationId xmlns:a16="http://schemas.microsoft.com/office/drawing/2014/main" id="{FC0DEB0A-FE64-4597-9FF9-2BF989A71CF4}"/>
              </a:ext>
            </a:extLst>
          </p:cNvPr>
          <p:cNvSpPr>
            <a:spLocks xmlns:a="http://schemas.openxmlformats.org/drawingml/2006/main" noGrp="1"/>
          </p:cNvSpPr>
          <p:nvPr/>
        </p:nvSpPr>
        <p:spPr>
          <a:xfrm xmlns:a="http://schemas.openxmlformats.org/drawingml/2006/main">
            <a:off x="6477000" y="2524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86790CF8-5245-4A30-9231-BB8E66581C51}"/>
              </a:ext>
            </a:extLst>
          </p:cNvPr>
          <p:cNvSpPr>
            <a:spLocks xmlns:a="http://schemas.openxmlformats.org/drawingml/2006/main" noGrp="1"/>
          </p:cNvSpPr>
          <p:nvPr/>
        </p:nvSpPr>
        <p:spPr>
          <a:xfrm xmlns:a="http://schemas.openxmlformats.org/drawingml/2006/main">
            <a:off x="6800850" y="25241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Strict streaming availability at target start</a:t>
            </a:r>
          </a:p>
        </p:txBody>
      </p:sp>
      <p:sp>
        <p:nvSpPr>
          <p:cNvPr id="17" name="">
            <a:extLst xmlns:a="http://schemas.openxmlformats.org/drawingml/2006/main">
              <a:ext uri="{FF2B5EF4-FFF2-40B4-BE49-F238E27FC236}">
                <a16:creationId xmlns:a16="http://schemas.microsoft.com/office/drawing/2014/main" id="{35A561BD-8F09-4B95-9ADC-276A943BA620}"/>
              </a:ext>
            </a:extLst>
          </p:cNvPr>
          <p:cNvSpPr>
            <a:spLocks xmlns:a="http://schemas.openxmlformats.org/drawingml/2006/main" noGrp="1"/>
          </p:cNvSpPr>
          <p:nvPr/>
        </p:nvSpPr>
        <p:spPr>
          <a:xfrm xmlns:a="http://schemas.openxmlformats.org/drawingml/2006/main">
            <a:off x="6477000" y="3095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6C47FE9E-1022-408F-A670-FE957466EBF9}"/>
              </a:ext>
            </a:extLst>
          </p:cNvPr>
          <p:cNvSpPr>
            <a:spLocks xmlns:a="http://schemas.openxmlformats.org/drawingml/2006/main" noGrp="1"/>
          </p:cNvSpPr>
          <p:nvPr/>
        </p:nvSpPr>
        <p:spPr>
          <a:xfrm xmlns:a="http://schemas.openxmlformats.org/drawingml/2006/main">
            <a:off x="6800850" y="30956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Statistical significance across random seeds</a:t>
            </a:r>
          </a:p>
        </p:txBody>
      </p:sp>
      <p:sp>
        <p:nvSpPr>
          <p:cNvPr id="19" name="">
            <a:extLst xmlns:a="http://schemas.openxmlformats.org/drawingml/2006/main">
              <a:ext uri="{FF2B5EF4-FFF2-40B4-BE49-F238E27FC236}">
                <a16:creationId xmlns:a16="http://schemas.microsoft.com/office/drawing/2014/main" id="{79F468D0-35F0-4B0A-A268-3B7DA1E5B32D}"/>
              </a:ext>
            </a:extLst>
          </p:cNvPr>
          <p:cNvSpPr>
            <a:spLocks xmlns:a="http://schemas.openxmlformats.org/drawingml/2006/main" noGrp="1"/>
          </p:cNvSpPr>
          <p:nvPr/>
        </p:nvSpPr>
        <p:spPr>
          <a:xfrm xmlns:a="http://schemas.openxmlformats.org/drawingml/2006/main">
            <a:off x="6477000" y="36671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24883A38-DA7B-4EEC-83E3-DBD5A573BF9B}"/>
              </a:ext>
            </a:extLst>
          </p:cNvPr>
          <p:cNvSpPr>
            <a:spLocks xmlns:a="http://schemas.openxmlformats.org/drawingml/2006/main" noGrp="1"/>
          </p:cNvSpPr>
          <p:nvPr/>
        </p:nvSpPr>
        <p:spPr>
          <a:xfrm xmlns:a="http://schemas.openxmlformats.org/drawingml/2006/main">
            <a:off x="6800850" y="3667125"/>
            <a:ext cx="4914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11318"/>
                </a:solidFill>
                <a:latin typeface="Arial"/>
                <a:ea typeface="Arial"/>
                <a:cs typeface="Arial"/>
              </a:defRPr>
            </a:pPr>
            <a:r>
              <a:rPr sz="1650" b="0">
                <a:solidFill>
                  <a:srgbClr val="111318"/>
                </a:solidFill>
                <a:latin typeface="Arial"/>
                <a:ea typeface="Arial"/>
                <a:cs typeface="Arial"/>
              </a:rPr>
              <a:t>Universal transfer across networks and attack families</a:t>
            </a:r>
          </a:p>
        </p:txBody>
      </p:sp>
    </p:spTree>
    <p:extLst>
      <p:ext uri="{BB962C8B-B14F-4D97-AF65-F5344CB8AC3E}">
        <p14:creationId xmlns:p14="http://schemas.microsoft.com/office/powerpoint/2010/main" val="92883033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0C4F82-C48F-4815-8280-8432D2525871}"/>
              </a:ext>
            </a:extLst>
          </p:cNvPr>
          <p:cNvSpPr>
            <a:spLocks xmlns:a="http://schemas.openxmlformats.org/drawingml/2006/main" noGrp="1"/>
          </p:cNvSpPr>
          <p:nvPr/>
        </p:nvSpPr>
        <p:spPr>
          <a:xfrm xmlns:a="http://schemas.openxmlformats.org/drawingml/2006/main">
            <a:off x="400050" y="400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677B8"/>
                </a:solidFill>
                <a:latin typeface="Arial"/>
                <a:ea typeface="Arial"/>
                <a:cs typeface="Arial"/>
              </a:defRPr>
            </a:pPr>
            <a:r>
              <a:rPr sz="1800" b="1">
                <a:solidFill>
                  <a:srgbClr val="1677B8"/>
                </a:solidFill>
                <a:latin typeface="Arial"/>
                <a:ea typeface="Arial"/>
                <a:cs typeface="Arial"/>
              </a:rPr>
              <a:t>Takeaway</a:t>
            </a:r>
          </a:p>
        </p:txBody>
      </p:sp>
      <p:sp>
        <p:nvSpPr>
          <p:cNvPr id="2" name="">
            <a:extLst xmlns:a="http://schemas.openxmlformats.org/drawingml/2006/main">
              <a:ext uri="{FF2B5EF4-FFF2-40B4-BE49-F238E27FC236}">
                <a16:creationId xmlns:a16="http://schemas.microsoft.com/office/drawing/2014/main" id="{2FDF65CF-EBAA-4109-AC7B-26B6A2E44A6B}"/>
              </a:ext>
            </a:extLst>
          </p:cNvPr>
          <p:cNvSpPr>
            <a:spLocks xmlns:a="http://schemas.openxmlformats.org/drawingml/2006/main" noGrp="1"/>
          </p:cNvSpPr>
          <p:nvPr/>
        </p:nvSpPr>
        <p:spPr>
          <a:xfrm xmlns:a="http://schemas.openxmlformats.org/drawingml/2006/main">
            <a:off x="400050" y="1571625"/>
            <a:ext cx="1000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111318"/>
                </a:solidFill>
                <a:latin typeface="Arial"/>
                <a:ea typeface="Arial"/>
                <a:cs typeface="Arial"/>
              </a:defRPr>
            </a:pPr>
            <a:r>
              <a:rPr sz="4350" b="1">
                <a:solidFill>
                  <a:srgbClr val="111318"/>
                </a:solidFill>
                <a:latin typeface="Arial"/>
                <a:ea typeface="Arial"/>
                <a:cs typeface="Arial"/>
              </a:rPr>
              <a:t>Network traffic is hierarchical.</a:t>
            </a:r>
          </a:p>
          <a:p xmlns:a="http://schemas.openxmlformats.org/drawingml/2006/main">
            <a:pPr algn="l">
              <a:defRPr sz="4350" b="1">
                <a:solidFill>
                  <a:srgbClr val="111318"/>
                </a:solidFill>
                <a:latin typeface="Arial"/>
                <a:ea typeface="Arial"/>
                <a:cs typeface="Arial"/>
              </a:defRPr>
            </a:pPr>
            <a:r>
              <a:rPr sz="4350" b="1">
                <a:solidFill>
                  <a:srgbClr val="111318"/>
                </a:solidFill>
                <a:latin typeface="Arial"/>
                <a:ea typeface="Arial"/>
                <a:cs typeface="Arial"/>
              </a:rPr>
              <a:t>The detector should be too.</a:t>
            </a:r>
          </a:p>
        </p:txBody>
      </p:sp>
      <p:sp>
        <p:nvSpPr>
          <p:cNvPr id="3" name="">
            <a:extLst xmlns:a="http://schemas.openxmlformats.org/drawingml/2006/main">
              <a:ext uri="{FF2B5EF4-FFF2-40B4-BE49-F238E27FC236}">
                <a16:creationId xmlns:a16="http://schemas.microsoft.com/office/drawing/2014/main" id="{5AE636F5-2CEA-4949-AEC9-EC025D133817}"/>
              </a:ext>
            </a:extLst>
          </p:cNvPr>
          <p:cNvSpPr>
            <a:spLocks xmlns:a="http://schemas.openxmlformats.org/drawingml/2006/main" noGrp="1"/>
          </p:cNvSpPr>
          <p:nvPr/>
        </p:nvSpPr>
        <p:spPr>
          <a:xfrm xmlns:a="http://schemas.openxmlformats.org/drawingml/2006/main">
            <a:off x="400050" y="4095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677B8"/>
                </a:solidFill>
                <a:latin typeface="Arial"/>
                <a:ea typeface="Arial"/>
                <a:cs typeface="Arial"/>
              </a:defRPr>
            </a:pPr>
            <a:r>
              <a:rPr sz="2025" b="1">
                <a:solidFill>
                  <a:srgbClr val="1677B8"/>
                </a:solidFill>
                <a:latin typeface="Arial"/>
                <a:ea typeface="Arial"/>
                <a:cs typeface="Arial"/>
              </a:rPr>
              <a:t>Stage 1: how the flow develops</a:t>
            </a:r>
          </a:p>
        </p:txBody>
      </p:sp>
      <p:sp>
        <p:nvSpPr>
          <p:cNvPr id="4" name="">
            <a:extLst xmlns:a="http://schemas.openxmlformats.org/drawingml/2006/main">
              <a:ext uri="{FF2B5EF4-FFF2-40B4-BE49-F238E27FC236}">
                <a16:creationId xmlns:a16="http://schemas.microsoft.com/office/drawing/2014/main" id="{A1EF5FC1-9D57-4071-8286-28173CE54AAD}"/>
              </a:ext>
            </a:extLst>
          </p:cNvPr>
          <p:cNvSpPr>
            <a:spLocks xmlns:a="http://schemas.openxmlformats.org/drawingml/2006/main" noGrp="1"/>
          </p:cNvSpPr>
          <p:nvPr/>
        </p:nvSpPr>
        <p:spPr>
          <a:xfrm xmlns:a="http://schemas.openxmlformats.org/drawingml/2006/main">
            <a:off x="400050" y="45910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49B6D"/>
                </a:solidFill>
                <a:latin typeface="Arial"/>
                <a:ea typeface="Arial"/>
                <a:cs typeface="Arial"/>
              </a:defRPr>
            </a:pPr>
            <a:r>
              <a:rPr sz="2025" b="1">
                <a:solidFill>
                  <a:srgbClr val="149B6D"/>
                </a:solidFill>
                <a:latin typeface="Arial"/>
                <a:ea typeface="Arial"/>
                <a:cs typeface="Arial"/>
              </a:rPr>
              <a:t>Stage 2: how earlier related flows change its meaning</a:t>
            </a:r>
          </a:p>
        </p:txBody>
      </p:sp>
      <p:sp>
        <p:nvSpPr>
          <p:cNvPr id="5" name="">
            <a:extLst xmlns:a="http://schemas.openxmlformats.org/drawingml/2006/main">
              <a:ext uri="{FF2B5EF4-FFF2-40B4-BE49-F238E27FC236}">
                <a16:creationId xmlns:a16="http://schemas.microsoft.com/office/drawing/2014/main" id="{2693BE94-A946-4397-BE6D-2D9C67B2E5A8}"/>
              </a:ext>
            </a:extLst>
          </p:cNvPr>
          <p:cNvSpPr>
            <a:spLocks xmlns:a="http://schemas.openxmlformats.org/drawingml/2006/main" noGrp="1"/>
          </p:cNvSpPr>
          <p:nvPr/>
        </p:nvSpPr>
        <p:spPr>
          <a:xfrm xmlns:a="http://schemas.openxmlformats.org/drawingml/2006/main">
            <a:off x="400050" y="56673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318"/>
                </a:solidFill>
                <a:latin typeface="Arial"/>
                <a:ea typeface="Arial"/>
                <a:cs typeface="Arial"/>
              </a:defRPr>
            </a:pPr>
            <a:r>
              <a:rPr sz="2550" b="1">
                <a:solidFill>
                  <a:srgbClr val="111318"/>
                </a:solidFill>
                <a:latin typeface="Arial"/>
                <a:ea typeface="Arial"/>
                <a:cs typeface="Arial"/>
              </a:rPr>
              <a:t>Questions?</a:t>
            </a:r>
          </a:p>
        </p:txBody>
      </p:sp>
    </p:spTree>
    <p:extLst>
      <p:ext uri="{BB962C8B-B14F-4D97-AF65-F5344CB8AC3E}">
        <p14:creationId xmlns:p14="http://schemas.microsoft.com/office/powerpoint/2010/main" val="362728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2026-08-06T14:14:16.3430000Z</dcterms:created>
  <dcterms:modified xsi:type="dcterms:W3CDTF">2026-08-06T14:14:16.3430000Z</dcterms:modified>
</coreProperties>
</file>