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Samuel Stone | Supervisor Meeting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6400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NIDS research concept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12191695" cy="61447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05156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Hierarchical Time-Aware and Graph-Enhanced NIDS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87552" y="2761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3"/>
                </a:solidFill>
              </a:rPr>
              <a:t>From PCAP to packet sequences, flow embeddings, and behavior-semantic graphs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7552" y="367588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BA7A1"/>
          </a:solidFill>
          <a:ln w="12700">
            <a:solidFill>
              <a:srgbClr val="1BA7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730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Encrypted traffic aware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367588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37307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Time-aware Transformer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367588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39C4A"/>
          </a:solidFill>
          <a:ln w="12700">
            <a:solidFill>
              <a:srgbClr val="F39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730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BS-GAT graph reasoning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4343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Meeting objective: align on the problem framing, technical pipeline, and next-step experiments.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1234440"/>
            <a:ext cx="2240280" cy="2240280"/>
          </a:xfrm>
          <a:prstGeom prst="ellipse">
            <a:avLst/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81051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BE"/>
                </a:solidFill>
              </a:rPr>
              <a:t>Packet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E6FBE"/>
                </a:solidFill>
              </a:rPr>
              <a:t>Sequence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829800" y="3794760"/>
            <a:ext cx="1417320" cy="1417320"/>
          </a:xfrm>
          <a:prstGeom prst="ellipse">
            <a:avLst/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0112" y="4142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A7A1"/>
                </a:solidFill>
              </a:rPr>
              <a:t>Flow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A7A1"/>
                </a:solidFill>
              </a:rPr>
              <a:t>Embedding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4114800"/>
            <a:ext cx="1508760" cy="1508760"/>
          </a:xfrm>
          <a:prstGeom prst="ellipse">
            <a:avLst/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44805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9C4A"/>
                </a:solidFill>
              </a:rPr>
              <a:t>Flow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39C4A"/>
                </a:solidFill>
              </a:rPr>
              <a:t>Graph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Why a single flat model is not enough for realistic network intrusion detection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630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Flow-internal evidence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76479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Within one flow, packets carry strong local context: direction changes, TCP flag transitions, burst patterns, inter-arrival times, and request-response structure.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4630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Cross-flow evidence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176479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Many attacks leave weak signals in any single flow, but strong evidence across multiple flows, hosts, ports, or subnet regions.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991856" y="1325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4630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Practical constraint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56448" y="176479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Payload is often encrypted and expensive to process. A deployable NIDS should work well from headers, timing, direction, and statistics.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3232" y="3703320"/>
            <a:ext cx="10972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58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5D"/>
                </a:solidFill>
              </a:rPr>
              <a:t>Key insight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23160" y="3904488"/>
            <a:ext cx="8823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222D"/>
                </a:solidFill>
              </a:rPr>
              <a:t>Time adjacency is not the same as semantic relevance. If all flows in a window are fed to a Transformer as a flat sequence, the model may learn pseudo-order rather than true attack structure. This motivates a hierarchical design: model packet order inside a flow, and model relations between flows with a graph.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The project is centered on three linked questions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55448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RQ1. Flow encoding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314553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How can we represent an encrypted flow from packet headers, timing, direction, and flow statistics without relying on payload?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Target output: a contextualized flow embedding that captures packet-level behavior.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361688" y="141732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55448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RQ2. Time awareness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1856232"/>
            <a:ext cx="314553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Can positional encoding be replaced by time encoding so that the model attends to when packets happen, not only which packet index they occupy?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Target output: a time-aware Transformer for packet sequences.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991856" y="141732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55448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RQ3. Cross-flow reasoning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56448" y="1856232"/>
            <a:ext cx="314553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How should flows be connected so the model can aggregate attack evidence across hosts, subnets, and repeated targets without introducing pseudo-temporal bias?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Target output: a behavior-semantic graph with BS-GAT.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960120" y="4754880"/>
            <a:ext cx="1033272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2803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Overall hypothesis: local temporal context + global relational context will outperform flat sequence models and single-flow classifiers.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 two-stage architecture aligned with the structure of network traffic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2743200"/>
            <a:ext cx="1371600" cy="0"/>
          </a:xfrm>
          <a:prstGeom prst="line">
            <a:avLst/>
          </a:prstGeom>
          <a:noFill/>
          <a:ln w="12700">
            <a:solidFill>
              <a:srgbClr val="2E6FB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69280" y="2743200"/>
            <a:ext cx="1234440" cy="0"/>
          </a:xfrm>
          <a:prstGeom prst="line">
            <a:avLst/>
          </a:prstGeom>
          <a:noFill/>
          <a:ln w="12700">
            <a:solidFill>
              <a:srgbClr val="1BA7A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869680" y="2743200"/>
            <a:ext cx="1371600" cy="0"/>
          </a:xfrm>
          <a:prstGeom prst="line">
            <a:avLst/>
          </a:prstGeom>
          <a:noFill/>
          <a:ln w="12700">
            <a:solidFill>
              <a:srgbClr val="F39C4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123B5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7830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</a:rPr>
              <a:t>PCAP window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84832"/>
            <a:ext cx="136245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Packets from a fixed time window, labeled by Suricata pseudo-labels for weak supervision.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468880" y="16459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7830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Stage 1: Flow encoder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33472" y="2084832"/>
            <a:ext cx="259689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Group packets by 5-tuple; sort packets by time; project structured packet records to token vectors; encode each flow with a time-aware Transformer.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623560" y="16459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88152" y="178308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Stage 2: Flow graph encoder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88152" y="2084832"/>
            <a:ext cx="259689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Treat each flow embedding as a node; connect nodes by source-IP, subnet, and shared destination rules; aggregate with BS-GAT.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796528" y="164592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7830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Prediction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0" y="2084832"/>
            <a:ext cx="241401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Node-level binary or multi-class intrusion detection, plus optional graph/window-level alarms.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77240" y="416052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525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5D"/>
                </a:solidFill>
              </a:rPr>
              <a:t>Design principle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14600" y="43891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Use the right inductive bias at the right level: order matters inside one flow, while relations matter across flows. The framework avoids flattening the whole time window into an artificial sentence.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From raw traffic to packet tokens, flow embeddings, and graph edges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63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08760" y="1307592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408176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9222D"/>
                </a:solidFill>
              </a:rPr>
              <a:t>1. Capture / parse PCAP  </a:t>
            </a:r>
            <a:pPr indent="0" marL="0">
              <a:buNone/>
            </a:pPr>
            <a:r>
              <a:rPr lang="en-US" sz="1410" dirty="0">
                <a:solidFill>
                  <a:srgbClr val="5B6675"/>
                </a:solidFill>
              </a:rPr>
              <a:t>Packet header fields, timestamps, direction, and Suricata pseudo-labels.</a:t>
            </a:r>
            <a:endParaRPr lang="en-US" sz="1410" dirty="0"/>
          </a:p>
        </p:txBody>
      </p:sp>
      <p:sp>
        <p:nvSpPr>
          <p:cNvPr id="8" name="Shape 6"/>
          <p:cNvSpPr/>
          <p:nvPr/>
        </p:nvSpPr>
        <p:spPr>
          <a:xfrm>
            <a:off x="777240" y="216712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BA7A1"/>
          </a:solidFill>
          <a:ln w="12700">
            <a:solidFill>
              <a:srgbClr val="1BA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3042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08760" y="2148840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249424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9222D"/>
                </a:solidFill>
              </a:rPr>
              <a:t>2. Flow assembly  </a:t>
            </a:r>
            <a:pPr indent="0" marL="0">
              <a:buNone/>
            </a:pPr>
            <a:r>
              <a:rPr lang="en-US" sz="1410" dirty="0">
                <a:solidFill>
                  <a:srgbClr val="5B6675"/>
                </a:solidFill>
              </a:rPr>
              <a:t>Group packets by 5-tuple; maintain strict time order within each flow.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777240" y="300837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39C4A"/>
          </a:solidFill>
          <a:ln w="12700">
            <a:solidFill>
              <a:srgbClr val="F39C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1455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08760" y="2990088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3090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9222D"/>
                </a:solidFill>
              </a:rPr>
              <a:t>3. Feature schema  </a:t>
            </a:r>
            <a:pPr indent="0" marL="0">
              <a:buNone/>
            </a:pPr>
            <a:r>
              <a:rPr lang="en-US" sz="1410" dirty="0">
                <a:solidFill>
                  <a:srgbClr val="5B6675"/>
                </a:solidFill>
              </a:rPr>
              <a:t>Packet fields + metadata: protocol, ports, flags, packet length, TTL, direction, inter-arrival time, flow duration, bytes/packets per flow.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9867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08760" y="3831336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931920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9222D"/>
                </a:solidFill>
              </a:rPr>
              <a:t>4. Sequence handling  </a:t>
            </a:r>
            <a:pPr indent="0" marL="0">
              <a:buNone/>
            </a:pPr>
            <a:r>
              <a:rPr lang="en-US" sz="1410" dirty="0">
                <a:solidFill>
                  <a:srgbClr val="5B6675"/>
                </a:solidFill>
              </a:rPr>
              <a:t>Variable-length packet sequence per flow; define max length and compare truncation strategies.</a:t>
            </a:r>
            <a:endParaRPr lang="en-US" sz="1410" dirty="0"/>
          </a:p>
        </p:txBody>
      </p:sp>
      <p:sp>
        <p:nvSpPr>
          <p:cNvPr id="20" name="Shape 18"/>
          <p:cNvSpPr/>
          <p:nvPr/>
        </p:nvSpPr>
        <p:spPr>
          <a:xfrm>
            <a:off x="777240" y="469087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48280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508760" y="4672584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773168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19222D"/>
                </a:solidFill>
              </a:rPr>
              <a:t>5. Graph construction  </a:t>
            </a:r>
            <a:pPr indent="0" marL="0">
              <a:buNone/>
            </a:pPr>
            <a:r>
              <a:rPr lang="en-US" sz="1410" dirty="0">
                <a:solidFill>
                  <a:srgbClr val="5B6675"/>
                </a:solidFill>
              </a:rPr>
              <a:t>For each time window, create flow nodes and weighted edges by source-IP, subnet, and shared destination rules.</a:t>
            </a:r>
            <a:endParaRPr lang="en-US" sz="1410" dirty="0"/>
          </a:p>
        </p:txBody>
      </p:sp>
      <p:sp>
        <p:nvSpPr>
          <p:cNvPr id="24" name="Shape 22"/>
          <p:cNvSpPr/>
          <p:nvPr/>
        </p:nvSpPr>
        <p:spPr>
          <a:xfrm>
            <a:off x="1051560" y="5715000"/>
            <a:ext cx="1005840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7881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Important modeling choice: packet tokens come from structured records, not payload bytes. This makes the pipeline realistic for encrypted traffic.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Time-Aware Flow Encoder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Encode packets within one flow as a structured sequence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630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Packet token 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764792"/>
            <a:ext cx="3328416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Each packet is represented as a structured record rather than raw bytes.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Core fields: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protocol, ports, TCP flags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packet length, TTL, window size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direction (inbound/outbound)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delta time and relative time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coarse/fine flow statistics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498848" y="132588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AF2FB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4630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Time-aware Transformer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1764792"/>
            <a:ext cx="2871216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Replace or augment positional encoding with time encoding so attention can use actual packet timing.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Candidate signals: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Δt to previous packet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relative time from first packet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log-scaled time gaps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optional relative time bias in attention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909560" y="13258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74152" y="146304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Output and open design choices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74152" y="1764792"/>
            <a:ext cx="3282696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Output: one flow embedding per flow.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Choices to test: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pooling: CLS vs mean vs attention pooling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max sequence length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truncation vs head-tail vs uniform sampling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where to inject flow-level statistics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Behavior-Semantic Flow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Reason across flows with explicit network semantics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0240" y="2286000"/>
            <a:ext cx="1737360" cy="-457200"/>
          </a:xfrm>
          <a:prstGeom prst="line">
            <a:avLst/>
          </a:prstGeom>
          <a:noFill/>
          <a:ln w="12700">
            <a:solidFill>
              <a:srgbClr val="2E6FB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920240" y="2651760"/>
            <a:ext cx="1737360" cy="91440"/>
          </a:xfrm>
          <a:prstGeom prst="line">
            <a:avLst/>
          </a:prstGeom>
          <a:noFill/>
          <a:ln w="12700">
            <a:solidFill>
              <a:srgbClr val="1BA7A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920240" y="3017520"/>
            <a:ext cx="1737360" cy="685800"/>
          </a:xfrm>
          <a:prstGeom prst="line">
            <a:avLst/>
          </a:prstGeom>
          <a:noFill/>
          <a:ln w="12700">
            <a:solidFill>
              <a:srgbClr val="F39C4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743200"/>
            <a:ext cx="1828800" cy="0"/>
          </a:xfrm>
          <a:prstGeom prst="line">
            <a:avLst/>
          </a:prstGeom>
          <a:noFill/>
          <a:ln w="12700">
            <a:solidFill>
              <a:srgbClr val="123B5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55280" y="2743200"/>
            <a:ext cx="1600200" cy="0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7280" y="2331720"/>
            <a:ext cx="777240" cy="77724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62432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Flow 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2344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13632" y="137160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Es: same source 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632" y="1673352"/>
            <a:ext cx="20939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1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Repeated behavior from the same host/device.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749040" y="2487168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13632" y="262432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Em: same subnet region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13632" y="2926080"/>
            <a:ext cx="20939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λ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Same group + same destination IP/port.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749040" y="3739896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13632" y="3877056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Eo: cross-region relation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13632" y="4178808"/>
            <a:ext cx="20939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μ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Other region with same destination IP/port and longest-prefix match.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812280" y="182880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23B5D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76872" y="19659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D"/>
                </a:solidFill>
              </a:rPr>
              <a:t>BS-GAT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76872" y="2267712"/>
            <a:ext cx="140817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Behavior weights enter both attention and aggregation, combining learned neighbor importance with network priors.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38360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DEEEE"/>
          </a:solidFill>
          <a:ln w="12700">
            <a:solidFill>
              <a:srgbClr val="D9534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02952" y="19659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</a:rPr>
              <a:t>Why this graph?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02952" y="2267712"/>
            <a:ext cx="14538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It encodes source consistency, group-level coordination, and weaker cross-group target-sharing relations.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1828800" y="516636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52395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a generic similarity graph: edges are built from network behavior semantics.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Weak supervision, ablations, and practical choices for 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904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Supervision setting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792224"/>
            <a:ext cx="305409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Use Suricata-generated pseudo-labels as weak labels at packet/flow level.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Immediate implication: optimize for usefulness under label noise, not for a perfect oracle setting.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224528" y="1353312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490472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Training recipe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1792224"/>
            <a:ext cx="328269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1. Train end-to-end or stage-wise.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2. Node-level classification loss on graph output.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3. Handle class imbalance with weighted loss / focal loss.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4. Compare frozen vs jointly fine-tuned flow encoder.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065008" y="1353312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49047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Ablations to prioritize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1792224"/>
            <a:ext cx="314553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positional vs time encoding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packet features with/without flow statistics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graph with/without edge weights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different sequence truncation rules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Transformer only vs GNN only vs hybrid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143000" y="5166360"/>
            <a:ext cx="9966960" cy="347472"/>
          </a:xfrm>
          <a:prstGeom prst="roundRect">
            <a:avLst>
              <a:gd name="adj" fmla="val 15789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52395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to monitor: the model may overfit Suricata bias rather than learning attack semantics.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Measure both in-domain performance and generalization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50876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Core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" y="1810512"/>
            <a:ext cx="319125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Binary / multi-class: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Precision, Recall, F1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ROC-AUC / PR-AUC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Confusion matrix by attack type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False positive rate, especially on benign traffic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EAF2FB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5087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Generalization tests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07992" y="1810512"/>
            <a:ext cx="323697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Must include at least one of: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train on one dataset / test on another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train on one time period / test on a later period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leave-one-attack-family-out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cross-network or cross-subnet split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Operational checks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11312" y="1810512"/>
            <a:ext cx="314553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latency / throughput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graph size sensitivity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robustness to long flows and sparse attacks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performance degradation under label noise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• calibration for threshold setting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960120" y="5230368"/>
            <a:ext cx="1024128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30352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Generalization is critical: success is not just fitting one labeled window, but transferring across time, topology, and attack mix.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The comparison set should test each design choice directly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Classical flow-feature baselines: XGBoost / Random Forest / MLP on aggregated flow statistics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Packet-sequence baseline: Transformer with standard positional encoding only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Flow-only baseline: classify each flow embedding without a graph head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Graph-only baseline: graph over handcrafted flow features without packet Transformer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Flat temporal baseline: LSTM / Transformer over flows in arrival order within a window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9222D"/>
                </a:solidFill>
              </a:rPr>
              <a:t>Alternative graph baseline: vanilla GAT or GraphSAGE on the same graph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10469880" cy="822960"/>
          </a:xfrm>
          <a:prstGeom prst="roundRect">
            <a:avLst>
              <a:gd name="adj" fmla="val 5556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28523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Best-case narrative to test: each added component has a clear job. Time encoding should beat plain positional encoding inside flows; BS-GAT should beat flow-only classifiers on attacks whose evidence is distributed across multiple flows.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and Open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What needs supervisor feedback before implementation goes too far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BE"/>
                </a:solidFill>
              </a:rPr>
              <a:t>Data / labels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41401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How reliable are the Suricata pseudo-labels for each attack family?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Should I treat this as weak supervision only, or add a small manually checked subset for validation?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3584448" y="1389888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BA7A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5270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7A1"/>
                </a:solidFill>
              </a:rPr>
              <a:t>Model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241401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Should the first version stay payload-free, or reserve a later optional branch for encrypted-payload side information?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Should flow be the only node type?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510528" y="1389888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2704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4A"/>
                </a:solidFill>
              </a:rPr>
              <a:t>Graph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23225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How large can the graph become per time window?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Do we need edge sparsification, neighbor sampling, or dynamic/sliding graphs?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9345168" y="1389888"/>
            <a:ext cx="219456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534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0" y="152704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</a:rPr>
              <a:t>Evaluation focus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09760" y="1828800"/>
            <a:ext cx="18653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9222D"/>
                </a:solidFill>
              </a:rPr>
              <a:t>Which generalization setting matters most for the thesis: unseen attacks, unseen topology, or temporal drift?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Near-Term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Concrete next steps for the next few weeks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78992" cy="512064"/>
          </a:xfrm>
          <a:prstGeom prst="roundRect">
            <a:avLst>
              <a:gd name="adj" fmla="val 1428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72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905256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536192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Finalize packet feature schema and flow definition; decide time features and max sequence length.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167128"/>
            <a:ext cx="1078992" cy="512064"/>
          </a:xfrm>
          <a:prstGeom prst="roundRect">
            <a:avLst>
              <a:gd name="adj" fmla="val 1428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225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48840" y="2167128"/>
            <a:ext cx="905256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286000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Implement PCAP-to-flow pipeline, packet record projection, and baseline Transformer encoder.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2916936"/>
            <a:ext cx="1078992" cy="512064"/>
          </a:xfrm>
          <a:prstGeom prst="roundRect">
            <a:avLst>
              <a:gd name="adj" fmla="val 1428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148840" y="2916936"/>
            <a:ext cx="905256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035808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Add time encoding variants and compare truncation strategies.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8680" y="3666744"/>
            <a:ext cx="1078992" cy="512064"/>
          </a:xfrm>
          <a:prstGeom prst="roundRect">
            <a:avLst>
              <a:gd name="adj" fmla="val 1428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221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666744"/>
            <a:ext cx="905256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785616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Implement graph construction and BS-GAT; run first end-to-end experiments.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68680" y="4416552"/>
            <a:ext cx="1078992" cy="512064"/>
          </a:xfrm>
          <a:prstGeom prst="roundRect">
            <a:avLst>
              <a:gd name="adj" fmla="val 14286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720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5+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148840" y="4416552"/>
            <a:ext cx="905256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4535424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9222D"/>
                </a:solidFill>
              </a:rPr>
              <a:t>Run ablations, baseline comparisons, and at least one generalization experiment.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05840" y="5623560"/>
            <a:ext cx="10149840" cy="347472"/>
          </a:xfrm>
          <a:prstGeom prst="roundRect">
            <a:avLst>
              <a:gd name="adj" fmla="val 15789"/>
            </a:avLst>
          </a:prstGeom>
          <a:solidFill>
            <a:srgbClr val="1BA7A1"/>
          </a:solidFill>
          <a:ln w="12700">
            <a:solidFill>
              <a:srgbClr val="1BA7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69671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Meeting goal today: validate the framing, lock the first implementation scope, and agree on the most important evaluation setting.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0080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Time-Aware and Graph-Enhanced NIDS</dc:title>
  <dc:subject>NIDS research meeting</dc:subject>
  <dc:creator>OpenAI</dc:creator>
  <cp:lastModifiedBy>OpenAI</cp:lastModifiedBy>
  <cp:revision>1</cp:revision>
  <dcterms:created xsi:type="dcterms:W3CDTF">2026-04-16T07:40:26Z</dcterms:created>
  <dcterms:modified xsi:type="dcterms:W3CDTF">2026-04-16T07:40:26Z</dcterms:modified>
</cp:coreProperties>
</file>