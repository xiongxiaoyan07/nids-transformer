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9" r:id="rId2"/>
    <p:sldId id="260" r:id="rId3"/>
    <p:sldId id="261" r:id="rId4"/>
    <p:sldId id="256" r:id="rId5"/>
    <p:sldId id="262" r:id="rId6"/>
    <p:sldId id="263" r:id="rId7"/>
    <p:sldId id="257" r:id="rId8"/>
    <p:sldId id="258" r:id="rId9"/>
    <p:sldId id="264" r:id="rId10"/>
    <p:sldId id="266" r:id="rId11"/>
    <p:sldId id="265" r:id="rId1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472" autoAdjust="0"/>
  </p:normalViewPr>
  <p:slideViewPr>
    <p:cSldViewPr snapToGrid="0">
      <p:cViewPr varScale="1">
        <p:scale>
          <a:sx n="94" d="100"/>
          <a:sy n="94" d="100"/>
        </p:scale>
        <p:origin x="11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2C8906-6FDA-411E-821C-16BC6707BB36}" type="datetimeFigureOut">
              <a:rPr lang="en-NL" smtClean="0"/>
              <a:t>16/04/2026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88B2E1-AEBD-40A9-ADCB-E4C52BCD64F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05919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first stage, we model each flow as a sequence of packets and use a time-aware Transformer to extract flow embeddings.</a:t>
            </a:r>
          </a:p>
          <a:p>
            <a:r>
              <a:rPr lang="en-US" dirty="0"/>
              <a:t>In the second stage, we construct a graph where each node is a flow, and use a graph neural network to model relationships between flows.</a:t>
            </a:r>
          </a:p>
          <a:p>
            <a:r>
              <a:rPr lang="en-US" dirty="0"/>
              <a:t>This allows us to jointly capture temporal and structural information.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88B2E1-AEBD-40A9-ADCB-E4C52BCD64FC}" type="slidenum">
              <a:rPr lang="en-NL" smtClean="0"/>
              <a:t>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780891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first stage, we model each flow as a sequence of packets and use a time-aware Transformer to extract flow embeddings.</a:t>
            </a:r>
          </a:p>
          <a:p>
            <a:r>
              <a:rPr lang="en-US" dirty="0"/>
              <a:t>In the second stage, we construct a graph where each node is a flow, and use a graph neural network to model relationships between flows.</a:t>
            </a:r>
          </a:p>
          <a:p>
            <a:r>
              <a:rPr lang="en-US" dirty="0"/>
              <a:t>This allows us to jointly capture temporal and structural information.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88B2E1-AEBD-40A9-ADCB-E4C52BCD64FC}" type="slidenum">
              <a:rPr lang="en-NL" smtClean="0"/>
              <a:t>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29275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F7CAD-EC8E-9969-2F9C-9A56ACD79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BE914B-B882-674D-F61A-5B0189068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80D1F-B595-EDBB-02FA-FFAACAA29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C901E-0446-4048-873C-3A77C8B1AE4E}" type="datetimeFigureOut">
              <a:rPr lang="en-NL" smtClean="0"/>
              <a:t>16/04/2026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85E96-6CC4-645D-C1BE-93C6C2245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69FA5-6E29-3BBF-0215-D3F813231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3356-F1B5-4296-A6DE-0C775067223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42249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D3B4D-CBA0-CCD5-574B-6A37918DA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46BDA-3442-524D-726C-3E9E7C6D4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65CEF-F4CB-FC29-C0F9-DE69DB701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C901E-0446-4048-873C-3A77C8B1AE4E}" type="datetimeFigureOut">
              <a:rPr lang="en-NL" smtClean="0"/>
              <a:t>16/04/2026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9BC52-BDA0-8AED-EE4A-3E1087B79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CE2DE-B509-33EC-4FA0-CCA49F183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3356-F1B5-4296-A6DE-0C775067223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0065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EDEF1-A67E-D652-D2E8-C9623D8C1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A0C63F-610C-AB92-FACB-217A59FA34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85377-D9C8-2788-7A59-09C4D8E9B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C901E-0446-4048-873C-3A77C8B1AE4E}" type="datetimeFigureOut">
              <a:rPr lang="en-NL" smtClean="0"/>
              <a:t>16/04/2026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23C82-722C-7571-87DB-4D3A506C0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D665E-1078-CE3E-B271-4AE307CF6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3356-F1B5-4296-A6DE-0C775067223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58905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8B94A-6365-C812-241B-894A434A1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56381-C631-730A-229D-CA75B8EB3B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F25EC2-2B22-6678-CBCE-C5A26E0F86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86E65-4DC8-F97B-A215-BAE8691AD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C901E-0446-4048-873C-3A77C8B1AE4E}" type="datetimeFigureOut">
              <a:rPr lang="en-NL" smtClean="0"/>
              <a:t>16/04/2026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3BB13C-612F-369A-B290-D8D516027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333238-F3A5-F18F-2FCE-9056BCDB6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3356-F1B5-4296-A6DE-0C775067223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85854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56D13-0FA5-3265-4A52-F6D4B137C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1287BE-5EE0-F6D5-3B85-A4EC1DBFA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D0F1A1-73AF-36FC-A776-F2FD52DB56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5D7309-0A76-1EB9-80A6-D0F72C1AFB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2316C8-994F-3795-A1AE-56096B96FB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2ECE86-3DD7-9CCC-40CB-615AB70E5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C901E-0446-4048-873C-3A77C8B1AE4E}" type="datetimeFigureOut">
              <a:rPr lang="en-NL" smtClean="0"/>
              <a:t>16/04/2026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B62549-99EF-B714-5D23-4D62AEAF4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1B0821-3E8D-EEEC-E81A-BD7F6C86B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3356-F1B5-4296-A6DE-0C775067223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32676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E5B51-52FF-BD3E-9961-8B707236A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F0D52-6D7C-1090-2A2C-2E12FE1B0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C901E-0446-4048-873C-3A77C8B1AE4E}" type="datetimeFigureOut">
              <a:rPr lang="en-NL" smtClean="0"/>
              <a:t>16/04/2026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1A5A03-84CE-FC71-2BC9-32084CDA0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66F29D-3B61-4A72-61EF-81A07C97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3356-F1B5-4296-A6DE-0C775067223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41772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A98E2A-48DF-E27D-B0F4-2C82985B3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C901E-0446-4048-873C-3A77C8B1AE4E}" type="datetimeFigureOut">
              <a:rPr lang="en-NL" smtClean="0"/>
              <a:t>16/04/2026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4800A7-8B83-E53D-1599-5C6B2FDF2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06B97-025B-5FE7-F8A1-2149B317A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3356-F1B5-4296-A6DE-0C775067223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37172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CD228-536F-7A6E-81DE-BB2F75394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DA62F-8FF5-39E3-82E3-606D81740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9AA5B6-4949-B182-B30A-28C7F39A18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084D0-5FC7-C4E4-3CFB-DE8D228FB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C901E-0446-4048-873C-3A77C8B1AE4E}" type="datetimeFigureOut">
              <a:rPr lang="en-NL" smtClean="0"/>
              <a:t>16/04/2026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46182D-752D-B0AA-BD3B-FC1DD7E07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C8EE1A-5827-D611-55AC-8BF65BD0B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3356-F1B5-4296-A6DE-0C775067223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95820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E06D2-2DF3-63B9-30FA-032F7CC1B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993CE0-7CD2-70BB-A9EB-5791DB163D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67BBAA-E5D0-BDC3-B147-119E9F9053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62AF46-5765-5A92-28D1-C5150F9CF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C901E-0446-4048-873C-3A77C8B1AE4E}" type="datetimeFigureOut">
              <a:rPr lang="en-NL" smtClean="0"/>
              <a:t>16/04/2026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15F051-C3A8-B85B-6A92-F9B9A9910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670BD7-3801-1728-3C62-C45F34B9A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3356-F1B5-4296-A6DE-0C775067223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60270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5B4C3-8787-EFF4-F018-8C85F3311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0BE573-F56B-5B29-B01C-075BCD6837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32E89-0C55-AE20-818D-BD38D7525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C901E-0446-4048-873C-3A77C8B1AE4E}" type="datetimeFigureOut">
              <a:rPr lang="en-NL" smtClean="0"/>
              <a:t>16/04/2026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87AD4-EBE8-FE24-AD6C-CFC0EB511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5AA757-9453-3CA6-E781-A0FBB9841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3356-F1B5-4296-A6DE-0C775067223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1262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DB4E95-5407-4822-6804-02051CA03A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8D23BC-83F9-9E45-F6E2-0404C6F5C2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56252-AE1F-22C8-7761-EFBF05446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C901E-0446-4048-873C-3A77C8B1AE4E}" type="datetimeFigureOut">
              <a:rPr lang="en-NL" smtClean="0"/>
              <a:t>16/04/2026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C3AD7-49C6-F747-B797-C9BC96F3D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6BE49-65E5-4628-583E-B309700C9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73356-F1B5-4296-A6DE-0C775067223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33474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18BDA7-5264-73BE-2A84-D3E9A120D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7C6B1-B384-F687-DA76-D702C20CE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45DBD-F619-2F83-122B-FA161487D0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2C901E-0446-4048-873C-3A77C8B1AE4E}" type="datetimeFigureOut">
              <a:rPr lang="en-NL" smtClean="0"/>
              <a:t>16/04/2026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109CA-4C88-EBE8-0EDC-ADE210DFE1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EBD6E-5B23-8A04-426F-7C0601A9C6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B73356-F1B5-4296-A6DE-0C7750672230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83835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>
            <a:extLst>
              <a:ext uri="{FF2B5EF4-FFF2-40B4-BE49-F238E27FC236}">
                <a16:creationId xmlns:a16="http://schemas.microsoft.com/office/drawing/2014/main" id="{0D2414DD-F435-D6CB-E018-383E39FF2A63}"/>
              </a:ext>
            </a:extLst>
          </p:cNvPr>
          <p:cNvSpPr/>
          <p:nvPr/>
        </p:nvSpPr>
        <p:spPr>
          <a:xfrm>
            <a:off x="685800" y="1051560"/>
            <a:ext cx="5852160" cy="4480560"/>
          </a:xfrm>
          <a:prstGeom prst="roundRect">
            <a:avLst>
              <a:gd name="adj" fmla="val 1633"/>
            </a:avLst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DE340BFE-E4A0-CA64-BD99-12710B4D1144}"/>
              </a:ext>
            </a:extLst>
          </p:cNvPr>
          <p:cNvSpPr/>
          <p:nvPr/>
        </p:nvSpPr>
        <p:spPr>
          <a:xfrm>
            <a:off x="960120" y="1417320"/>
            <a:ext cx="5303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Hierarchical Time-Aware and Graph-Enhanced NIDS</a:t>
            </a:r>
            <a:endParaRPr lang="en-US" sz="25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D86A9353-7329-1CC8-7F2B-58111955E774}"/>
              </a:ext>
            </a:extLst>
          </p:cNvPr>
          <p:cNvSpPr/>
          <p:nvPr/>
        </p:nvSpPr>
        <p:spPr>
          <a:xfrm>
            <a:off x="987552" y="276148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E8F3"/>
                </a:solidFill>
              </a:rPr>
              <a:t>From PCAP to packet sequences, flow embeddings, and behavior-semantic graphs</a:t>
            </a:r>
            <a:endParaRPr lang="en-US" sz="1600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E9696DBB-17D4-712E-39FA-DCE6E758DB4E}"/>
              </a:ext>
            </a:extLst>
          </p:cNvPr>
          <p:cNvSpPr/>
          <p:nvPr/>
        </p:nvSpPr>
        <p:spPr>
          <a:xfrm>
            <a:off x="987552" y="3675888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1BA7A1"/>
          </a:solidFill>
          <a:ln w="12700">
            <a:solidFill>
              <a:srgbClr val="1BA7A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7249AFBF-6785-5C95-C6CB-BCD07498F12A}"/>
              </a:ext>
            </a:extLst>
          </p:cNvPr>
          <p:cNvSpPr/>
          <p:nvPr/>
        </p:nvSpPr>
        <p:spPr>
          <a:xfrm>
            <a:off x="987552" y="37307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Encrypted traffic aware</a:t>
            </a:r>
            <a:endParaRPr lang="en-US" sz="110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D062C115-B8BE-D32E-FDE2-54C6DB376657}"/>
              </a:ext>
            </a:extLst>
          </p:cNvPr>
          <p:cNvSpPr/>
          <p:nvPr/>
        </p:nvSpPr>
        <p:spPr>
          <a:xfrm>
            <a:off x="2578608" y="3675888"/>
            <a:ext cx="1783080" cy="310896"/>
          </a:xfrm>
          <a:prstGeom prst="roundRect">
            <a:avLst>
              <a:gd name="adj" fmla="val 23529"/>
            </a:avLst>
          </a:prstGeom>
          <a:solidFill>
            <a:srgbClr val="2E6FBE"/>
          </a:solidFill>
          <a:ln w="12700">
            <a:solidFill>
              <a:srgbClr val="2E6FB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4FE747EA-1E2C-81EE-758A-C9809570ADB1}"/>
              </a:ext>
            </a:extLst>
          </p:cNvPr>
          <p:cNvSpPr/>
          <p:nvPr/>
        </p:nvSpPr>
        <p:spPr>
          <a:xfrm>
            <a:off x="2578608" y="37307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Time-aware Transformer</a:t>
            </a:r>
            <a:endParaRPr lang="en-US" sz="110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AD12099E-E2B5-532A-3B9F-1FF0558D6B40}"/>
              </a:ext>
            </a:extLst>
          </p:cNvPr>
          <p:cNvSpPr/>
          <p:nvPr/>
        </p:nvSpPr>
        <p:spPr>
          <a:xfrm>
            <a:off x="4526280" y="3675888"/>
            <a:ext cx="1600200" cy="310896"/>
          </a:xfrm>
          <a:prstGeom prst="roundRect">
            <a:avLst>
              <a:gd name="adj" fmla="val 23529"/>
            </a:avLst>
          </a:prstGeom>
          <a:solidFill>
            <a:srgbClr val="F39C4A"/>
          </a:solidFill>
          <a:ln w="12700">
            <a:solidFill>
              <a:srgbClr val="F39C4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42BE5A83-E11F-9EA1-952E-83E54746F540}"/>
              </a:ext>
            </a:extLst>
          </p:cNvPr>
          <p:cNvSpPr/>
          <p:nvPr/>
        </p:nvSpPr>
        <p:spPr>
          <a:xfrm>
            <a:off x="4526280" y="37307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BS-GAT graph reasoning</a:t>
            </a:r>
            <a:endParaRPr lang="en-US" sz="11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28F2C89A-A5C7-29D3-A167-7B3B595A2BA4}"/>
              </a:ext>
            </a:extLst>
          </p:cNvPr>
          <p:cNvSpPr/>
          <p:nvPr/>
        </p:nvSpPr>
        <p:spPr>
          <a:xfrm>
            <a:off x="987552" y="43434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Meeting objective: align on the problem framing, technical pipeline, and next-step experiments.</a:t>
            </a:r>
            <a:endParaRPr lang="en-US" sz="1500" dirty="0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58C7C0FD-B22E-13DD-CDA5-EAD1BE47F942}"/>
              </a:ext>
            </a:extLst>
          </p:cNvPr>
          <p:cNvSpPr/>
          <p:nvPr/>
        </p:nvSpPr>
        <p:spPr>
          <a:xfrm>
            <a:off x="7726680" y="1234440"/>
            <a:ext cx="2240280" cy="2240280"/>
          </a:xfrm>
          <a:prstGeom prst="ellipse">
            <a:avLst/>
          </a:prstGeom>
          <a:solidFill>
            <a:srgbClr val="EAF2FB"/>
          </a:solidFill>
          <a:ln w="12700">
            <a:solidFill>
              <a:srgbClr val="2E6FB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258AF299-2E02-9E15-A441-C5FF2E9609A6}"/>
              </a:ext>
            </a:extLst>
          </p:cNvPr>
          <p:cNvSpPr/>
          <p:nvPr/>
        </p:nvSpPr>
        <p:spPr>
          <a:xfrm>
            <a:off x="8183880" y="1810512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E6FBE"/>
                </a:solidFill>
              </a:rPr>
              <a:t>Packet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2E6FBE"/>
                </a:solidFill>
              </a:rPr>
              <a:t>Sequence</a:t>
            </a:r>
            <a:endParaRPr lang="en-US" sz="210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EB9C6916-F138-894A-6F26-4395B8E7DDEA}"/>
              </a:ext>
            </a:extLst>
          </p:cNvPr>
          <p:cNvSpPr/>
          <p:nvPr/>
        </p:nvSpPr>
        <p:spPr>
          <a:xfrm>
            <a:off x="9829800" y="3794760"/>
            <a:ext cx="1417320" cy="1417320"/>
          </a:xfrm>
          <a:prstGeom prst="ellipse">
            <a:avLst/>
          </a:prstGeom>
          <a:solidFill>
            <a:srgbClr val="EAF8F7"/>
          </a:solidFill>
          <a:ln w="12700">
            <a:solidFill>
              <a:srgbClr val="1BA7A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9C289469-FB30-6F72-6459-801ACBABD36E}"/>
              </a:ext>
            </a:extLst>
          </p:cNvPr>
          <p:cNvSpPr/>
          <p:nvPr/>
        </p:nvSpPr>
        <p:spPr>
          <a:xfrm>
            <a:off x="10040112" y="414223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A7A1"/>
                </a:solidFill>
              </a:rPr>
              <a:t>Flow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1BA7A1"/>
                </a:solidFill>
              </a:rPr>
              <a:t>Embedding</a:t>
            </a:r>
            <a:endParaRPr lang="en-US" sz="1450" dirty="0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920583BD-A044-BB31-7448-0C2DB11DFD44}"/>
              </a:ext>
            </a:extLst>
          </p:cNvPr>
          <p:cNvSpPr/>
          <p:nvPr/>
        </p:nvSpPr>
        <p:spPr>
          <a:xfrm>
            <a:off x="6629400" y="4114800"/>
            <a:ext cx="1508760" cy="1508760"/>
          </a:xfrm>
          <a:prstGeom prst="ellipse">
            <a:avLst/>
          </a:prstGeom>
          <a:solidFill>
            <a:srgbClr val="FFF2E8"/>
          </a:solidFill>
          <a:ln w="12700">
            <a:solidFill>
              <a:srgbClr val="F39C4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B1DA9A53-AA3D-6A2C-69E8-C195527FD079}"/>
              </a:ext>
            </a:extLst>
          </p:cNvPr>
          <p:cNvSpPr/>
          <p:nvPr/>
        </p:nvSpPr>
        <p:spPr>
          <a:xfrm>
            <a:off x="6784848" y="448056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39C4A"/>
                </a:solidFill>
              </a:rPr>
              <a:t>Flow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F39C4A"/>
                </a:solidFill>
              </a:rPr>
              <a:t>Graph</a:t>
            </a:r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628777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D5B2F-D62E-64F7-2675-161CAA7E5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</a:t>
            </a:r>
            <a:r>
              <a:rPr lang="en-US" dirty="0" err="1"/>
              <a:t>quesitons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45D9E-7775-7237-FA40-D722CEC75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time-aware intra-flow Transformer will learn more discriminative flow representations than models based only on aggregated flow statistics or standard positional sequence encoding</a:t>
            </a:r>
          </a:p>
          <a:p>
            <a:r>
              <a:rPr lang="en-US" dirty="0"/>
              <a:t>A hierarchical model that combines intra-flow time-aware sequence encoding with inter-flow graph reasoning will outperform models that rely on only one level of modelling.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394706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C41CA4F8-30A9-7422-4D29-5B30B7A08ED6}"/>
              </a:ext>
            </a:extLst>
          </p:cNvPr>
          <p:cNvSpPr/>
          <p:nvPr/>
        </p:nvSpPr>
        <p:spPr>
          <a:xfrm>
            <a:off x="548640" y="52324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922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Motivation</a:t>
            </a:r>
            <a:endParaRPr lang="en-US" sz="28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075ECA6-459B-45B3-4A18-EEBECAC14C9C}"/>
              </a:ext>
            </a:extLst>
          </p:cNvPr>
          <p:cNvSpPr/>
          <p:nvPr/>
        </p:nvSpPr>
        <p:spPr>
          <a:xfrm>
            <a:off x="566928" y="98044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5"/>
                </a:solidFill>
              </a:rPr>
              <a:t>Why a single flat model is not enough for realistic network intrusion detection</a:t>
            </a:r>
            <a:endParaRPr lang="en-US" sz="13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20347A7B-C3ED-9FE5-3A68-27B8560A47F3}"/>
              </a:ext>
            </a:extLst>
          </p:cNvPr>
          <p:cNvSpPr/>
          <p:nvPr/>
        </p:nvSpPr>
        <p:spPr>
          <a:xfrm>
            <a:off x="640080" y="1437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EAF2FB"/>
          </a:solidFill>
          <a:ln w="12700">
            <a:solidFill>
              <a:srgbClr val="2E6FBE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EE396996-7D20-441A-2521-9CF171644AAF}"/>
              </a:ext>
            </a:extLst>
          </p:cNvPr>
          <p:cNvSpPr/>
          <p:nvPr/>
        </p:nvSpPr>
        <p:spPr>
          <a:xfrm>
            <a:off x="804672" y="1574800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6FBE"/>
                </a:solidFill>
              </a:rPr>
              <a:t>Flow-internal evidence</a:t>
            </a:r>
            <a:endParaRPr lang="en-US" sz="18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6FC849B-20AE-BED4-BC83-43FA5A69BFAB}"/>
              </a:ext>
            </a:extLst>
          </p:cNvPr>
          <p:cNvSpPr/>
          <p:nvPr/>
        </p:nvSpPr>
        <p:spPr>
          <a:xfrm>
            <a:off x="804672" y="1876552"/>
            <a:ext cx="3236976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9222D"/>
                </a:solidFill>
              </a:rPr>
              <a:t>Within one flow, packets carry strong local context: direction changes, TCP flag transitions, burst patterns, inter-arrival times, and request-response structure.</a:t>
            </a:r>
            <a:endParaRPr lang="en-US" sz="132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E9026089-66A2-FF3D-C093-3B9C643FB3DF}"/>
              </a:ext>
            </a:extLst>
          </p:cNvPr>
          <p:cNvSpPr/>
          <p:nvPr/>
        </p:nvSpPr>
        <p:spPr>
          <a:xfrm>
            <a:off x="4315968" y="1437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EAF8F7"/>
          </a:solidFill>
          <a:ln w="12700">
            <a:solidFill>
              <a:srgbClr val="1BA7A1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00D61BA1-5737-8914-36CC-2791B11E35E3}"/>
              </a:ext>
            </a:extLst>
          </p:cNvPr>
          <p:cNvSpPr/>
          <p:nvPr/>
        </p:nvSpPr>
        <p:spPr>
          <a:xfrm>
            <a:off x="4480560" y="1574800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A7A1"/>
                </a:solidFill>
              </a:rPr>
              <a:t>Cross-flow evidence</a:t>
            </a:r>
            <a:endParaRPr lang="en-US" sz="18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3703CAFF-373A-44F0-9810-B5A261665757}"/>
              </a:ext>
            </a:extLst>
          </p:cNvPr>
          <p:cNvSpPr/>
          <p:nvPr/>
        </p:nvSpPr>
        <p:spPr>
          <a:xfrm>
            <a:off x="4480560" y="1876552"/>
            <a:ext cx="3236976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9222D"/>
                </a:solidFill>
              </a:rPr>
              <a:t>Many attacks leave weak signals in any single flow, but strong evidence across multiple flows, hosts, ports, or subnet regions.</a:t>
            </a:r>
            <a:endParaRPr lang="en-US" sz="132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6C058971-3D01-A52B-559F-2BF6CBB7B5FA}"/>
              </a:ext>
            </a:extLst>
          </p:cNvPr>
          <p:cNvSpPr/>
          <p:nvPr/>
        </p:nvSpPr>
        <p:spPr>
          <a:xfrm>
            <a:off x="7991856" y="143764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2E8"/>
          </a:solidFill>
          <a:ln w="12700">
            <a:solidFill>
              <a:srgbClr val="F39C4A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E4060D88-EF3F-30A7-F31D-212790442697}"/>
              </a:ext>
            </a:extLst>
          </p:cNvPr>
          <p:cNvSpPr/>
          <p:nvPr/>
        </p:nvSpPr>
        <p:spPr>
          <a:xfrm>
            <a:off x="8156448" y="1574800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9C4A"/>
                </a:solidFill>
              </a:rPr>
              <a:t>Practical constraint</a:t>
            </a:r>
            <a:endParaRPr lang="en-US" sz="18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3D7F4FE6-B4CE-CE70-0707-2192D4A66386}"/>
              </a:ext>
            </a:extLst>
          </p:cNvPr>
          <p:cNvSpPr/>
          <p:nvPr/>
        </p:nvSpPr>
        <p:spPr>
          <a:xfrm>
            <a:off x="8156448" y="1876552"/>
            <a:ext cx="3236976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9222D"/>
                </a:solidFill>
              </a:rPr>
              <a:t>Payload is often encrypted and expensive to process. A deployable NIDS should work well from headers, timing, direction, and statistics.</a:t>
            </a:r>
            <a:endParaRPr lang="en-US" sz="132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7B4590BA-892C-D484-E974-A66624B2F880}"/>
              </a:ext>
            </a:extLst>
          </p:cNvPr>
          <p:cNvSpPr/>
          <p:nvPr/>
        </p:nvSpPr>
        <p:spPr>
          <a:xfrm>
            <a:off x="713232" y="3815080"/>
            <a:ext cx="109728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5294BD36-5574-2DC0-D1D9-6C81C2981EFE}"/>
              </a:ext>
            </a:extLst>
          </p:cNvPr>
          <p:cNvSpPr/>
          <p:nvPr/>
        </p:nvSpPr>
        <p:spPr>
          <a:xfrm>
            <a:off x="932688" y="39705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B5D"/>
                </a:solidFill>
              </a:rPr>
              <a:t>Key insight</a:t>
            </a:r>
            <a:endParaRPr lang="en-US" sz="17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BAEBAD52-3074-E5E7-A46E-CCFFF4B92F7F}"/>
              </a:ext>
            </a:extLst>
          </p:cNvPr>
          <p:cNvSpPr/>
          <p:nvPr/>
        </p:nvSpPr>
        <p:spPr>
          <a:xfrm>
            <a:off x="2423160" y="4016248"/>
            <a:ext cx="8823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9222D"/>
                </a:solidFill>
              </a:rPr>
              <a:t>Time adjacency is not the same as semantic relevance. If all flows in a window are fed to a Transformer as a flat sequence, the model may learn pseudo-order rather than true attack structure. This motivates a hierarchical design: model packet order inside a flow, and model relations between flows with a graph.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019671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819AFA7-A9A4-427C-C264-AAB87BE4C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92866"/>
            <a:ext cx="9144000" cy="96493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Graph-based representation of well-known attacks. </a:t>
            </a:r>
            <a:r>
              <a:rPr lang="en-US" i="1" dirty="0"/>
              <a:t>a</a:t>
            </a:r>
            <a:r>
              <a:rPr lang="en-US" i="1" baseline="-25000" dirty="0"/>
              <a:t>x</a:t>
            </a:r>
            <a:r>
              <a:rPr lang="en-US" dirty="0"/>
              <a:t> nodes refer to the attackers, </a:t>
            </a:r>
            <a:r>
              <a:rPr lang="en-US" i="1" dirty="0" err="1"/>
              <a:t>v</a:t>
            </a:r>
            <a:r>
              <a:rPr lang="en-US" i="1" baseline="-25000" dirty="0" err="1"/>
              <a:t>x</a:t>
            </a:r>
            <a:r>
              <a:rPr lang="en-US" dirty="0"/>
              <a:t> nodes represent the victims, and </a:t>
            </a:r>
            <a:r>
              <a:rPr lang="en-US" i="1" dirty="0" err="1"/>
              <a:t>f</a:t>
            </a:r>
            <a:r>
              <a:rPr lang="en-US" i="1" baseline="-25000" dirty="0" err="1"/>
              <a:t>x</a:t>
            </a:r>
            <a:r>
              <a:rPr lang="en-US" dirty="0"/>
              <a:t> nodes represent different flows.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C8EC2A-D56E-8E97-55C7-FB2A4A0C0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263" y="1148462"/>
            <a:ext cx="8068801" cy="28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9229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49B29E1B-6F99-9ECD-A46E-97ACDF02B578}"/>
              </a:ext>
            </a:extLst>
          </p:cNvPr>
          <p:cNvSpPr/>
          <p:nvPr/>
        </p:nvSpPr>
        <p:spPr>
          <a:xfrm>
            <a:off x="701040" y="76708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922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Questions</a:t>
            </a:r>
            <a:endParaRPr lang="en-US" sz="28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812DED4-93BC-4677-3559-8D0A9297A748}"/>
              </a:ext>
            </a:extLst>
          </p:cNvPr>
          <p:cNvSpPr/>
          <p:nvPr/>
        </p:nvSpPr>
        <p:spPr>
          <a:xfrm>
            <a:off x="719328" y="12242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5"/>
                </a:solidFill>
              </a:rPr>
              <a:t>The project is centered on three linked questions</a:t>
            </a:r>
            <a:endParaRPr lang="en-US" sz="1300" dirty="0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A5B8481C-DF1E-A3AF-1FDB-9FDC7EB22D78}"/>
              </a:ext>
            </a:extLst>
          </p:cNvPr>
          <p:cNvSpPr/>
          <p:nvPr/>
        </p:nvSpPr>
        <p:spPr>
          <a:xfrm>
            <a:off x="2366110" y="1818640"/>
            <a:ext cx="34747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1BA7A1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1F4FDA51-00BC-869E-AFD7-9D0DA615DE87}"/>
              </a:ext>
            </a:extLst>
          </p:cNvPr>
          <p:cNvSpPr/>
          <p:nvPr/>
        </p:nvSpPr>
        <p:spPr>
          <a:xfrm>
            <a:off x="2530702" y="195580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A7A1"/>
                </a:solidFill>
              </a:rPr>
              <a:t>RQ1. Time awareness</a:t>
            </a:r>
            <a:endParaRPr lang="en-US" sz="18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056F59B7-C3C5-4CEA-C2D0-D1181197D6F3}"/>
              </a:ext>
            </a:extLst>
          </p:cNvPr>
          <p:cNvSpPr/>
          <p:nvPr/>
        </p:nvSpPr>
        <p:spPr>
          <a:xfrm>
            <a:off x="2530702" y="2257552"/>
            <a:ext cx="3145536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400" dirty="0"/>
              <a:t>A time-aware intra-flow Transformer will learn more discriminative flow representations than models based only on aggregated flow statistics or standard positional sequence encoding</a:t>
            </a:r>
            <a:r>
              <a:rPr lang="en-US" sz="1320" dirty="0">
                <a:solidFill>
                  <a:srgbClr val="19222D"/>
                </a:solidFill>
              </a:rPr>
              <a:t>?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9222D"/>
                </a:solidFill>
              </a:rPr>
              <a:t>Target output: a time-aware Transformer for packet sequences.</a:t>
            </a:r>
            <a:endParaRPr lang="en-US" sz="1320" dirty="0"/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EE00CEA0-CC8A-ECFC-9373-B81CA7BFD8FA}"/>
              </a:ext>
            </a:extLst>
          </p:cNvPr>
          <p:cNvSpPr/>
          <p:nvPr/>
        </p:nvSpPr>
        <p:spPr>
          <a:xfrm>
            <a:off x="5996278" y="1818640"/>
            <a:ext cx="347472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F39C4A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9B450E58-4671-D2C3-94AD-17B83200F2F3}"/>
              </a:ext>
            </a:extLst>
          </p:cNvPr>
          <p:cNvSpPr/>
          <p:nvPr/>
        </p:nvSpPr>
        <p:spPr>
          <a:xfrm>
            <a:off x="6160870" y="195580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9C4A"/>
                </a:solidFill>
              </a:rPr>
              <a:t>RQ2. Cross-flow reasoning</a:t>
            </a:r>
            <a:endParaRPr lang="en-US" sz="18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E2AA3072-80BA-1061-7246-B616072AA75E}"/>
              </a:ext>
            </a:extLst>
          </p:cNvPr>
          <p:cNvSpPr/>
          <p:nvPr/>
        </p:nvSpPr>
        <p:spPr>
          <a:xfrm>
            <a:off x="6160870" y="2257552"/>
            <a:ext cx="3145536" cy="2487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r>
              <a:rPr lang="en-US" sz="1400" dirty="0"/>
              <a:t>A hierarchical model that combines intra-flow time-aware sequence encoding with inter-flow graph reasoning will outperform models that rely on only one level of modelling</a:t>
            </a:r>
            <a:r>
              <a:rPr lang="en-US" sz="1320" dirty="0">
                <a:solidFill>
                  <a:srgbClr val="19222D"/>
                </a:solidFill>
              </a:rPr>
              <a:t>?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9222D"/>
                </a:solidFill>
              </a:rPr>
              <a:t>Target output: a behavior-semantic graph with BS-GAT.</a:t>
            </a:r>
            <a:endParaRPr lang="en-US" sz="132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7D2A8B06-8681-4008-996C-06FDE60BA790}"/>
              </a:ext>
            </a:extLst>
          </p:cNvPr>
          <p:cNvSpPr/>
          <p:nvPr/>
        </p:nvSpPr>
        <p:spPr>
          <a:xfrm>
            <a:off x="1112520" y="5110480"/>
            <a:ext cx="10332720" cy="347472"/>
          </a:xfrm>
          <a:prstGeom prst="roundRect">
            <a:avLst>
              <a:gd name="adj" fmla="val 15789"/>
            </a:avLst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B524E2BA-B22E-CDC8-ECBE-6D3726200668}"/>
              </a:ext>
            </a:extLst>
          </p:cNvPr>
          <p:cNvSpPr/>
          <p:nvPr/>
        </p:nvSpPr>
        <p:spPr>
          <a:xfrm>
            <a:off x="1203960" y="5183632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Overall hypothesis: local temporal context + global relational context will outperform flat sequence models and single-flow classifiers.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5636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16F14FBF-B0E4-C85A-CCFE-0CFF08815B33}"/>
              </a:ext>
            </a:extLst>
          </p:cNvPr>
          <p:cNvSpPr/>
          <p:nvPr/>
        </p:nvSpPr>
        <p:spPr>
          <a:xfrm>
            <a:off x="599440" y="125476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922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Overall Framework</a:t>
            </a:r>
            <a:endParaRPr lang="en-US" sz="28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3689662-B0D8-B598-989E-D9F325491EAD}"/>
              </a:ext>
            </a:extLst>
          </p:cNvPr>
          <p:cNvSpPr/>
          <p:nvPr/>
        </p:nvSpPr>
        <p:spPr>
          <a:xfrm>
            <a:off x="617728" y="171196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5"/>
                </a:solidFill>
              </a:rPr>
              <a:t>A two-stage architecture aligned with the structure of network traffic</a:t>
            </a:r>
            <a:endParaRPr lang="en-US" sz="13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80CECB87-EFC3-1D85-56C1-11EE91B2DBED}"/>
              </a:ext>
            </a:extLst>
          </p:cNvPr>
          <p:cNvSpPr/>
          <p:nvPr/>
        </p:nvSpPr>
        <p:spPr>
          <a:xfrm>
            <a:off x="2382520" y="3586480"/>
            <a:ext cx="1371600" cy="0"/>
          </a:xfrm>
          <a:prstGeom prst="line">
            <a:avLst/>
          </a:prstGeom>
          <a:noFill/>
          <a:ln w="12700">
            <a:solidFill>
              <a:srgbClr val="2E6FB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EC9A7B0A-0463-CD45-D8D5-C0774606D849}"/>
              </a:ext>
            </a:extLst>
          </p:cNvPr>
          <p:cNvSpPr/>
          <p:nvPr/>
        </p:nvSpPr>
        <p:spPr>
          <a:xfrm>
            <a:off x="5720080" y="3586480"/>
            <a:ext cx="1234440" cy="0"/>
          </a:xfrm>
          <a:prstGeom prst="line">
            <a:avLst/>
          </a:prstGeom>
          <a:noFill/>
          <a:ln w="12700">
            <a:solidFill>
              <a:srgbClr val="1BA7A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CF31AAE1-284A-9369-BA5C-523DD1F9B58A}"/>
              </a:ext>
            </a:extLst>
          </p:cNvPr>
          <p:cNvSpPr/>
          <p:nvPr/>
        </p:nvSpPr>
        <p:spPr>
          <a:xfrm>
            <a:off x="8920480" y="3586480"/>
            <a:ext cx="1371600" cy="0"/>
          </a:xfrm>
          <a:prstGeom prst="line">
            <a:avLst/>
          </a:prstGeom>
          <a:noFill/>
          <a:ln w="12700">
            <a:solidFill>
              <a:srgbClr val="F39C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DB3FE659-B533-3F61-D63F-7B9D2E576446}"/>
              </a:ext>
            </a:extLst>
          </p:cNvPr>
          <p:cNvSpPr/>
          <p:nvPr/>
        </p:nvSpPr>
        <p:spPr>
          <a:xfrm>
            <a:off x="645160" y="2489200"/>
            <a:ext cx="1691640" cy="21488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123B5D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C9664026-B7F4-97E4-0912-267FD3B9D939}"/>
              </a:ext>
            </a:extLst>
          </p:cNvPr>
          <p:cNvSpPr/>
          <p:nvPr/>
        </p:nvSpPr>
        <p:spPr>
          <a:xfrm>
            <a:off x="809752" y="2626360"/>
            <a:ext cx="136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B5D"/>
                </a:solidFill>
              </a:rPr>
              <a:t>PCAP window</a:t>
            </a:r>
            <a:endParaRPr lang="en-US" sz="18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5B49D2C3-F805-DA3F-4D00-C9CEEB190407}"/>
              </a:ext>
            </a:extLst>
          </p:cNvPr>
          <p:cNvSpPr/>
          <p:nvPr/>
        </p:nvSpPr>
        <p:spPr>
          <a:xfrm>
            <a:off x="809752" y="3248152"/>
            <a:ext cx="1362456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9222D"/>
                </a:solidFill>
              </a:rPr>
              <a:t>Packets from a fixed time window, labeled by Suricata pseudo-labels for weak supervision.</a:t>
            </a:r>
            <a:endParaRPr lang="en-US" sz="132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70BC1847-0763-0D2D-BAE7-4AF47033580F}"/>
              </a:ext>
            </a:extLst>
          </p:cNvPr>
          <p:cNvSpPr/>
          <p:nvPr/>
        </p:nvSpPr>
        <p:spPr>
          <a:xfrm>
            <a:off x="2519680" y="2489200"/>
            <a:ext cx="2926080" cy="2148840"/>
          </a:xfrm>
          <a:prstGeom prst="roundRect">
            <a:avLst>
              <a:gd name="adj" fmla="val 3404"/>
            </a:avLst>
          </a:prstGeom>
          <a:solidFill>
            <a:srgbClr val="EAF2FB"/>
          </a:solidFill>
          <a:ln w="12700">
            <a:solidFill>
              <a:srgbClr val="2E6FBE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1EF96BCB-F214-04C7-829F-044BFCA9A3F7}"/>
              </a:ext>
            </a:extLst>
          </p:cNvPr>
          <p:cNvSpPr/>
          <p:nvPr/>
        </p:nvSpPr>
        <p:spPr>
          <a:xfrm>
            <a:off x="2684272" y="262636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6FBE"/>
                </a:solidFill>
              </a:rPr>
              <a:t>Stage 1: Flow encoder</a:t>
            </a:r>
            <a:endParaRPr lang="en-US" sz="18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6DE92070-F826-BDD4-9311-791CFDD0D617}"/>
              </a:ext>
            </a:extLst>
          </p:cNvPr>
          <p:cNvSpPr/>
          <p:nvPr/>
        </p:nvSpPr>
        <p:spPr>
          <a:xfrm>
            <a:off x="2684272" y="2928112"/>
            <a:ext cx="2596896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9222D"/>
                </a:solidFill>
              </a:rPr>
              <a:t>Group packets by 5-tuple; sort packets by time; project structured packet records to token vectors; encode each flow with a time-aware Transformer.</a:t>
            </a:r>
            <a:endParaRPr lang="en-US" sz="132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BEC4B6D0-B48F-FDEE-4658-FD11321ECF89}"/>
              </a:ext>
            </a:extLst>
          </p:cNvPr>
          <p:cNvSpPr/>
          <p:nvPr/>
        </p:nvSpPr>
        <p:spPr>
          <a:xfrm>
            <a:off x="5674360" y="2489200"/>
            <a:ext cx="2926080" cy="2148840"/>
          </a:xfrm>
          <a:prstGeom prst="roundRect">
            <a:avLst>
              <a:gd name="adj" fmla="val 3404"/>
            </a:avLst>
          </a:prstGeom>
          <a:solidFill>
            <a:srgbClr val="EAF8F7"/>
          </a:solidFill>
          <a:ln w="12700">
            <a:solidFill>
              <a:srgbClr val="1BA7A1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F3E0FCD0-AB78-C1C7-1661-824EFFA76FD4}"/>
              </a:ext>
            </a:extLst>
          </p:cNvPr>
          <p:cNvSpPr/>
          <p:nvPr/>
        </p:nvSpPr>
        <p:spPr>
          <a:xfrm>
            <a:off x="5838952" y="262636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A7A1"/>
                </a:solidFill>
              </a:rPr>
              <a:t>Stage 2: Flow graph encoder</a:t>
            </a:r>
            <a:endParaRPr lang="en-US" sz="18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EFED45E3-57A4-DFAE-3D26-A6A48911A117}"/>
              </a:ext>
            </a:extLst>
          </p:cNvPr>
          <p:cNvSpPr/>
          <p:nvPr/>
        </p:nvSpPr>
        <p:spPr>
          <a:xfrm>
            <a:off x="5838952" y="2928112"/>
            <a:ext cx="2596896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9222D"/>
                </a:solidFill>
              </a:rPr>
              <a:t>Treat each flow embedding as a node; connect nodes by source-IP, subnet, and shared destination rules; aggregate with BS-GAT.</a:t>
            </a:r>
            <a:endParaRPr lang="en-US" sz="132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128F7CFD-3A56-8252-8B33-A58B9E1FD8D7}"/>
              </a:ext>
            </a:extLst>
          </p:cNvPr>
          <p:cNvSpPr/>
          <p:nvPr/>
        </p:nvSpPr>
        <p:spPr>
          <a:xfrm>
            <a:off x="8847328" y="2489200"/>
            <a:ext cx="2743200" cy="2148840"/>
          </a:xfrm>
          <a:prstGeom prst="roundRect">
            <a:avLst>
              <a:gd name="adj" fmla="val 3404"/>
            </a:avLst>
          </a:prstGeom>
          <a:solidFill>
            <a:srgbClr val="FFF2E8"/>
          </a:solidFill>
          <a:ln w="12700">
            <a:solidFill>
              <a:srgbClr val="F39C4A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AFE2A488-594E-AECC-4581-94C4EE0BC077}"/>
              </a:ext>
            </a:extLst>
          </p:cNvPr>
          <p:cNvSpPr/>
          <p:nvPr/>
        </p:nvSpPr>
        <p:spPr>
          <a:xfrm>
            <a:off x="9011920" y="262636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9C4A"/>
                </a:solidFill>
              </a:rPr>
              <a:t>Prediction layer</a:t>
            </a:r>
            <a:endParaRPr lang="en-US" sz="18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288AD16C-0EEA-EC04-4FEE-06D045F39A40}"/>
              </a:ext>
            </a:extLst>
          </p:cNvPr>
          <p:cNvSpPr/>
          <p:nvPr/>
        </p:nvSpPr>
        <p:spPr>
          <a:xfrm>
            <a:off x="9011920" y="2928112"/>
            <a:ext cx="2414016" cy="1618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9222D"/>
                </a:solidFill>
              </a:rPr>
              <a:t>Node-level binary or multi-class intrusion detection, plus optional graph/window-level alarms.</a:t>
            </a:r>
            <a:endParaRPr lang="en-US" sz="1320" dirty="0"/>
          </a:p>
        </p:txBody>
      </p:sp>
    </p:spTree>
    <p:extLst>
      <p:ext uri="{BB962C8B-B14F-4D97-AF65-F5344CB8AC3E}">
        <p14:creationId xmlns:p14="http://schemas.microsoft.com/office/powerpoint/2010/main" val="3093141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D8A11-77B0-D66F-1997-BE3AA9E7E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framework</a:t>
            </a:r>
            <a:endParaRPr lang="en-N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35BC90-82BC-DC00-7F87-D7340F1CAC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143" y="1825625"/>
            <a:ext cx="800771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365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00C2B-C488-9186-894D-D05FEC069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GNN model</a:t>
            </a:r>
            <a:endParaRPr lang="en-NL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1021CEB-BC4B-6647-1FBB-80782211BB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77" y="2219870"/>
            <a:ext cx="10183646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095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4BE9326B-0FA0-C7C5-1333-626288CF053E}"/>
              </a:ext>
            </a:extLst>
          </p:cNvPr>
          <p:cNvSpPr/>
          <p:nvPr/>
        </p:nvSpPr>
        <p:spPr>
          <a:xfrm>
            <a:off x="609600" y="49276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922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Pipeline</a:t>
            </a:r>
            <a:endParaRPr lang="en-US" sz="28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DABB822-BC86-5698-695B-2B4006B3ED95}"/>
              </a:ext>
            </a:extLst>
          </p:cNvPr>
          <p:cNvSpPr/>
          <p:nvPr/>
        </p:nvSpPr>
        <p:spPr>
          <a:xfrm>
            <a:off x="627888" y="94996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5"/>
                </a:solidFill>
              </a:rPr>
              <a:t>From raw traffic to packet tokens, flow embeddings, and graph edges</a:t>
            </a:r>
            <a:endParaRPr lang="en-US" sz="13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049B7B03-1C5A-55AF-6029-4D22BC9D669E}"/>
              </a:ext>
            </a:extLst>
          </p:cNvPr>
          <p:cNvSpPr/>
          <p:nvPr/>
        </p:nvSpPr>
        <p:spPr>
          <a:xfrm>
            <a:off x="838200" y="1407160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2E6FBE"/>
          </a:solidFill>
          <a:ln w="12700">
            <a:solidFill>
              <a:srgbClr val="2E6FBE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A3E03511-7B11-B3B6-660C-6158CEA42857}"/>
              </a:ext>
            </a:extLst>
          </p:cNvPr>
          <p:cNvSpPr/>
          <p:nvPr/>
        </p:nvSpPr>
        <p:spPr>
          <a:xfrm>
            <a:off x="984504" y="15443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DFAE6120-C778-F77C-E743-EEE05A9ED1CA}"/>
              </a:ext>
            </a:extLst>
          </p:cNvPr>
          <p:cNvSpPr/>
          <p:nvPr/>
        </p:nvSpPr>
        <p:spPr>
          <a:xfrm>
            <a:off x="1569720" y="1388872"/>
            <a:ext cx="996696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0CB6B1D7-49C1-E350-5FEE-14DEBB958F93}"/>
              </a:ext>
            </a:extLst>
          </p:cNvPr>
          <p:cNvSpPr/>
          <p:nvPr/>
        </p:nvSpPr>
        <p:spPr>
          <a:xfrm>
            <a:off x="1798320" y="1489456"/>
            <a:ext cx="9235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19222D"/>
                </a:solidFill>
              </a:rPr>
              <a:t>1. Capture / parse PCAP  </a:t>
            </a:r>
            <a:r>
              <a:rPr lang="en-US" sz="1410" dirty="0">
                <a:solidFill>
                  <a:srgbClr val="5B6675"/>
                </a:solidFill>
              </a:rPr>
              <a:t>Packet header fields, timestamps, direction, and Suricata pseudo-labels.</a:t>
            </a:r>
            <a:endParaRPr lang="en-US" sz="141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BC41DA0A-A731-18D1-3044-744BA51599A9}"/>
              </a:ext>
            </a:extLst>
          </p:cNvPr>
          <p:cNvSpPr/>
          <p:nvPr/>
        </p:nvSpPr>
        <p:spPr>
          <a:xfrm>
            <a:off x="838200" y="2248408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1BA7A1"/>
          </a:solidFill>
          <a:ln w="12700">
            <a:solidFill>
              <a:srgbClr val="1BA7A1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5983CA92-E152-E19D-0300-28D8724A5DF2}"/>
              </a:ext>
            </a:extLst>
          </p:cNvPr>
          <p:cNvSpPr/>
          <p:nvPr/>
        </p:nvSpPr>
        <p:spPr>
          <a:xfrm>
            <a:off x="984504" y="238556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1261BE00-7C8B-40F2-883D-B8422D55A2BB}"/>
              </a:ext>
            </a:extLst>
          </p:cNvPr>
          <p:cNvSpPr/>
          <p:nvPr/>
        </p:nvSpPr>
        <p:spPr>
          <a:xfrm>
            <a:off x="1569720" y="2230120"/>
            <a:ext cx="996696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9DD37E36-E162-E552-5458-AD4600A09D38}"/>
              </a:ext>
            </a:extLst>
          </p:cNvPr>
          <p:cNvSpPr/>
          <p:nvPr/>
        </p:nvSpPr>
        <p:spPr>
          <a:xfrm>
            <a:off x="1798320" y="2330704"/>
            <a:ext cx="9235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19222D"/>
                </a:solidFill>
              </a:rPr>
              <a:t>2. Flow assembly  </a:t>
            </a:r>
            <a:r>
              <a:rPr lang="en-US" sz="1410" dirty="0">
                <a:solidFill>
                  <a:srgbClr val="5B6675"/>
                </a:solidFill>
              </a:rPr>
              <a:t>Group packets by 5-tuple; maintain strict time order within each flow.</a:t>
            </a:r>
            <a:endParaRPr lang="en-US" sz="141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AE58245E-24B4-3333-DDCD-F30A26EED859}"/>
              </a:ext>
            </a:extLst>
          </p:cNvPr>
          <p:cNvSpPr/>
          <p:nvPr/>
        </p:nvSpPr>
        <p:spPr>
          <a:xfrm>
            <a:off x="838200" y="3089656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F39C4A"/>
          </a:solidFill>
          <a:ln w="12700">
            <a:solidFill>
              <a:srgbClr val="F39C4A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257702DF-E783-B26E-620D-A6FE8554A223}"/>
              </a:ext>
            </a:extLst>
          </p:cNvPr>
          <p:cNvSpPr/>
          <p:nvPr/>
        </p:nvSpPr>
        <p:spPr>
          <a:xfrm>
            <a:off x="984504" y="322681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317B09B8-5078-00ED-B97D-B2B5514EFB1C}"/>
              </a:ext>
            </a:extLst>
          </p:cNvPr>
          <p:cNvSpPr/>
          <p:nvPr/>
        </p:nvSpPr>
        <p:spPr>
          <a:xfrm>
            <a:off x="1569720" y="3071368"/>
            <a:ext cx="996696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AD9E7801-8F7B-8750-EF3F-BA60C0237AF7}"/>
              </a:ext>
            </a:extLst>
          </p:cNvPr>
          <p:cNvSpPr/>
          <p:nvPr/>
        </p:nvSpPr>
        <p:spPr>
          <a:xfrm>
            <a:off x="1798320" y="3171952"/>
            <a:ext cx="9235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19222D"/>
                </a:solidFill>
              </a:rPr>
              <a:t>3. Feature schema  </a:t>
            </a:r>
            <a:r>
              <a:rPr lang="en-US" sz="1410" dirty="0">
                <a:solidFill>
                  <a:srgbClr val="5B6675"/>
                </a:solidFill>
              </a:rPr>
              <a:t>Packet fields + metadata: protocol, ports, flags, packet length, TTL, direction, inter-arrival time, flow duration, bytes/packets per flow.</a:t>
            </a:r>
            <a:endParaRPr lang="en-US" sz="141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48C098CE-AEE3-52E9-C263-7DAECC560FDA}"/>
              </a:ext>
            </a:extLst>
          </p:cNvPr>
          <p:cNvSpPr/>
          <p:nvPr/>
        </p:nvSpPr>
        <p:spPr>
          <a:xfrm>
            <a:off x="838200" y="3930904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3DA35D"/>
          </a:solidFill>
          <a:ln w="12700">
            <a:solidFill>
              <a:srgbClr val="3DA35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A8FCF6A5-34A4-2B9C-6E87-363822282F81}"/>
              </a:ext>
            </a:extLst>
          </p:cNvPr>
          <p:cNvSpPr/>
          <p:nvPr/>
        </p:nvSpPr>
        <p:spPr>
          <a:xfrm>
            <a:off x="984504" y="406806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213A4F34-013E-9EA9-9282-7215A9B2A78E}"/>
              </a:ext>
            </a:extLst>
          </p:cNvPr>
          <p:cNvSpPr/>
          <p:nvPr/>
        </p:nvSpPr>
        <p:spPr>
          <a:xfrm>
            <a:off x="1569720" y="3912616"/>
            <a:ext cx="996696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6969759F-66F5-31D4-48A4-F8AA137B3B69}"/>
              </a:ext>
            </a:extLst>
          </p:cNvPr>
          <p:cNvSpPr/>
          <p:nvPr/>
        </p:nvSpPr>
        <p:spPr>
          <a:xfrm>
            <a:off x="1798320" y="4013200"/>
            <a:ext cx="9235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19222D"/>
                </a:solidFill>
              </a:rPr>
              <a:t>4. Sequence handling  </a:t>
            </a:r>
            <a:r>
              <a:rPr lang="en-US" sz="1410" dirty="0">
                <a:solidFill>
                  <a:srgbClr val="5B6675"/>
                </a:solidFill>
              </a:rPr>
              <a:t>Variable-length packet sequence per flow; define max length and compare truncation strategies.</a:t>
            </a:r>
            <a:endParaRPr lang="en-US" sz="1410" dirty="0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0616CF9E-1C77-D3FB-51C7-520D05C8B4B8}"/>
              </a:ext>
            </a:extLst>
          </p:cNvPr>
          <p:cNvSpPr/>
          <p:nvPr/>
        </p:nvSpPr>
        <p:spPr>
          <a:xfrm>
            <a:off x="838200" y="4772152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2F3056A6-5B32-441A-675A-0F46915E515D}"/>
              </a:ext>
            </a:extLst>
          </p:cNvPr>
          <p:cNvSpPr/>
          <p:nvPr/>
        </p:nvSpPr>
        <p:spPr>
          <a:xfrm>
            <a:off x="984504" y="490931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0E1AF4C8-6C5D-75AE-DD90-AE696E70F24D}"/>
              </a:ext>
            </a:extLst>
          </p:cNvPr>
          <p:cNvSpPr/>
          <p:nvPr/>
        </p:nvSpPr>
        <p:spPr>
          <a:xfrm>
            <a:off x="1569720" y="4753864"/>
            <a:ext cx="9966960" cy="676656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AB9F3C43-E3B4-E718-D8CC-9A44DAB6DA31}"/>
              </a:ext>
            </a:extLst>
          </p:cNvPr>
          <p:cNvSpPr/>
          <p:nvPr/>
        </p:nvSpPr>
        <p:spPr>
          <a:xfrm>
            <a:off x="1798320" y="4854448"/>
            <a:ext cx="9235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410" b="1" dirty="0">
                <a:solidFill>
                  <a:srgbClr val="19222D"/>
                </a:solidFill>
              </a:rPr>
              <a:t>5. Graph construction  </a:t>
            </a:r>
            <a:r>
              <a:rPr lang="en-US" sz="1410" dirty="0">
                <a:solidFill>
                  <a:srgbClr val="5B6675"/>
                </a:solidFill>
              </a:rPr>
              <a:t>For each time window, create flow nodes and weighted edges by source-IP, subnet, and shared destination rules.</a:t>
            </a:r>
            <a:endParaRPr lang="en-US" sz="1410" dirty="0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0260A973-E6F4-B752-4E2E-A1DB70B03D8B}"/>
              </a:ext>
            </a:extLst>
          </p:cNvPr>
          <p:cNvSpPr/>
          <p:nvPr/>
        </p:nvSpPr>
        <p:spPr>
          <a:xfrm>
            <a:off x="838200" y="5796280"/>
            <a:ext cx="10698480" cy="347472"/>
          </a:xfrm>
          <a:prstGeom prst="roundRect">
            <a:avLst>
              <a:gd name="adj" fmla="val 15789"/>
            </a:avLst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A5F44DDE-9834-0D4A-C121-5E1483AB381B}"/>
              </a:ext>
            </a:extLst>
          </p:cNvPr>
          <p:cNvSpPr/>
          <p:nvPr/>
        </p:nvSpPr>
        <p:spPr>
          <a:xfrm>
            <a:off x="1203960" y="5924296"/>
            <a:ext cx="10236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Important modeling choice: packet tokens come from structured records, not payload bytes. This makes the pipeline realistic for encrypted traffic.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175220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81451F06-6E27-90BB-8026-0F972D72B56F}"/>
              </a:ext>
            </a:extLst>
          </p:cNvPr>
          <p:cNvSpPr/>
          <p:nvPr/>
        </p:nvSpPr>
        <p:spPr>
          <a:xfrm>
            <a:off x="589280" y="96012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922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1: Time-Aware Flow Encoder</a:t>
            </a:r>
            <a:endParaRPr lang="en-US" sz="28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D0D8717-2B74-F62E-127E-6CFA1C866709}"/>
              </a:ext>
            </a:extLst>
          </p:cNvPr>
          <p:cNvSpPr/>
          <p:nvPr/>
        </p:nvSpPr>
        <p:spPr>
          <a:xfrm>
            <a:off x="607568" y="141732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5"/>
                </a:solidFill>
              </a:rPr>
              <a:t>Encode packets within one flow as a structured sequence</a:t>
            </a:r>
            <a:endParaRPr lang="en-US" sz="13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86B24AC5-7541-64F0-EF13-611778274E5B}"/>
              </a:ext>
            </a:extLst>
          </p:cNvPr>
          <p:cNvSpPr/>
          <p:nvPr/>
        </p:nvSpPr>
        <p:spPr>
          <a:xfrm>
            <a:off x="680720" y="1874520"/>
            <a:ext cx="3657600" cy="40233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2E6FBE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9EA9211-5B26-5800-97C9-43AB53DDEEE1}"/>
              </a:ext>
            </a:extLst>
          </p:cNvPr>
          <p:cNvSpPr/>
          <p:nvPr/>
        </p:nvSpPr>
        <p:spPr>
          <a:xfrm>
            <a:off x="845312" y="2011680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6FBE"/>
                </a:solidFill>
              </a:rPr>
              <a:t>Packet token design</a:t>
            </a:r>
            <a:endParaRPr lang="en-US" sz="18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6AF84853-E0E8-A4EC-A586-F7BFC90C4D6A}"/>
              </a:ext>
            </a:extLst>
          </p:cNvPr>
          <p:cNvSpPr/>
          <p:nvPr/>
        </p:nvSpPr>
        <p:spPr>
          <a:xfrm>
            <a:off x="845312" y="2468880"/>
            <a:ext cx="3328416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9222D"/>
                </a:solidFill>
              </a:rPr>
              <a:t>Each packet is represented as a structured record rather than raw bytes.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9222D"/>
                </a:solidFill>
              </a:rPr>
              <a:t>Core fields: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9222D"/>
                </a:solidFill>
              </a:rPr>
              <a:t>• protocol, ports, TCP flags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9222D"/>
                </a:solidFill>
              </a:rPr>
              <a:t>• packet length, TTL, window size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9222D"/>
                </a:solidFill>
              </a:rPr>
              <a:t>• direction (inbound/outbound)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9222D"/>
                </a:solidFill>
              </a:rPr>
              <a:t>• delta time and relative time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9222D"/>
                </a:solidFill>
              </a:rPr>
              <a:t>• coarse/fine flow statistics</a:t>
            </a:r>
            <a:endParaRPr lang="en-US" sz="132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5F11300E-B4E3-C4D3-1552-A3A7900E9A94}"/>
              </a:ext>
            </a:extLst>
          </p:cNvPr>
          <p:cNvSpPr/>
          <p:nvPr/>
        </p:nvSpPr>
        <p:spPr>
          <a:xfrm>
            <a:off x="4539488" y="1874520"/>
            <a:ext cx="3200400" cy="4023360"/>
          </a:xfrm>
          <a:prstGeom prst="roundRect">
            <a:avLst>
              <a:gd name="adj" fmla="val 2286"/>
            </a:avLst>
          </a:prstGeom>
          <a:solidFill>
            <a:srgbClr val="EAF2FB"/>
          </a:solidFill>
          <a:ln w="12700">
            <a:solidFill>
              <a:srgbClr val="1BA7A1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854F9749-72F4-1903-56FA-468D7A4D0A92}"/>
              </a:ext>
            </a:extLst>
          </p:cNvPr>
          <p:cNvSpPr/>
          <p:nvPr/>
        </p:nvSpPr>
        <p:spPr>
          <a:xfrm>
            <a:off x="4704080" y="2011680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A7A1"/>
                </a:solidFill>
              </a:rPr>
              <a:t>Time-aware Transformer</a:t>
            </a:r>
            <a:endParaRPr lang="en-US" sz="18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E20EFFA8-D9E5-CEE0-DE0A-AA17BE66BBB4}"/>
              </a:ext>
            </a:extLst>
          </p:cNvPr>
          <p:cNvSpPr/>
          <p:nvPr/>
        </p:nvSpPr>
        <p:spPr>
          <a:xfrm>
            <a:off x="4704080" y="2468880"/>
            <a:ext cx="2871216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9222D"/>
                </a:solidFill>
              </a:rPr>
              <a:t>Replace or augment positional encoding with time encoding so attention can use actual packet timing.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9222D"/>
                </a:solidFill>
              </a:rPr>
              <a:t>Candidate signals: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9222D"/>
                </a:solidFill>
              </a:rPr>
              <a:t>• Δt to previous packet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9222D"/>
                </a:solidFill>
              </a:rPr>
              <a:t>• relative time from first packet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9222D"/>
                </a:solidFill>
              </a:rPr>
              <a:t>• log-scaled time gaps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9222D"/>
                </a:solidFill>
              </a:rPr>
              <a:t>• optional relative time bias in attention</a:t>
            </a:r>
            <a:endParaRPr lang="en-US" sz="132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4EF109A8-F568-C9E2-2782-759DBAAF6C82}"/>
              </a:ext>
            </a:extLst>
          </p:cNvPr>
          <p:cNvSpPr/>
          <p:nvPr/>
        </p:nvSpPr>
        <p:spPr>
          <a:xfrm>
            <a:off x="7950200" y="187452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F39C4A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2CF291BA-185C-2BBA-4218-046E6678DF0A}"/>
              </a:ext>
            </a:extLst>
          </p:cNvPr>
          <p:cNvSpPr/>
          <p:nvPr/>
        </p:nvSpPr>
        <p:spPr>
          <a:xfrm>
            <a:off x="8114792" y="2011680"/>
            <a:ext cx="3282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9C4A"/>
                </a:solidFill>
              </a:rPr>
              <a:t>Output and open design choices</a:t>
            </a:r>
            <a:endParaRPr lang="en-US" sz="18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073A9F85-5DB3-3853-0B42-4590C9D30A45}"/>
              </a:ext>
            </a:extLst>
          </p:cNvPr>
          <p:cNvSpPr/>
          <p:nvPr/>
        </p:nvSpPr>
        <p:spPr>
          <a:xfrm>
            <a:off x="8114792" y="2468880"/>
            <a:ext cx="3282696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9222D"/>
                </a:solidFill>
              </a:rPr>
              <a:t>Output: one flow embedding per flow.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9222D"/>
                </a:solidFill>
              </a:rPr>
              <a:t>Choices to test: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9222D"/>
                </a:solidFill>
              </a:rPr>
              <a:t>• pooling: CLS vs mean vs attention pooling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9222D"/>
                </a:solidFill>
              </a:rPr>
              <a:t>• max sequence length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9222D"/>
                </a:solidFill>
              </a:rPr>
              <a:t>• truncation vs head-tail vs uniform sampling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9222D"/>
                </a:solidFill>
              </a:rPr>
              <a:t>• where to inject flow-level statistics</a:t>
            </a:r>
            <a:endParaRPr lang="en-US" sz="1320" dirty="0"/>
          </a:p>
        </p:txBody>
      </p:sp>
    </p:spTree>
    <p:extLst>
      <p:ext uri="{BB962C8B-B14F-4D97-AF65-F5344CB8AC3E}">
        <p14:creationId xmlns:p14="http://schemas.microsoft.com/office/powerpoint/2010/main" val="1083929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04834F1A-9497-8161-D4AD-414558049A12}"/>
              </a:ext>
            </a:extLst>
          </p:cNvPr>
          <p:cNvSpPr/>
          <p:nvPr/>
        </p:nvSpPr>
        <p:spPr>
          <a:xfrm>
            <a:off x="548640" y="41148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922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Stage 2: Behavior-Semantic Flow Graph</a:t>
            </a:r>
            <a:endParaRPr lang="en-US" sz="28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71A67C4-0D4C-9297-3ABC-2CD19627F52F}"/>
              </a:ext>
            </a:extLst>
          </p:cNvPr>
          <p:cNvSpPr/>
          <p:nvPr/>
        </p:nvSpPr>
        <p:spPr>
          <a:xfrm>
            <a:off x="566928" y="868680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5"/>
                </a:solidFill>
              </a:rPr>
              <a:t>Reason across flows with explicit network semantics</a:t>
            </a:r>
            <a:endParaRPr lang="en-US" sz="13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A4140C2B-4D4E-595D-2610-017F67C10CCF}"/>
              </a:ext>
            </a:extLst>
          </p:cNvPr>
          <p:cNvSpPr/>
          <p:nvPr/>
        </p:nvSpPr>
        <p:spPr>
          <a:xfrm flipV="1">
            <a:off x="1920240" y="1764792"/>
            <a:ext cx="1568396" cy="521208"/>
          </a:xfrm>
          <a:prstGeom prst="line">
            <a:avLst/>
          </a:prstGeom>
          <a:noFill/>
          <a:ln w="12700">
            <a:solidFill>
              <a:srgbClr val="2E6FBE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7B04EDDA-AB3C-D3F1-73A1-40C88B11B9F9}"/>
              </a:ext>
            </a:extLst>
          </p:cNvPr>
          <p:cNvSpPr/>
          <p:nvPr/>
        </p:nvSpPr>
        <p:spPr>
          <a:xfrm>
            <a:off x="1920240" y="2651760"/>
            <a:ext cx="1656788" cy="374904"/>
          </a:xfrm>
          <a:prstGeom prst="line">
            <a:avLst/>
          </a:prstGeom>
          <a:noFill/>
          <a:ln w="12700">
            <a:solidFill>
              <a:srgbClr val="1BA7A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73B3EA92-F66F-ACA0-EF95-53984615770F}"/>
              </a:ext>
            </a:extLst>
          </p:cNvPr>
          <p:cNvSpPr/>
          <p:nvPr/>
        </p:nvSpPr>
        <p:spPr>
          <a:xfrm>
            <a:off x="1920240" y="3017520"/>
            <a:ext cx="1568396" cy="1335024"/>
          </a:xfrm>
          <a:prstGeom prst="line">
            <a:avLst/>
          </a:prstGeom>
          <a:noFill/>
          <a:ln w="12700">
            <a:solidFill>
              <a:srgbClr val="F39C4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2C622076-03C3-A088-3B96-8161D7FDB140}"/>
              </a:ext>
            </a:extLst>
          </p:cNvPr>
          <p:cNvSpPr/>
          <p:nvPr/>
        </p:nvSpPr>
        <p:spPr>
          <a:xfrm>
            <a:off x="4983480" y="2675614"/>
            <a:ext cx="1828800" cy="0"/>
          </a:xfrm>
          <a:prstGeom prst="line">
            <a:avLst/>
          </a:prstGeom>
          <a:noFill/>
          <a:ln w="12700">
            <a:solidFill>
              <a:srgbClr val="123B5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2CB9B52-8ACC-7B9D-17B2-1C1BC736F34F}"/>
              </a:ext>
            </a:extLst>
          </p:cNvPr>
          <p:cNvSpPr/>
          <p:nvPr/>
        </p:nvSpPr>
        <p:spPr>
          <a:xfrm>
            <a:off x="7955280" y="2743200"/>
            <a:ext cx="1600200" cy="0"/>
          </a:xfrm>
          <a:prstGeom prst="line">
            <a:avLst/>
          </a:prstGeom>
          <a:noFill/>
          <a:ln w="12700">
            <a:solidFill>
              <a:srgbClr val="D9534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NL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31F082EC-AB5C-6604-E38B-9766318E2B6D}"/>
              </a:ext>
            </a:extLst>
          </p:cNvPr>
          <p:cNvSpPr/>
          <p:nvPr/>
        </p:nvSpPr>
        <p:spPr>
          <a:xfrm>
            <a:off x="1097280" y="2331720"/>
            <a:ext cx="777240" cy="777240"/>
          </a:xfrm>
          <a:prstGeom prst="ellipse">
            <a:avLst/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019FF807-E11A-299F-57DE-126ADFDB110A}"/>
              </a:ext>
            </a:extLst>
          </p:cNvPr>
          <p:cNvSpPr/>
          <p:nvPr/>
        </p:nvSpPr>
        <p:spPr>
          <a:xfrm>
            <a:off x="1216152" y="2624328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Flow i</a:t>
            </a:r>
            <a:endParaRPr lang="en-US" sz="120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6003A3C1-AB55-097F-03D9-55F3E142CCCB}"/>
              </a:ext>
            </a:extLst>
          </p:cNvPr>
          <p:cNvSpPr/>
          <p:nvPr/>
        </p:nvSpPr>
        <p:spPr>
          <a:xfrm>
            <a:off x="3578087" y="1234440"/>
            <a:ext cx="2854517" cy="1051560"/>
          </a:xfrm>
          <a:prstGeom prst="roundRect">
            <a:avLst>
              <a:gd name="adj" fmla="val 6957"/>
            </a:avLst>
          </a:prstGeom>
          <a:solidFill>
            <a:srgbClr val="EAF2FB"/>
          </a:solidFill>
          <a:ln w="12700">
            <a:solidFill>
              <a:srgbClr val="2E6FBE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07900410-3B16-0D17-2435-3CDA35F1C2BF}"/>
              </a:ext>
            </a:extLst>
          </p:cNvPr>
          <p:cNvSpPr/>
          <p:nvPr/>
        </p:nvSpPr>
        <p:spPr>
          <a:xfrm>
            <a:off x="3760967" y="1371600"/>
            <a:ext cx="24330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6FBE"/>
                </a:solidFill>
              </a:rPr>
              <a:t>Es: same source IP</a:t>
            </a:r>
            <a:endParaRPr lang="en-US" sz="18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F6A742B8-E476-24F5-B935-16FDE2600FD3}"/>
              </a:ext>
            </a:extLst>
          </p:cNvPr>
          <p:cNvSpPr/>
          <p:nvPr/>
        </p:nvSpPr>
        <p:spPr>
          <a:xfrm>
            <a:off x="3913632" y="1673352"/>
            <a:ext cx="209397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9222D"/>
                </a:solidFill>
              </a:rPr>
              <a:t>Weight = 1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9222D"/>
                </a:solidFill>
              </a:rPr>
              <a:t>Repeated behavior from the same host/device.</a:t>
            </a:r>
            <a:endParaRPr lang="en-US" sz="132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256C62EE-B76A-CEA1-060E-19D3E47DA65D}"/>
              </a:ext>
            </a:extLst>
          </p:cNvPr>
          <p:cNvSpPr/>
          <p:nvPr/>
        </p:nvSpPr>
        <p:spPr>
          <a:xfrm>
            <a:off x="3578087" y="2487168"/>
            <a:ext cx="2854517" cy="1124712"/>
          </a:xfrm>
          <a:prstGeom prst="roundRect">
            <a:avLst>
              <a:gd name="adj" fmla="val 6957"/>
            </a:avLst>
          </a:prstGeom>
          <a:solidFill>
            <a:srgbClr val="EAF8F7"/>
          </a:solidFill>
          <a:ln w="12700">
            <a:solidFill>
              <a:srgbClr val="1BA7A1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88423255-EE4E-26AB-6C1E-C3BB79377E04}"/>
              </a:ext>
            </a:extLst>
          </p:cNvPr>
          <p:cNvSpPr/>
          <p:nvPr/>
        </p:nvSpPr>
        <p:spPr>
          <a:xfrm>
            <a:off x="3666479" y="2624328"/>
            <a:ext cx="26786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A7A1"/>
                </a:solidFill>
              </a:rPr>
              <a:t>Em: same subnet region</a:t>
            </a:r>
            <a:endParaRPr lang="en-US" sz="18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56263D06-DDEC-D691-0B8A-A81B6DECD9CD}"/>
              </a:ext>
            </a:extLst>
          </p:cNvPr>
          <p:cNvSpPr/>
          <p:nvPr/>
        </p:nvSpPr>
        <p:spPr>
          <a:xfrm>
            <a:off x="3913632" y="2926080"/>
            <a:ext cx="228043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9222D"/>
                </a:solidFill>
              </a:rPr>
              <a:t>Weight = λ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9222D"/>
                </a:solidFill>
              </a:rPr>
              <a:t>Same group + same destination IP/port.</a:t>
            </a:r>
            <a:endParaRPr lang="en-US" sz="1320" dirty="0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FE1D980E-1E81-C275-BF5D-67489930BFE9}"/>
              </a:ext>
            </a:extLst>
          </p:cNvPr>
          <p:cNvSpPr/>
          <p:nvPr/>
        </p:nvSpPr>
        <p:spPr>
          <a:xfrm>
            <a:off x="3578087" y="3739896"/>
            <a:ext cx="2854517" cy="1389888"/>
          </a:xfrm>
          <a:prstGeom prst="roundRect">
            <a:avLst>
              <a:gd name="adj" fmla="val 6957"/>
            </a:avLst>
          </a:prstGeom>
          <a:solidFill>
            <a:srgbClr val="FFF2E8"/>
          </a:solidFill>
          <a:ln w="12700">
            <a:solidFill>
              <a:srgbClr val="F39C4A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6BADB854-62F3-5A4D-561B-815E1872D77E}"/>
              </a:ext>
            </a:extLst>
          </p:cNvPr>
          <p:cNvSpPr/>
          <p:nvPr/>
        </p:nvSpPr>
        <p:spPr>
          <a:xfrm>
            <a:off x="3666479" y="3877056"/>
            <a:ext cx="26786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9C4A"/>
                </a:solidFill>
              </a:rPr>
              <a:t>Eo: cross-region relation</a:t>
            </a:r>
            <a:endParaRPr lang="en-US" sz="180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BE7B02F0-5FF2-C2EE-8521-F9E6B1E960EC}"/>
              </a:ext>
            </a:extLst>
          </p:cNvPr>
          <p:cNvSpPr/>
          <p:nvPr/>
        </p:nvSpPr>
        <p:spPr>
          <a:xfrm>
            <a:off x="3816626" y="4178807"/>
            <a:ext cx="2377440" cy="786383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9222D"/>
                </a:solidFill>
              </a:rPr>
              <a:t>Weight = μ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19222D"/>
                </a:solidFill>
              </a:rPr>
              <a:t>Other region with same destination IP/port</a:t>
            </a:r>
            <a:endParaRPr lang="en-US" sz="1320" dirty="0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A095A863-FDA9-2B4D-956A-6F017AE8B10F}"/>
              </a:ext>
            </a:extLst>
          </p:cNvPr>
          <p:cNvSpPr/>
          <p:nvPr/>
        </p:nvSpPr>
        <p:spPr>
          <a:xfrm>
            <a:off x="6812280" y="1828800"/>
            <a:ext cx="1737360" cy="22860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123B5D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A51C1949-250C-00A8-1EC3-EAAC9F6C9089}"/>
              </a:ext>
            </a:extLst>
          </p:cNvPr>
          <p:cNvSpPr/>
          <p:nvPr/>
        </p:nvSpPr>
        <p:spPr>
          <a:xfrm>
            <a:off x="6976872" y="1965960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B5D"/>
                </a:solidFill>
              </a:rPr>
              <a:t>BS-GAT</a:t>
            </a:r>
            <a:endParaRPr lang="en-US" sz="1800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8E90C9A9-9BFE-710A-839A-F17C71C99E17}"/>
              </a:ext>
            </a:extLst>
          </p:cNvPr>
          <p:cNvSpPr/>
          <p:nvPr/>
        </p:nvSpPr>
        <p:spPr>
          <a:xfrm>
            <a:off x="6976872" y="2267712"/>
            <a:ext cx="1408176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9222D"/>
                </a:solidFill>
              </a:rPr>
              <a:t>Behavior weights enter both attention and aggregation, combining learned neighbor importance with network priors.</a:t>
            </a:r>
            <a:endParaRPr lang="en-US" sz="1320" dirty="0"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C3635E19-71AF-8A12-E4C1-E563DA9C079F}"/>
              </a:ext>
            </a:extLst>
          </p:cNvPr>
          <p:cNvSpPr/>
          <p:nvPr/>
        </p:nvSpPr>
        <p:spPr>
          <a:xfrm>
            <a:off x="9668784" y="1828800"/>
            <a:ext cx="2204500" cy="2304288"/>
          </a:xfrm>
          <a:prstGeom prst="roundRect">
            <a:avLst>
              <a:gd name="adj" fmla="val 4103"/>
            </a:avLst>
          </a:prstGeom>
          <a:solidFill>
            <a:srgbClr val="FDEEEE"/>
          </a:solidFill>
          <a:ln w="12700">
            <a:solidFill>
              <a:srgbClr val="D9534F"/>
            </a:solidFill>
            <a:prstDash val="solid"/>
          </a:ln>
          <a:effectLst>
            <a:outerShdw blurRad="127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L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75D111D2-BF66-BCC7-93B6-4827BE8BC10A}"/>
              </a:ext>
            </a:extLst>
          </p:cNvPr>
          <p:cNvSpPr/>
          <p:nvPr/>
        </p:nvSpPr>
        <p:spPr>
          <a:xfrm>
            <a:off x="9902952" y="1965960"/>
            <a:ext cx="17182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534F"/>
                </a:solidFill>
              </a:rPr>
              <a:t>Why this graph?</a:t>
            </a:r>
            <a:endParaRPr lang="en-US" sz="1800" dirty="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F1D6BDD8-5B74-8AD2-6F7F-90E10A6CA71C}"/>
              </a:ext>
            </a:extLst>
          </p:cNvPr>
          <p:cNvSpPr/>
          <p:nvPr/>
        </p:nvSpPr>
        <p:spPr>
          <a:xfrm>
            <a:off x="9947676" y="2534478"/>
            <a:ext cx="1453896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19222D"/>
                </a:solidFill>
              </a:rPr>
              <a:t>It encodes source consistency, group-level coordination, and weaker cross-group target-sharing relations.</a:t>
            </a:r>
            <a:endParaRPr lang="en-US" sz="1320" dirty="0"/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B8EBB3FD-8014-FD66-6029-9CBC6BB252DB}"/>
              </a:ext>
            </a:extLst>
          </p:cNvPr>
          <p:cNvSpPr/>
          <p:nvPr/>
        </p:nvSpPr>
        <p:spPr>
          <a:xfrm>
            <a:off x="1828800" y="5513832"/>
            <a:ext cx="8412480" cy="347472"/>
          </a:xfrm>
          <a:prstGeom prst="roundRect">
            <a:avLst>
              <a:gd name="adj" fmla="val 15789"/>
            </a:avLst>
          </a:prstGeom>
          <a:solidFill>
            <a:srgbClr val="123B5D"/>
          </a:solidFill>
          <a:ln w="12700">
            <a:solidFill>
              <a:srgbClr val="123B5D"/>
            </a:solidFill>
            <a:prstDash val="solid"/>
          </a:ln>
        </p:spPr>
        <p:txBody>
          <a:bodyPr/>
          <a:lstStyle/>
          <a:p>
            <a:endParaRPr lang="en-NL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A4FD2215-289E-60F8-07C1-0331AB9D616C}"/>
              </a:ext>
            </a:extLst>
          </p:cNvPr>
          <p:cNvSpPr/>
          <p:nvPr/>
        </p:nvSpPr>
        <p:spPr>
          <a:xfrm>
            <a:off x="1920240" y="5586984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Not a generic similarity graph: edges are built from network behavior semantics.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13587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1047</Words>
  <Application>Microsoft Office PowerPoint</Application>
  <PresentationFormat>Widescreen</PresentationFormat>
  <Paragraphs>114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Research quesitons</vt:lpstr>
      <vt:lpstr>PowerPoint Presentation</vt:lpstr>
      <vt:lpstr>PowerPoint Presentation</vt:lpstr>
      <vt:lpstr>PowerPoint Presentation</vt:lpstr>
      <vt:lpstr>PowerPoint Presentation</vt:lpstr>
      <vt:lpstr>Overall framework</vt:lpstr>
      <vt:lpstr>GNN model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Xiaoyan Xiong</dc:creator>
  <cp:lastModifiedBy>Xiaoyan Xiong</cp:lastModifiedBy>
  <cp:revision>1</cp:revision>
  <dcterms:created xsi:type="dcterms:W3CDTF">2026-04-16T06:56:49Z</dcterms:created>
  <dcterms:modified xsi:type="dcterms:W3CDTF">2026-04-16T08:38:42Z</dcterms:modified>
</cp:coreProperties>
</file>